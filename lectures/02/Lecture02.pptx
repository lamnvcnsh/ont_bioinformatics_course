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78" r:id="rId2"/>
    <p:sldId id="257" r:id="rId3"/>
    <p:sldId id="281" r:id="rId4"/>
    <p:sldId id="258" r:id="rId5"/>
    <p:sldId id="259" r:id="rId6"/>
    <p:sldId id="260" r:id="rId7"/>
    <p:sldId id="261" r:id="rId8"/>
    <p:sldId id="276" r:id="rId9"/>
    <p:sldId id="263" r:id="rId10"/>
    <p:sldId id="264" r:id="rId11"/>
    <p:sldId id="267" r:id="rId12"/>
    <p:sldId id="266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94719"/>
  </p:normalViewPr>
  <p:slideViewPr>
    <p:cSldViewPr snapToGrid="0">
      <p:cViewPr>
        <p:scale>
          <a:sx n="135" d="100"/>
          <a:sy n="135" d="100"/>
        </p:scale>
        <p:origin x="1496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12134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FA5B9-5BF1-B50D-5BAE-A229DB179A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ctr">
            <a:normAutofit/>
          </a:bodyPr>
          <a:lstStyle>
            <a:lvl1pPr algn="ctr">
              <a:buNone/>
              <a:defRPr sz="44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C9FDA5-592A-666B-0E30-0DAF4C6ED5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21CC01-1E7C-A6DA-AB33-747E67C16AE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C0787A1-AE21-7749-8ABB-48F5E74FF1F8}" type="datetimeFigureOut">
              <a:t>9/8/26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F72309-7945-8334-4676-2816A957C92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3ECEAB-C954-5C57-9F0C-27C1A133B57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8CA5B4E-8CC0-F641-B9F8-098110D0683A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B50CE-DDB2-C6F1-0E2C-84A0F1DB1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06A5FE-BD29-2F87-99B6-55296C4604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296091-9086-BFB4-7FCF-91E23027429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C0787A1-AE21-7749-8ABB-48F5E74FF1F8}" type="datetimeFigureOut">
              <a:t>9/8/26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A02AE4-41F8-9235-E8FF-3C140FABB09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6C11-AC07-6FDD-17F6-0E5CA622B94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8CA5B4E-8CC0-F641-B9F8-098110D0683A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F5952-5104-0DF1-3298-CA011779F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8B6440-01AD-17D8-7E7F-286B2B8CB7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AF8C8-2AB4-8ECE-C678-F984BF8F262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C0787A1-AE21-7749-8ABB-48F5E74FF1F8}" type="datetimeFigureOut">
              <a:t>9/8/26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521C71-EFDB-3129-1C22-8FAC7CECB37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A240E1-3242-8309-7049-4C7A847D39B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8CA5B4E-8CC0-F641-B9F8-098110D0683A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F2A21-0332-077B-CA9E-5970E9B66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DF7E85-DACB-435E-388E-84AAF95863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2720"/>
            <a:ext cx="5593080" cy="4734243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8CE932-5AED-44C1-F416-1D183178E16F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442720"/>
            <a:ext cx="5593080" cy="4734243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0908CA-FE11-58FA-E118-FE91E475D9E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C0787A1-AE21-7749-8ABB-48F5E74FF1F8}" type="datetimeFigureOut">
              <a:t>9/8/26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D9C0CC-C9AF-2B0E-5E94-5CB8CE88EA6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661A17-A87A-B91C-AD00-52C6B78244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8CA5B4E-8CC0-F641-B9F8-098110D0683A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187F8-CB13-D112-46A0-1400F47D4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0CCC29-0D4A-7CDA-DAD6-404AF832B2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333EF4-BB80-C262-BF5F-067AA6470129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ACD9EE-6F9C-56C2-42A4-82213E42C136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DA4CFD-4534-94A3-A3F5-CD5051A8F426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5A5184-F97A-0CBC-E93D-29B11111459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C0787A1-AE21-7749-8ABB-48F5E74FF1F8}" type="datetimeFigureOut">
              <a:t>9/8/26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D1F077-C773-D89A-6AA9-5A858ED89C9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4FDD54-F56C-492B-F7E5-29D11549E0C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8CA5B4E-8CC0-F641-B9F8-098110D0683A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3AD75-1680-56E2-667D-5144DF927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78F568-954E-8FF2-5958-8228CD34AFE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C0787A1-AE21-7749-8ABB-48F5E74FF1F8}" type="datetimeFigureOut">
              <a:t>9/8/26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82F8CA-F620-9E78-6620-EF2CBD3799E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A6A3AD-D7AD-35AB-503C-D6436AC8428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8CA5B4E-8CC0-F641-B9F8-098110D0683A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349316-7366-3468-D447-649179C4020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C0787A1-AE21-7749-8ABB-48F5E74FF1F8}" type="datetimeFigureOut">
              <a:t>9/8/26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4ACD0CB-9158-B544-BD49-1225FD48EBE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4E35E4-BCCB-9AD3-31CE-2DE2B5BB6D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8CA5B4E-8CC0-F641-B9F8-098110D0683A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5BE80-F870-6D36-6659-6988EB273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B156F-BFA8-4422-F223-ECAEC21FF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D96322-989C-AE62-067E-5B895570EC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936132-FE35-22C4-77F0-58AC584C11E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C0787A1-AE21-7749-8ABB-48F5E74FF1F8}" type="datetimeFigureOut">
              <a:t>9/8/26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DF304A-6356-6D0B-9DE7-917E760D241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081F05-5586-65FE-5B58-2295B5C135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8CA5B4E-8CC0-F641-B9F8-098110D0683A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AB09D-500F-21E5-8DF2-45A61C65E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6804B4-2BDB-3D16-81E6-BD74D5AC98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2C85A4-F192-22FF-AA65-0E7267B564A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A8991F-DC65-C6BB-C072-DC0DF37F2FB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C0787A1-AE21-7749-8ABB-48F5E74FF1F8}" type="datetimeFigureOut">
              <a:t>9/8/26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9D41F-7E1D-6A98-80A7-94D88B21FBC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92F0CE-9A9C-5344-ADC2-02C0565588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8CA5B4E-8CC0-F641-B9F8-098110D0683A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231B8-A32C-CC33-7C44-215DE8E22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93B4F-B7F5-E429-ED3A-E17BBCCBE2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19601-F4EC-FF07-39CA-A1486100145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C0787A1-AE21-7749-8ABB-48F5E74FF1F8}" type="datetimeFigureOut">
              <a:t>9/8/26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5A81E5-BA5B-667E-5CDE-1433663E913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537CFC-4829-5A90-BB3A-B5F4DBE4BF4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8CA5B4E-8CC0-F641-B9F8-098110D0683A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9DE8C9B-9793-D24F-7241-A81B371E82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8AE245-6978-06B4-A190-BEA41E8E28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DEA965-2C36-2350-D378-6343CDE975E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C0787A1-AE21-7749-8ABB-48F5E74FF1F8}" type="datetimeFigureOut">
              <a:t>9/8/26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F7F304-BD5C-7217-D643-8365F8FBAA5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570655-B8E5-060B-A958-91459C404C9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8CA5B4E-8CC0-F641-B9F8-098110D0683A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D3A113-5CD4-608F-1763-2E2D9BFCD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5445"/>
            <a:ext cx="10927080" cy="762635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F5C8F8-FCCA-98FF-2CD0-27F37B8993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52880"/>
            <a:ext cx="10927080" cy="472408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DA2CB3-C046-2323-3DD0-A66E320D24F3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0787A1-AE21-7749-8ABB-48F5E74FF1F8}" type="datetimeFigureOut">
              <a:t>9/8/26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1A3F5D-5345-0645-671D-8B1DACFB444D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1D6E75-5765-D15A-4066-A80F58F3ADC6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315468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CA5B4E-8CC0-F641-B9F8-098110D0683A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000" b="1" kern="1200">
          <a:solidFill>
            <a:schemeClr val="accent4">
              <a:lumMod val="7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repo.anaconda.com/miniconda/Miniconda3-latest-Linux-x86_64.sh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anoporetech/dorado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D0565-21D1-05B5-3C3F-CF2149F748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3139" y="1206796"/>
            <a:ext cx="10685721" cy="2387600"/>
          </a:xfrm>
        </p:spPr>
        <p:txBody>
          <a:bodyPr>
            <a:normAutofit/>
          </a:bodyPr>
          <a:lstStyle/>
          <a:p>
            <a:pPr>
              <a:buNone/>
              <a:defRPr>
                <a:latin typeface="Arial"/>
                <a:ea typeface="Arial"/>
                <a:cs typeface="Arial"/>
              </a:defRPr>
            </a:pPr>
            <a:r>
              <a:rPr sz="4800" dirty="0">
                <a:latin typeface="Arial"/>
                <a:ea typeface="Arial"/>
                <a:cs typeface="Arial"/>
              </a:rPr>
              <a:t>Introduction to Bioinformatics</a:t>
            </a:r>
            <a:br>
              <a:rPr dirty="0"/>
            </a:br>
            <a:r>
              <a:rPr sz="4000" dirty="0">
                <a:latin typeface="Arial"/>
                <a:ea typeface="Arial"/>
                <a:cs typeface="Arial"/>
              </a:rPr>
              <a:t>with Oxford Nanopore Sequencing</a:t>
            </a:r>
            <a:endParaRPr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E18202-4EC3-B023-7471-C380673FEC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95442"/>
            <a:ext cx="9144000" cy="1655762"/>
          </a:xfrm>
        </p:spPr>
        <p:txBody>
          <a:bodyPr>
            <a:normAutofit fontScale="75015" lnSpcReduction="20000"/>
          </a:bodyPr>
          <a:lstStyle/>
          <a:p>
            <a:pPr>
              <a:buNone/>
              <a:defRPr>
                <a:latin typeface="Arial"/>
                <a:ea typeface="Arial"/>
                <a:cs typeface="Arial"/>
              </a:defRPr>
            </a:pPr>
            <a:r>
              <a:rPr u="sng" dirty="0">
                <a:latin typeface="Arial"/>
                <a:ea typeface="Arial"/>
                <a:cs typeface="Arial"/>
              </a:rPr>
              <a:t>Van Lam Nguyen</a:t>
            </a:r>
          </a:p>
          <a:p>
            <a:pPr>
              <a:buNone/>
              <a:defRPr>
                <a:latin typeface="Arial"/>
                <a:ea typeface="Arial"/>
                <a:cs typeface="Arial"/>
              </a:defRPr>
            </a:pPr>
            <a:r>
              <a:rPr dirty="0">
                <a:latin typeface="Arial"/>
                <a:ea typeface="Arial"/>
                <a:cs typeface="Arial"/>
              </a:rPr>
              <a:t>Bioinformatics Research Scientist</a:t>
            </a:r>
          </a:p>
          <a:p>
            <a:pPr>
              <a:buNone/>
              <a:defRPr>
                <a:latin typeface="Arial"/>
                <a:ea typeface="Arial"/>
                <a:cs typeface="Arial"/>
              </a:defRPr>
            </a:pPr>
            <a:r>
              <a:rPr dirty="0">
                <a:latin typeface="Arial"/>
                <a:ea typeface="Arial"/>
                <a:cs typeface="Arial"/>
              </a:rPr>
              <a:t>Department of Computational Biology</a:t>
            </a:r>
          </a:p>
          <a:p>
            <a:pPr>
              <a:buNone/>
              <a:defRPr>
                <a:latin typeface="Arial"/>
                <a:ea typeface="Arial"/>
                <a:cs typeface="Arial"/>
              </a:defRPr>
            </a:pPr>
            <a:r>
              <a:rPr dirty="0">
                <a:latin typeface="Arial"/>
                <a:ea typeface="Arial"/>
                <a:cs typeface="Arial"/>
              </a:rPr>
              <a:t>St. Jude Children’s Research Hospital</a:t>
            </a:r>
          </a:p>
          <a:p>
            <a:pPr>
              <a:buNone/>
              <a:defRPr>
                <a:latin typeface="Arial"/>
                <a:ea typeface="Arial"/>
                <a:cs typeface="Arial"/>
              </a:defRPr>
            </a:pPr>
            <a:r>
              <a:rPr dirty="0">
                <a:latin typeface="Arial"/>
                <a:ea typeface="Arial"/>
                <a:cs typeface="Arial"/>
              </a:rPr>
              <a:t>Memphis, TN, USA</a:t>
            </a:r>
          </a:p>
        </p:txBody>
      </p:sp>
    </p:spTree>
    <p:extLst>
      <p:ext uri="{BB962C8B-B14F-4D97-AF65-F5344CB8AC3E}">
        <p14:creationId xmlns:p14="http://schemas.microsoft.com/office/powerpoint/2010/main" val="1881671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">
            <a:extLst>
              <a:ext uri="{FF2B5EF4-FFF2-40B4-BE49-F238E27FC236}">
                <a16:creationId xmlns:a16="http://schemas.microsoft.com/office/drawing/2014/main" id="{170F1794-ABC6-4F4F-B25B-B4207C0AE80F}"/>
              </a:ext>
            </a:extLst>
          </p:cNvPr>
          <p:cNvSpPr>
            <a:spLocks noGrp="1"/>
          </p:cNvSpPr>
          <p:nvPr/>
        </p:nvSpPr>
        <p:spPr>
          <a:xfrm>
            <a:off x="838200" y="361950"/>
            <a:ext cx="10515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F84AA"/>
                </a:solidFill>
                <a:latin typeface="Arial"/>
                <a:ea typeface="Arial"/>
                <a:cs typeface="Arial"/>
              </a:defRPr>
            </a:pPr>
            <a:r>
              <a:rPr lang="en-US"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Nội</a:t>
            </a:r>
            <a:r>
              <a:rPr lang="en-US" sz="2550" b="1" dirty="0">
                <a:solidFill>
                  <a:srgbClr val="0F84AA"/>
                </a:solidFill>
                <a:latin typeface="Arial"/>
                <a:ea typeface="Arial"/>
                <a:cs typeface="Arial"/>
              </a:rPr>
              <a:t> dung </a:t>
            </a:r>
            <a:r>
              <a:rPr lang="en-US"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buổi</a:t>
            </a:r>
            <a:r>
              <a:rPr lang="en-US" sz="2550" b="1" dirty="0">
                <a:solidFill>
                  <a:srgbClr val="0F84AA"/>
                </a:solidFill>
                <a:latin typeface="Arial"/>
                <a:ea typeface="Arial"/>
                <a:cs typeface="Arial"/>
              </a:rPr>
              <a:t> 2</a:t>
            </a:r>
            <a:endParaRPr sz="2550" b="1" dirty="0">
              <a:solidFill>
                <a:srgbClr val="0F84A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itle accent">
            <a:extLst>
              <a:ext uri="{FF2B5EF4-FFF2-40B4-BE49-F238E27FC236}">
                <a16:creationId xmlns:a16="http://schemas.microsoft.com/office/drawing/2014/main" id="{58E7F87B-A124-4D9F-9089-3FEBEC8D4BA1}"/>
              </a:ext>
            </a:extLst>
          </p:cNvPr>
          <p:cNvSpPr>
            <a:spLocks noGrp="1"/>
          </p:cNvSpPr>
          <p:nvPr/>
        </p:nvSpPr>
        <p:spPr>
          <a:xfrm>
            <a:off x="838200" y="1028700"/>
            <a:ext cx="1619250" cy="57150"/>
          </a:xfrm>
          <a:prstGeom prst="rect">
            <a:avLst/>
          </a:prstGeom>
          <a:solidFill>
            <a:srgbClr val="E97132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Accent 1">
            <a:extLst>
              <a:ext uri="{FF2B5EF4-FFF2-40B4-BE49-F238E27FC236}">
                <a16:creationId xmlns:a16="http://schemas.microsoft.com/office/drawing/2014/main" id="{7A57AB93-9B69-47D2-AC3A-441702AA5232}"/>
              </a:ext>
            </a:extLst>
          </p:cNvPr>
          <p:cNvSpPr>
            <a:spLocks noGrp="1"/>
          </p:cNvSpPr>
          <p:nvPr/>
        </p:nvSpPr>
        <p:spPr>
          <a:xfrm>
            <a:off x="876300" y="1390650"/>
            <a:ext cx="66675" cy="495300"/>
          </a:xfrm>
          <a:prstGeom prst="rect">
            <a:avLst/>
          </a:prstGeom>
          <a:solidFill>
            <a:srgbClr val="0F84A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Accent 2">
            <a:extLst>
              <a:ext uri="{FF2B5EF4-FFF2-40B4-BE49-F238E27FC236}">
                <a16:creationId xmlns:a16="http://schemas.microsoft.com/office/drawing/2014/main" id="{098089F5-5036-457B-A67F-F0CD9DB01969}"/>
              </a:ext>
            </a:extLst>
          </p:cNvPr>
          <p:cNvSpPr>
            <a:spLocks noGrp="1"/>
          </p:cNvSpPr>
          <p:nvPr/>
        </p:nvSpPr>
        <p:spPr>
          <a:xfrm>
            <a:off x="876300" y="2076450"/>
            <a:ext cx="66675" cy="495300"/>
          </a:xfrm>
          <a:prstGeom prst="rect">
            <a:avLst/>
          </a:prstGeom>
          <a:solidFill>
            <a:srgbClr val="E97132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Point 2">
            <a:extLst>
              <a:ext uri="{FF2B5EF4-FFF2-40B4-BE49-F238E27FC236}">
                <a16:creationId xmlns:a16="http://schemas.microsoft.com/office/drawing/2014/main" id="{F4558CF9-C949-4289-874D-C62831AF7622}"/>
              </a:ext>
            </a:extLst>
          </p:cNvPr>
          <p:cNvSpPr>
            <a:spLocks noGrp="1"/>
          </p:cNvSpPr>
          <p:nvPr/>
        </p:nvSpPr>
        <p:spPr>
          <a:xfrm>
            <a:off x="1104900" y="3448050"/>
            <a:ext cx="101536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>
                <a:solidFill>
                  <a:srgbClr val="202A33"/>
                </a:solidFill>
                <a:latin typeface="Arial"/>
                <a:ea typeface="Arial"/>
                <a:cs typeface="Arial"/>
              </a:defRPr>
            </a:pPr>
            <a:r>
              <a:rPr lang="en-US" sz="1575" dirty="0">
                <a:solidFill>
                  <a:srgbClr val="202A33"/>
                </a:solidFill>
                <a:latin typeface="Arial"/>
                <a:ea typeface="Arial"/>
                <a:cs typeface="Arial"/>
              </a:rPr>
              <a:t>Download </a:t>
            </a:r>
            <a:r>
              <a:rPr lang="en-US" sz="1575" dirty="0" err="1">
                <a:solidFill>
                  <a:srgbClr val="202A33"/>
                </a:solidFill>
                <a:latin typeface="Arial"/>
                <a:ea typeface="Arial"/>
                <a:cs typeface="Arial"/>
              </a:rPr>
              <a:t>dữ</a:t>
            </a:r>
            <a:r>
              <a:rPr lang="en-US" sz="1575" dirty="0">
                <a:solidFill>
                  <a:srgbClr val="202A33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575" dirty="0" err="1">
                <a:solidFill>
                  <a:srgbClr val="202A33"/>
                </a:solidFill>
                <a:latin typeface="Arial"/>
                <a:ea typeface="Arial"/>
                <a:cs typeface="Arial"/>
              </a:rPr>
              <a:t>liệu</a:t>
            </a:r>
            <a:r>
              <a:rPr lang="en-US" sz="1575" dirty="0">
                <a:solidFill>
                  <a:srgbClr val="202A33"/>
                </a:solidFill>
                <a:latin typeface="Arial"/>
                <a:ea typeface="Arial"/>
                <a:cs typeface="Arial"/>
              </a:rPr>
              <a:t> demo</a:t>
            </a:r>
            <a:endParaRPr sz="1575" dirty="0">
              <a:solidFill>
                <a:srgbClr val="202A3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Accent 3">
            <a:extLst>
              <a:ext uri="{FF2B5EF4-FFF2-40B4-BE49-F238E27FC236}">
                <a16:creationId xmlns:a16="http://schemas.microsoft.com/office/drawing/2014/main" id="{42BE9690-A84C-49EF-AC01-DF11D2970AAD}"/>
              </a:ext>
            </a:extLst>
          </p:cNvPr>
          <p:cNvSpPr>
            <a:spLocks noGrp="1"/>
          </p:cNvSpPr>
          <p:nvPr/>
        </p:nvSpPr>
        <p:spPr>
          <a:xfrm>
            <a:off x="876300" y="2762250"/>
            <a:ext cx="66675" cy="495300"/>
          </a:xfrm>
          <a:prstGeom prst="rect">
            <a:avLst/>
          </a:prstGeom>
          <a:solidFill>
            <a:srgbClr val="2E8B7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Point 3">
            <a:extLst>
              <a:ext uri="{FF2B5EF4-FFF2-40B4-BE49-F238E27FC236}">
                <a16:creationId xmlns:a16="http://schemas.microsoft.com/office/drawing/2014/main" id="{C54FE448-0403-4745-BA24-7EFECF353A07}"/>
              </a:ext>
            </a:extLst>
          </p:cNvPr>
          <p:cNvSpPr>
            <a:spLocks noGrp="1"/>
          </p:cNvSpPr>
          <p:nvPr/>
        </p:nvSpPr>
        <p:spPr>
          <a:xfrm>
            <a:off x="1104900" y="2076450"/>
            <a:ext cx="101536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>
                <a:solidFill>
                  <a:srgbClr val="202A33"/>
                </a:solidFill>
                <a:latin typeface="Arial"/>
                <a:ea typeface="Arial"/>
                <a:cs typeface="Arial"/>
              </a:defRPr>
            </a:pPr>
            <a:r>
              <a:rPr lang="en-US" sz="1575" dirty="0" err="1">
                <a:solidFill>
                  <a:srgbClr val="202A33"/>
                </a:solidFill>
                <a:latin typeface="Arial"/>
                <a:ea typeface="Arial"/>
                <a:cs typeface="Arial"/>
              </a:rPr>
              <a:t>Làm</a:t>
            </a:r>
            <a:r>
              <a:rPr lang="en-US" sz="1575" dirty="0">
                <a:solidFill>
                  <a:srgbClr val="202A33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575" dirty="0" err="1">
                <a:solidFill>
                  <a:srgbClr val="202A33"/>
                </a:solidFill>
                <a:latin typeface="Arial"/>
                <a:ea typeface="Arial"/>
                <a:cs typeface="Arial"/>
              </a:rPr>
              <a:t>quen</a:t>
            </a:r>
            <a:r>
              <a:rPr lang="en-US" sz="1575" dirty="0">
                <a:solidFill>
                  <a:srgbClr val="202A33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575" dirty="0" err="1">
                <a:solidFill>
                  <a:srgbClr val="202A33"/>
                </a:solidFill>
                <a:latin typeface="Arial"/>
                <a:ea typeface="Arial"/>
                <a:cs typeface="Arial"/>
              </a:rPr>
              <a:t>với</a:t>
            </a:r>
            <a:r>
              <a:rPr lang="en-US" sz="1575" dirty="0">
                <a:solidFill>
                  <a:srgbClr val="202A33"/>
                </a:solidFill>
                <a:latin typeface="Arial"/>
                <a:ea typeface="Arial"/>
                <a:cs typeface="Arial"/>
              </a:rPr>
              <a:t> POD5</a:t>
            </a:r>
            <a:endParaRPr sz="1575" dirty="0">
              <a:solidFill>
                <a:srgbClr val="202A3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Accent 4">
            <a:extLst>
              <a:ext uri="{FF2B5EF4-FFF2-40B4-BE49-F238E27FC236}">
                <a16:creationId xmlns:a16="http://schemas.microsoft.com/office/drawing/2014/main" id="{B526ED1B-4EDF-4561-A3C6-E76268B35E19}"/>
              </a:ext>
            </a:extLst>
          </p:cNvPr>
          <p:cNvSpPr>
            <a:spLocks noGrp="1"/>
          </p:cNvSpPr>
          <p:nvPr/>
        </p:nvSpPr>
        <p:spPr>
          <a:xfrm>
            <a:off x="876300" y="3448050"/>
            <a:ext cx="66675" cy="495300"/>
          </a:xfrm>
          <a:prstGeom prst="rect">
            <a:avLst/>
          </a:prstGeom>
          <a:solidFill>
            <a:srgbClr val="7B61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Point 4">
            <a:extLst>
              <a:ext uri="{FF2B5EF4-FFF2-40B4-BE49-F238E27FC236}">
                <a16:creationId xmlns:a16="http://schemas.microsoft.com/office/drawing/2014/main" id="{FB9F9ADA-41A8-49C7-83CA-0F65CA57F3A1}"/>
              </a:ext>
            </a:extLst>
          </p:cNvPr>
          <p:cNvSpPr>
            <a:spLocks noGrp="1"/>
          </p:cNvSpPr>
          <p:nvPr/>
        </p:nvSpPr>
        <p:spPr>
          <a:xfrm>
            <a:off x="1104900" y="2717080"/>
            <a:ext cx="101536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>
                <a:solidFill>
                  <a:srgbClr val="202A33"/>
                </a:solidFill>
                <a:latin typeface="Arial"/>
                <a:ea typeface="Arial"/>
                <a:cs typeface="Arial"/>
              </a:defRPr>
            </a:pPr>
            <a:r>
              <a:rPr sz="1575" dirty="0" err="1">
                <a:solidFill>
                  <a:srgbClr val="202A33"/>
                </a:solidFill>
                <a:latin typeface="Arial"/>
                <a:ea typeface="Arial"/>
                <a:cs typeface="Arial"/>
              </a:rPr>
              <a:t>Chạy</a:t>
            </a:r>
            <a:r>
              <a:rPr sz="1575" dirty="0">
                <a:solidFill>
                  <a:srgbClr val="202A33"/>
                </a:solidFill>
                <a:latin typeface="Arial"/>
                <a:ea typeface="Arial"/>
                <a:cs typeface="Arial"/>
              </a:rPr>
              <a:t> demo Dorado</a:t>
            </a:r>
            <a:r>
              <a:rPr lang="vi-VN" sz="1575" dirty="0">
                <a:solidFill>
                  <a:srgbClr val="202A33"/>
                </a:solidFill>
                <a:latin typeface="Arial"/>
                <a:ea typeface="Arial"/>
                <a:cs typeface="Arial"/>
              </a:rPr>
              <a:t> basecaller</a:t>
            </a:r>
            <a:endParaRPr sz="1575" dirty="0">
              <a:solidFill>
                <a:srgbClr val="202A3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Accent 5">
            <a:extLst>
              <a:ext uri="{FF2B5EF4-FFF2-40B4-BE49-F238E27FC236}">
                <a16:creationId xmlns:a16="http://schemas.microsoft.com/office/drawing/2014/main" id="{5311D711-A5D9-405C-BAF9-2A313225B52D}"/>
              </a:ext>
            </a:extLst>
          </p:cNvPr>
          <p:cNvSpPr>
            <a:spLocks noGrp="1"/>
          </p:cNvSpPr>
          <p:nvPr/>
        </p:nvSpPr>
        <p:spPr>
          <a:xfrm>
            <a:off x="876300" y="4133850"/>
            <a:ext cx="66675" cy="495300"/>
          </a:xfrm>
          <a:prstGeom prst="rect">
            <a:avLst/>
          </a:prstGeom>
          <a:solidFill>
            <a:srgbClr val="D49A22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Point 5">
            <a:extLst>
              <a:ext uri="{FF2B5EF4-FFF2-40B4-BE49-F238E27FC236}">
                <a16:creationId xmlns:a16="http://schemas.microsoft.com/office/drawing/2014/main" id="{43C38B1F-04D8-4960-8CA1-1A8C3CD34BEE}"/>
              </a:ext>
            </a:extLst>
          </p:cNvPr>
          <p:cNvSpPr>
            <a:spLocks noGrp="1"/>
          </p:cNvSpPr>
          <p:nvPr/>
        </p:nvSpPr>
        <p:spPr>
          <a:xfrm>
            <a:off x="1104900" y="4129908"/>
            <a:ext cx="101536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>
                <a:solidFill>
                  <a:srgbClr val="202A33"/>
                </a:solidFill>
                <a:latin typeface="Arial"/>
                <a:ea typeface="Arial"/>
                <a:cs typeface="Arial"/>
              </a:defRPr>
            </a:pPr>
            <a:r>
              <a:rPr sz="1575" dirty="0" err="1">
                <a:solidFill>
                  <a:srgbClr val="202A33"/>
                </a:solidFill>
                <a:latin typeface="Arial"/>
                <a:ea typeface="Arial"/>
                <a:cs typeface="Arial"/>
              </a:rPr>
              <a:t>Tạo</a:t>
            </a:r>
            <a:r>
              <a:rPr sz="1575" dirty="0">
                <a:solidFill>
                  <a:srgbClr val="202A33"/>
                </a:solidFill>
                <a:latin typeface="Arial"/>
                <a:ea typeface="Arial"/>
                <a:cs typeface="Arial"/>
              </a:rPr>
              <a:t> FASTQ, reference </a:t>
            </a:r>
            <a:r>
              <a:rPr sz="1575" dirty="0" err="1">
                <a:solidFill>
                  <a:srgbClr val="202A33"/>
                </a:solidFill>
                <a:latin typeface="Arial"/>
                <a:ea typeface="Arial"/>
                <a:cs typeface="Arial"/>
              </a:rPr>
              <a:t>và</a:t>
            </a:r>
            <a:r>
              <a:rPr sz="1575" dirty="0">
                <a:solidFill>
                  <a:srgbClr val="202A33"/>
                </a:solidFill>
                <a:latin typeface="Arial"/>
                <a:ea typeface="Arial"/>
                <a:cs typeface="Arial"/>
              </a:rPr>
              <a:t> BED chr20 </a:t>
            </a:r>
            <a:r>
              <a:rPr sz="1575" dirty="0" err="1">
                <a:solidFill>
                  <a:srgbClr val="202A33"/>
                </a:solidFill>
                <a:latin typeface="Arial"/>
                <a:ea typeface="Arial"/>
                <a:cs typeface="Arial"/>
              </a:rPr>
              <a:t>dùng</a:t>
            </a:r>
            <a:r>
              <a:rPr sz="1575" dirty="0">
                <a:solidFill>
                  <a:srgbClr val="202A33"/>
                </a:solidFill>
                <a:latin typeface="Arial"/>
                <a:ea typeface="Arial"/>
                <a:cs typeface="Arial"/>
              </a:rPr>
              <a:t> </a:t>
            </a:r>
            <a:r>
              <a:rPr sz="1575" dirty="0" err="1">
                <a:solidFill>
                  <a:srgbClr val="202A33"/>
                </a:solidFill>
                <a:latin typeface="Arial"/>
                <a:ea typeface="Arial"/>
                <a:cs typeface="Arial"/>
              </a:rPr>
              <a:t>c</a:t>
            </a:r>
            <a:r>
              <a:rPr lang="en-US" sz="1575" dirty="0" err="1">
                <a:solidFill>
                  <a:srgbClr val="202A33"/>
                </a:solidFill>
                <a:latin typeface="Arial"/>
                <a:ea typeface="Arial"/>
                <a:cs typeface="Arial"/>
              </a:rPr>
              <a:t>ho</a:t>
            </a:r>
            <a:r>
              <a:rPr lang="en-US" sz="1575" dirty="0">
                <a:solidFill>
                  <a:srgbClr val="202A33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575" dirty="0" err="1">
                <a:solidFill>
                  <a:srgbClr val="202A33"/>
                </a:solidFill>
                <a:latin typeface="Arial"/>
                <a:ea typeface="Arial"/>
                <a:cs typeface="Arial"/>
              </a:rPr>
              <a:t>các</a:t>
            </a:r>
            <a:r>
              <a:rPr lang="en-US" sz="1575" dirty="0">
                <a:solidFill>
                  <a:srgbClr val="202A33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575" dirty="0" err="1">
                <a:solidFill>
                  <a:srgbClr val="202A33"/>
                </a:solidFill>
                <a:latin typeface="Arial"/>
                <a:ea typeface="Arial"/>
                <a:cs typeface="Arial"/>
              </a:rPr>
              <a:t>buổi</a:t>
            </a:r>
            <a:r>
              <a:rPr lang="en-US" sz="1575" dirty="0">
                <a:solidFill>
                  <a:srgbClr val="202A33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575" dirty="0" err="1">
                <a:solidFill>
                  <a:srgbClr val="202A33"/>
                </a:solidFill>
                <a:latin typeface="Arial"/>
                <a:ea typeface="Arial"/>
                <a:cs typeface="Arial"/>
              </a:rPr>
              <a:t>tiếp</a:t>
            </a:r>
            <a:r>
              <a:rPr lang="en-US" sz="1575" dirty="0">
                <a:solidFill>
                  <a:srgbClr val="202A33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575" dirty="0" err="1">
                <a:solidFill>
                  <a:srgbClr val="202A33"/>
                </a:solidFill>
                <a:latin typeface="Arial"/>
                <a:ea typeface="Arial"/>
                <a:cs typeface="Arial"/>
              </a:rPr>
              <a:t>theo</a:t>
            </a:r>
            <a:r>
              <a:rPr sz="1575" dirty="0" err="1">
                <a:solidFill>
                  <a:srgbClr val="202A33"/>
                </a:solidFill>
                <a:latin typeface="Arial"/>
                <a:ea typeface="Arial"/>
                <a:cs typeface="Arial"/>
              </a:rPr>
              <a:t>.</a:t>
            </a:r>
            <a:endParaRPr sz="1575" dirty="0">
              <a:solidFill>
                <a:srgbClr val="202A3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Point 4">
            <a:extLst>
              <a:ext uri="{FF2B5EF4-FFF2-40B4-BE49-F238E27FC236}">
                <a16:creationId xmlns:a16="http://schemas.microsoft.com/office/drawing/2014/main" id="{876E0EAD-89B1-B1FF-3E1F-7D1EFFEAD5A0}"/>
              </a:ext>
            </a:extLst>
          </p:cNvPr>
          <p:cNvSpPr>
            <a:spLocks noGrp="1"/>
          </p:cNvSpPr>
          <p:nvPr/>
        </p:nvSpPr>
        <p:spPr>
          <a:xfrm>
            <a:off x="1104900" y="1395412"/>
            <a:ext cx="101536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>
                <a:solidFill>
                  <a:srgbClr val="202A33"/>
                </a:solidFill>
                <a:latin typeface="Arial"/>
                <a:ea typeface="Arial"/>
                <a:cs typeface="Arial"/>
              </a:defRPr>
            </a:pPr>
            <a:r>
              <a:rPr lang="en-US" sz="1575" dirty="0" err="1">
                <a:solidFill>
                  <a:srgbClr val="202A33"/>
                </a:solidFill>
                <a:latin typeface="Arial"/>
                <a:ea typeface="Arial"/>
                <a:cs typeface="Arial"/>
              </a:rPr>
              <a:t>Tổ</a:t>
            </a:r>
            <a:r>
              <a:rPr lang="en-US" sz="1575" dirty="0">
                <a:solidFill>
                  <a:srgbClr val="202A33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575" dirty="0" err="1">
                <a:solidFill>
                  <a:srgbClr val="202A33"/>
                </a:solidFill>
                <a:latin typeface="Arial"/>
                <a:ea typeface="Arial"/>
                <a:cs typeface="Arial"/>
              </a:rPr>
              <a:t>chức</a:t>
            </a:r>
            <a:r>
              <a:rPr lang="en-US" sz="1575" dirty="0">
                <a:solidFill>
                  <a:srgbClr val="202A33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575" dirty="0" err="1">
                <a:solidFill>
                  <a:srgbClr val="202A33"/>
                </a:solidFill>
                <a:latin typeface="Arial"/>
                <a:ea typeface="Arial"/>
                <a:cs typeface="Arial"/>
              </a:rPr>
              <a:t>thư</a:t>
            </a:r>
            <a:r>
              <a:rPr lang="en-US" sz="1575" dirty="0">
                <a:solidFill>
                  <a:srgbClr val="202A33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575" dirty="0" err="1">
                <a:solidFill>
                  <a:srgbClr val="202A33"/>
                </a:solidFill>
                <a:latin typeface="Arial"/>
                <a:ea typeface="Arial"/>
                <a:cs typeface="Arial"/>
              </a:rPr>
              <a:t>mục</a:t>
            </a:r>
            <a:r>
              <a:rPr lang="en-US" sz="1575" dirty="0">
                <a:solidFill>
                  <a:srgbClr val="202A33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575" dirty="0" err="1">
                <a:solidFill>
                  <a:srgbClr val="202A33"/>
                </a:solidFill>
                <a:latin typeface="Arial"/>
                <a:ea typeface="Arial"/>
                <a:cs typeface="Arial"/>
              </a:rPr>
              <a:t>cho</a:t>
            </a:r>
            <a:r>
              <a:rPr lang="en-US" sz="1575" dirty="0">
                <a:solidFill>
                  <a:srgbClr val="202A33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575" dirty="0" err="1">
                <a:solidFill>
                  <a:srgbClr val="202A33"/>
                </a:solidFill>
                <a:latin typeface="Arial"/>
                <a:ea typeface="Arial"/>
                <a:cs typeface="Arial"/>
              </a:rPr>
              <a:t>dự</a:t>
            </a:r>
            <a:r>
              <a:rPr lang="en-US" sz="1575" dirty="0">
                <a:solidFill>
                  <a:srgbClr val="202A33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575" dirty="0" err="1">
                <a:solidFill>
                  <a:srgbClr val="202A33"/>
                </a:solidFill>
                <a:latin typeface="Arial"/>
                <a:ea typeface="Arial"/>
                <a:cs typeface="Arial"/>
              </a:rPr>
              <a:t>án</a:t>
            </a:r>
            <a:endParaRPr sz="1575" dirty="0">
              <a:solidFill>
                <a:srgbClr val="202A3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41537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>
            <a:extLst>
              <a:ext uri="{FF2B5EF4-FFF2-40B4-BE49-F238E27FC236}">
                <a16:creationId xmlns:a16="http://schemas.microsoft.com/office/drawing/2014/main" id="{6A8E7211-2DAD-49FC-B2DD-DCC255EC2B4E}"/>
              </a:ext>
            </a:extLst>
          </p:cNvPr>
          <p:cNvSpPr>
            <a:spLocks noGrp="1"/>
          </p:cNvSpPr>
          <p:nvPr/>
        </p:nvSpPr>
        <p:spPr>
          <a:xfrm>
            <a:off x="838200" y="361950"/>
            <a:ext cx="10515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F84AA"/>
                </a:solidFill>
                <a:latin typeface="Arial"/>
                <a:ea typeface="Arial"/>
                <a:cs typeface="Arial"/>
              </a:defRPr>
            </a:pPr>
            <a:r>
              <a:rPr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Cài</a:t>
            </a:r>
            <a:r>
              <a:rPr sz="2550" b="1" dirty="0">
                <a:solidFill>
                  <a:srgbClr val="0F84AA"/>
                </a:solidFill>
                <a:latin typeface="Arial"/>
                <a:ea typeface="Arial"/>
                <a:cs typeface="Arial"/>
              </a:rPr>
              <a:t> </a:t>
            </a:r>
            <a:r>
              <a:rPr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Conda</a:t>
            </a:r>
            <a:r>
              <a:rPr lang="vi-VN" sz="2550" b="1" dirty="0">
                <a:solidFill>
                  <a:srgbClr val="0F84AA"/>
                </a:solidFill>
                <a:latin typeface="Arial"/>
                <a:ea typeface="Arial"/>
                <a:cs typeface="Arial"/>
              </a:rPr>
              <a:t> – bài tập buổi 1</a:t>
            </a:r>
            <a:endParaRPr sz="2550" b="1" dirty="0">
              <a:solidFill>
                <a:srgbClr val="0F84A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itle accent">
            <a:extLst>
              <a:ext uri="{FF2B5EF4-FFF2-40B4-BE49-F238E27FC236}">
                <a16:creationId xmlns:a16="http://schemas.microsoft.com/office/drawing/2014/main" id="{D277A753-B6FB-4045-B5A5-8B9CAEA8D661}"/>
              </a:ext>
            </a:extLst>
          </p:cNvPr>
          <p:cNvSpPr>
            <a:spLocks noGrp="1"/>
          </p:cNvSpPr>
          <p:nvPr/>
        </p:nvSpPr>
        <p:spPr>
          <a:xfrm>
            <a:off x="838200" y="1028700"/>
            <a:ext cx="1619250" cy="57150"/>
          </a:xfrm>
          <a:prstGeom prst="rect">
            <a:avLst/>
          </a:prstGeom>
          <a:solidFill>
            <a:srgbClr val="E9713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54DDC0-108E-B0E3-C92C-81BDE2A8BAA4}"/>
              </a:ext>
            </a:extLst>
          </p:cNvPr>
          <p:cNvSpPr txBox="1"/>
          <p:nvPr/>
        </p:nvSpPr>
        <p:spPr>
          <a:xfrm>
            <a:off x="838200" y="2087671"/>
            <a:ext cx="779543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#installation</a:t>
            </a:r>
          </a:p>
          <a:p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cd /</a:t>
            </a:r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tmp</a:t>
            </a:r>
            <a:endParaRPr lang="en-US" sz="14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wget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https://repo.anaconda.com/miniconda/Miniconda3-latest-Linux-x86_64.sh</a:t>
            </a:r>
            <a:endParaRPr lang="en-US" sz="14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bash Miniconda3-latest-Linux-x86_64.sh</a:t>
            </a:r>
          </a:p>
          <a:p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#follow instruction</a:t>
            </a:r>
          </a:p>
          <a:p>
            <a:endParaRPr lang="en-US" sz="14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47A91F-BB83-1189-79E5-39D7B372FCC8}"/>
              </a:ext>
            </a:extLst>
          </p:cNvPr>
          <p:cNvSpPr txBox="1"/>
          <p:nvPr/>
        </p:nvSpPr>
        <p:spPr>
          <a:xfrm>
            <a:off x="8751687" y="728000"/>
            <a:ext cx="2396904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name: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ont</a:t>
            </a:r>
            <a:endParaRPr lang="en-US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channels:</a:t>
            </a: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conda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-forge</a:t>
            </a: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bioconda</a:t>
            </a:r>
            <a:endParaRPr lang="en-US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- defaults</a:t>
            </a:r>
          </a:p>
          <a:p>
            <a:endParaRPr lang="en-US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dependencies:</a:t>
            </a: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- python=3.11</a:t>
            </a: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wget</a:t>
            </a:r>
            <a:endParaRPr lang="en-US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- curl</a:t>
            </a: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- unzip</a:t>
            </a: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gzip</a:t>
            </a:r>
            <a:endParaRPr lang="en-US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- tree</a:t>
            </a: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seqkit</a:t>
            </a:r>
            <a:endParaRPr lang="en-US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nanoplot</a:t>
            </a:r>
            <a:endParaRPr lang="en-US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- minimap2</a:t>
            </a: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samtools</a:t>
            </a:r>
            <a:endParaRPr lang="en-US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bcftools</a:t>
            </a:r>
            <a:endParaRPr lang="en-US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htslib</a:t>
            </a:r>
            <a:endParaRPr lang="en-US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tabix</a:t>
            </a:r>
            <a:endParaRPr lang="en-US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66049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50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ction kicker">
            <a:extLst>
              <a:ext uri="{FF2B5EF4-FFF2-40B4-BE49-F238E27FC236}">
                <a16:creationId xmlns:a16="http://schemas.microsoft.com/office/drawing/2014/main" id="{27F39FD5-FDE7-4B61-88E8-3F701F8D89B5}"/>
              </a:ext>
            </a:extLst>
          </p:cNvPr>
          <p:cNvSpPr>
            <a:spLocks noGrp="1"/>
          </p:cNvSpPr>
          <p:nvPr/>
        </p:nvSpPr>
        <p:spPr>
          <a:xfrm>
            <a:off x="876300" y="1762125"/>
            <a:ext cx="723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8FD5E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FD5E8"/>
                </a:solidFill>
                <a:latin typeface="Arial"/>
                <a:ea typeface="Arial"/>
                <a:cs typeface="Arial"/>
              </a:rPr>
              <a:t>PHẦN 1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35624B14-3F9B-4FEE-BDDC-97BD9ECC2B46}"/>
              </a:ext>
            </a:extLst>
          </p:cNvPr>
          <p:cNvSpPr>
            <a:spLocks noGrp="1"/>
          </p:cNvSpPr>
          <p:nvPr/>
        </p:nvSpPr>
        <p:spPr>
          <a:xfrm>
            <a:off x="876300" y="2333625"/>
            <a:ext cx="96202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Tổ</a:t>
            </a:r>
            <a:r>
              <a:rPr sz="3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36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chức</a:t>
            </a:r>
            <a:r>
              <a:rPr sz="3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36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thư</a:t>
            </a:r>
            <a:r>
              <a:rPr lang="en-US" sz="3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36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mục</a:t>
            </a:r>
            <a:r>
              <a:rPr lang="en-US" sz="3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36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cho</a:t>
            </a:r>
            <a:r>
              <a:rPr lang="en-US" sz="3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36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dự</a:t>
            </a:r>
            <a:r>
              <a:rPr lang="en-US" sz="3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36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án</a:t>
            </a:r>
            <a:endParaRPr sz="36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Section accent">
            <a:extLst>
              <a:ext uri="{FF2B5EF4-FFF2-40B4-BE49-F238E27FC236}">
                <a16:creationId xmlns:a16="http://schemas.microsoft.com/office/drawing/2014/main" id="{2258A04C-A57F-4D19-B998-FAAA073306E2}"/>
              </a:ext>
            </a:extLst>
          </p:cNvPr>
          <p:cNvSpPr>
            <a:spLocks noGrp="1"/>
          </p:cNvSpPr>
          <p:nvPr/>
        </p:nvSpPr>
        <p:spPr>
          <a:xfrm>
            <a:off x="876300" y="3810000"/>
            <a:ext cx="2286000" cy="95250"/>
          </a:xfrm>
          <a:prstGeom prst="rect">
            <a:avLst/>
          </a:prstGeom>
          <a:solidFill>
            <a:srgbClr val="E97132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475F1C-9015-7BD7-0F4A-A500872FFA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8778" y="1238969"/>
            <a:ext cx="3452595" cy="4839534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3939015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">
            <a:extLst>
              <a:ext uri="{FF2B5EF4-FFF2-40B4-BE49-F238E27FC236}">
                <a16:creationId xmlns:a16="http://schemas.microsoft.com/office/drawing/2014/main" id="{0E5A15E2-AB28-4337-87FE-6951D34A6045}"/>
              </a:ext>
            </a:extLst>
          </p:cNvPr>
          <p:cNvSpPr>
            <a:spLocks noGrp="1"/>
          </p:cNvSpPr>
          <p:nvPr/>
        </p:nvSpPr>
        <p:spPr>
          <a:xfrm>
            <a:off x="838200" y="361950"/>
            <a:ext cx="10515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F84A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84AA"/>
                </a:solidFill>
                <a:latin typeface="Arial"/>
                <a:ea typeface="Arial"/>
                <a:cs typeface="Arial"/>
              </a:rPr>
              <a:t>Tạo thư mục gốc và các nhánh chính</a:t>
            </a:r>
          </a:p>
        </p:txBody>
      </p:sp>
      <p:sp>
        <p:nvSpPr>
          <p:cNvPr id="2" name="Title accent">
            <a:extLst>
              <a:ext uri="{FF2B5EF4-FFF2-40B4-BE49-F238E27FC236}">
                <a16:creationId xmlns:a16="http://schemas.microsoft.com/office/drawing/2014/main" id="{CA449EB0-270F-4E2A-A3A1-311B4C63B1F7}"/>
              </a:ext>
            </a:extLst>
          </p:cNvPr>
          <p:cNvSpPr>
            <a:spLocks noGrp="1"/>
          </p:cNvSpPr>
          <p:nvPr/>
        </p:nvSpPr>
        <p:spPr>
          <a:xfrm>
            <a:off x="838200" y="1028700"/>
            <a:ext cx="1619250" cy="57150"/>
          </a:xfrm>
          <a:prstGeom prst="rect">
            <a:avLst/>
          </a:prstGeom>
          <a:solidFill>
            <a:srgbClr val="E97132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Code block">
            <a:extLst>
              <a:ext uri="{FF2B5EF4-FFF2-40B4-BE49-F238E27FC236}">
                <a16:creationId xmlns:a16="http://schemas.microsoft.com/office/drawing/2014/main" id="{C66AE2A2-3A55-43B3-9824-E7815119BEC2}"/>
              </a:ext>
            </a:extLst>
          </p:cNvPr>
          <p:cNvSpPr>
            <a:spLocks noGrp="1"/>
          </p:cNvSpPr>
          <p:nvPr/>
        </p:nvSpPr>
        <p:spPr>
          <a:xfrm>
            <a:off x="876300" y="1285875"/>
            <a:ext cx="4762500" cy="2521609"/>
          </a:xfrm>
          <a:prstGeom prst="roundRect">
            <a:avLst>
              <a:gd name="adj" fmla="val 1951"/>
            </a:avLst>
          </a:prstGeom>
          <a:solidFill>
            <a:srgbClr val="F4F7F8"/>
          </a:solidFill>
          <a:ln w="9525">
            <a:solidFill>
              <a:srgbClr val="B8CDD5"/>
            </a:solidFill>
            <a:prstDash val="solid"/>
          </a:ln>
        </p:spPr>
        <p:txBody>
          <a:bodyPr/>
          <a:lstStyle/>
          <a:p>
            <a:pPr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 err="1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mkdir</a:t>
            </a:r>
            <a:r>
              <a:rPr sz="1575" dirty="0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 </a:t>
            </a:r>
            <a:r>
              <a:rPr sz="1575" dirty="0" err="1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ONT_</a:t>
            </a:r>
            <a:r>
              <a:rPr lang="en-US" sz="1575" dirty="0" err="1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practice</a:t>
            </a:r>
            <a:endParaRPr sz="1575" dirty="0">
              <a:solidFill>
                <a:srgbClr val="17242B"/>
              </a:solidFill>
              <a:latin typeface="Consolas" panose="020B0609020204030204" pitchFamily="49" charset="0"/>
              <a:ea typeface="Courier New"/>
              <a:cs typeface="Consolas" panose="020B0609020204030204" pitchFamily="49" charset="0"/>
            </a:endParaRPr>
          </a:p>
          <a:p>
            <a:pPr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cd </a:t>
            </a:r>
            <a:r>
              <a:rPr lang="en-US" sz="1575" dirty="0" err="1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ONT_practice</a:t>
            </a:r>
            <a:endParaRPr sz="1575" dirty="0">
              <a:solidFill>
                <a:srgbClr val="17242B"/>
              </a:solidFill>
              <a:latin typeface="Consolas" panose="020B0609020204030204" pitchFamily="49" charset="0"/>
              <a:ea typeface="Courier New"/>
              <a:cs typeface="Consolas" panose="020B0609020204030204" pitchFamily="49" charset="0"/>
            </a:endParaRPr>
          </a:p>
          <a:p>
            <a:pPr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575" dirty="0" err="1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p</a:t>
            </a:r>
            <a:r>
              <a:rPr sz="1575" dirty="0" err="1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wd</a:t>
            </a:r>
            <a:endParaRPr lang="en-US" sz="1575" dirty="0">
              <a:solidFill>
                <a:srgbClr val="17242B"/>
              </a:solidFill>
              <a:latin typeface="Consolas" panose="020B0609020204030204" pitchFamily="49" charset="0"/>
              <a:ea typeface="Courier New"/>
              <a:cs typeface="Consolas" panose="020B0609020204030204" pitchFamily="49" charset="0"/>
            </a:endParaRPr>
          </a:p>
          <a:p>
            <a:pPr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 err="1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mkdir</a:t>
            </a:r>
            <a:r>
              <a:rPr sz="1575" dirty="0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 config</a:t>
            </a:r>
          </a:p>
          <a:p>
            <a:pPr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 err="1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mkdir</a:t>
            </a:r>
            <a:r>
              <a:rPr sz="1575" dirty="0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 data</a:t>
            </a:r>
          </a:p>
          <a:p>
            <a:pPr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 err="1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mkdir</a:t>
            </a:r>
            <a:r>
              <a:rPr sz="1575" dirty="0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 results</a:t>
            </a:r>
          </a:p>
          <a:p>
            <a:pPr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 err="1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mkdir</a:t>
            </a:r>
            <a:r>
              <a:rPr sz="1575" dirty="0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 scripts</a:t>
            </a:r>
          </a:p>
          <a:p>
            <a:pPr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 err="1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mkdir</a:t>
            </a:r>
            <a:r>
              <a:rPr sz="1575" dirty="0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 logs</a:t>
            </a:r>
          </a:p>
          <a:p>
            <a:pPr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 err="1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mkdir</a:t>
            </a:r>
            <a:r>
              <a:rPr sz="1575" dirty="0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 docs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B3653CF-E8F6-5EC3-4A88-4A47928566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416" y="1028700"/>
            <a:ext cx="3452595" cy="4839534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193978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">
            <a:extLst>
              <a:ext uri="{FF2B5EF4-FFF2-40B4-BE49-F238E27FC236}">
                <a16:creationId xmlns:a16="http://schemas.microsoft.com/office/drawing/2014/main" id="{0E5A15E2-AB28-4337-87FE-6951D34A6045}"/>
              </a:ext>
            </a:extLst>
          </p:cNvPr>
          <p:cNvSpPr>
            <a:spLocks noGrp="1"/>
          </p:cNvSpPr>
          <p:nvPr/>
        </p:nvSpPr>
        <p:spPr>
          <a:xfrm>
            <a:off x="838200" y="361950"/>
            <a:ext cx="10515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F84A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84AA"/>
                </a:solidFill>
                <a:latin typeface="Arial"/>
                <a:ea typeface="Arial"/>
                <a:cs typeface="Arial"/>
              </a:rPr>
              <a:t>Tạo các thư mục con bằng navigation</a:t>
            </a:r>
          </a:p>
        </p:txBody>
      </p:sp>
      <p:sp>
        <p:nvSpPr>
          <p:cNvPr id="2" name="Title accent">
            <a:extLst>
              <a:ext uri="{FF2B5EF4-FFF2-40B4-BE49-F238E27FC236}">
                <a16:creationId xmlns:a16="http://schemas.microsoft.com/office/drawing/2014/main" id="{CA449EB0-270F-4E2A-A3A1-311B4C63B1F7}"/>
              </a:ext>
            </a:extLst>
          </p:cNvPr>
          <p:cNvSpPr>
            <a:spLocks noGrp="1"/>
          </p:cNvSpPr>
          <p:nvPr/>
        </p:nvSpPr>
        <p:spPr>
          <a:xfrm>
            <a:off x="838200" y="1028700"/>
            <a:ext cx="1619250" cy="57150"/>
          </a:xfrm>
          <a:prstGeom prst="rect">
            <a:avLst/>
          </a:prstGeom>
          <a:solidFill>
            <a:srgbClr val="E97132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Code block">
            <a:extLst>
              <a:ext uri="{FF2B5EF4-FFF2-40B4-BE49-F238E27FC236}">
                <a16:creationId xmlns:a16="http://schemas.microsoft.com/office/drawing/2014/main" id="{C66AE2A2-3A55-43B3-9824-E7815119BEC2}"/>
              </a:ext>
            </a:extLst>
          </p:cNvPr>
          <p:cNvSpPr>
            <a:spLocks noGrp="1"/>
          </p:cNvSpPr>
          <p:nvPr/>
        </p:nvSpPr>
        <p:spPr>
          <a:xfrm>
            <a:off x="876300" y="1285875"/>
            <a:ext cx="4762500" cy="2665023"/>
          </a:xfrm>
          <a:prstGeom prst="roundRect">
            <a:avLst>
              <a:gd name="adj" fmla="val 1951"/>
            </a:avLst>
          </a:prstGeom>
          <a:solidFill>
            <a:srgbClr val="F4F7F8"/>
          </a:solidFill>
          <a:ln w="9525">
            <a:solidFill>
              <a:srgbClr val="B8CDD5"/>
            </a:solidFill>
            <a:prstDash val="solid"/>
          </a:ln>
        </p:spPr>
        <p:txBody>
          <a:bodyPr/>
          <a:lstStyle/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cd data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 err="1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mkdir</a:t>
            </a:r>
            <a:r>
              <a:rPr sz="1575" dirty="0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 raw reference </a:t>
            </a:r>
            <a:r>
              <a:rPr sz="1575" dirty="0" err="1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fastq</a:t>
            </a:r>
            <a:endParaRPr sz="1575" dirty="0">
              <a:solidFill>
                <a:srgbClr val="17242B"/>
              </a:solidFill>
              <a:latin typeface="Consolas" panose="020B0609020204030204" pitchFamily="49" charset="0"/>
              <a:ea typeface="Courier New"/>
              <a:cs typeface="Consolas" panose="020B0609020204030204" pitchFamily="49" charset="0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cd raw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 err="1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mkdir</a:t>
            </a:r>
            <a:r>
              <a:rPr sz="1575" dirty="0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 pod5_demo </a:t>
            </a:r>
            <a:r>
              <a:rPr sz="1575" dirty="0" err="1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wf_demo</a:t>
            </a:r>
            <a:endParaRPr sz="1575" dirty="0">
              <a:solidFill>
                <a:srgbClr val="17242B"/>
              </a:solidFill>
              <a:latin typeface="Consolas" panose="020B0609020204030204" pitchFamily="49" charset="0"/>
              <a:ea typeface="Courier New"/>
              <a:cs typeface="Consolas" panose="020B0609020204030204" pitchFamily="49" charset="0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cd ../..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cd results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 err="1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mkdir</a:t>
            </a:r>
            <a:r>
              <a:rPr sz="1575" dirty="0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 01_qc 02_alignment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 err="1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mkdir</a:t>
            </a:r>
            <a:r>
              <a:rPr sz="1575" dirty="0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 03_clair3 04_annotation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 err="1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mkdir</a:t>
            </a:r>
            <a:r>
              <a:rPr sz="1575" dirty="0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 05_nextflow_demo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>
                <a:solidFill>
                  <a:srgbClr val="17242B"/>
                </a:solidFill>
                <a:latin typeface="Consolas" panose="020B0609020204030204" pitchFamily="49" charset="0"/>
                <a:ea typeface="Courier New"/>
                <a:cs typeface="Consolas" panose="020B0609020204030204" pitchFamily="49" charset="0"/>
              </a:rPr>
              <a:t>cd ..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E345E46-89FC-49E6-9889-BC26047F2E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205" y="1085850"/>
            <a:ext cx="3452595" cy="4839534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5013572-7482-ACD6-26A5-4329C15E3DAC}"/>
              </a:ext>
            </a:extLst>
          </p:cNvPr>
          <p:cNvSpPr txBox="1"/>
          <p:nvPr/>
        </p:nvSpPr>
        <p:spPr>
          <a:xfrm>
            <a:off x="876300" y="4347713"/>
            <a:ext cx="58833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../: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Lùi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lại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một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thư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mục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Có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thể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tạo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nhiều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thư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mục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trong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một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lệnh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mkdir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97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">
            <a:extLst>
              <a:ext uri="{FF2B5EF4-FFF2-40B4-BE49-F238E27FC236}">
                <a16:creationId xmlns:a16="http://schemas.microsoft.com/office/drawing/2014/main" id="{85FF980A-4D5B-4021-ACAB-878B13232B48}"/>
              </a:ext>
            </a:extLst>
          </p:cNvPr>
          <p:cNvSpPr>
            <a:spLocks noGrp="1"/>
          </p:cNvSpPr>
          <p:nvPr/>
        </p:nvSpPr>
        <p:spPr>
          <a:xfrm>
            <a:off x="838200" y="361950"/>
            <a:ext cx="10515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F84A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84AA"/>
                </a:solidFill>
                <a:latin typeface="Arial"/>
                <a:ea typeface="Arial"/>
                <a:cs typeface="Arial"/>
              </a:rPr>
              <a:t>Kiểm tra cây thư mục</a:t>
            </a:r>
          </a:p>
        </p:txBody>
      </p:sp>
      <p:sp>
        <p:nvSpPr>
          <p:cNvPr id="2" name="Title accent">
            <a:extLst>
              <a:ext uri="{FF2B5EF4-FFF2-40B4-BE49-F238E27FC236}">
                <a16:creationId xmlns:a16="http://schemas.microsoft.com/office/drawing/2014/main" id="{068B295F-71C1-467D-A795-DAF568161917}"/>
              </a:ext>
            </a:extLst>
          </p:cNvPr>
          <p:cNvSpPr>
            <a:spLocks noGrp="1"/>
          </p:cNvSpPr>
          <p:nvPr/>
        </p:nvSpPr>
        <p:spPr>
          <a:xfrm>
            <a:off x="838200" y="1028700"/>
            <a:ext cx="1619250" cy="57150"/>
          </a:xfrm>
          <a:prstGeom prst="rect">
            <a:avLst/>
          </a:prstGeom>
          <a:solidFill>
            <a:srgbClr val="E97132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Code block">
            <a:extLst>
              <a:ext uri="{FF2B5EF4-FFF2-40B4-BE49-F238E27FC236}">
                <a16:creationId xmlns:a16="http://schemas.microsoft.com/office/drawing/2014/main" id="{9B243964-8951-4987-8064-15FA6FCB1BB8}"/>
              </a:ext>
            </a:extLst>
          </p:cNvPr>
          <p:cNvSpPr>
            <a:spLocks noGrp="1"/>
          </p:cNvSpPr>
          <p:nvPr/>
        </p:nvSpPr>
        <p:spPr>
          <a:xfrm>
            <a:off x="876300" y="1238250"/>
            <a:ext cx="5524500" cy="1703358"/>
          </a:xfrm>
          <a:prstGeom prst="roundRect">
            <a:avLst>
              <a:gd name="adj" fmla="val 1905"/>
            </a:avLst>
          </a:prstGeom>
          <a:solidFill>
            <a:srgbClr val="F4F7F8"/>
          </a:solidFill>
          <a:ln w="9525">
            <a:solidFill>
              <a:srgbClr val="B8CDD5"/>
            </a:solidFill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00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pwd</a:t>
            </a:r>
            <a:endParaRPr sz="1500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00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ls -</a:t>
            </a:r>
            <a:r>
              <a:rPr sz="1500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lh</a:t>
            </a:r>
            <a:endParaRPr sz="1500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00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tree -L 3</a:t>
            </a:r>
            <a:endParaRPr lang="vi-VN" sz="1500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00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endParaRPr sz="1500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00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# </a:t>
            </a:r>
            <a:r>
              <a:rPr sz="1500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nếu</a:t>
            </a:r>
            <a:r>
              <a:rPr sz="15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500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không</a:t>
            </a:r>
            <a:r>
              <a:rPr sz="15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500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có</a:t>
            </a:r>
            <a:r>
              <a:rPr sz="15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tree:</a:t>
            </a:r>
          </a:p>
          <a:p>
            <a:pPr>
              <a:buNone/>
              <a:defRPr sz="1500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find . -</a:t>
            </a:r>
            <a:r>
              <a:rPr sz="1500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maxdepth</a:t>
            </a:r>
            <a:r>
              <a:rPr sz="15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3 -type d | sort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CCC944E-CFA7-8E11-9FFC-E0E5439B2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322" y="1238250"/>
            <a:ext cx="2359884" cy="3307871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94675D3-F436-D6F9-AC5B-03057DACD7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2625" y="1238251"/>
            <a:ext cx="2924853" cy="3307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78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">
            <a:extLst>
              <a:ext uri="{FF2B5EF4-FFF2-40B4-BE49-F238E27FC236}">
                <a16:creationId xmlns:a16="http://schemas.microsoft.com/office/drawing/2014/main" id="{85FF980A-4D5B-4021-ACAB-878B13232B48}"/>
              </a:ext>
            </a:extLst>
          </p:cNvPr>
          <p:cNvSpPr>
            <a:spLocks noGrp="1"/>
          </p:cNvSpPr>
          <p:nvPr/>
        </p:nvSpPr>
        <p:spPr>
          <a:xfrm>
            <a:off x="838200" y="361950"/>
            <a:ext cx="10515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F84AA"/>
                </a:solidFill>
                <a:latin typeface="Arial"/>
                <a:ea typeface="Arial"/>
                <a:cs typeface="Arial"/>
              </a:defRPr>
            </a:pPr>
            <a:r>
              <a:rPr lang="en-US"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Đường</a:t>
            </a:r>
            <a:r>
              <a:rPr lang="en-US" sz="2550" b="1" dirty="0">
                <a:solidFill>
                  <a:srgbClr val="0F84AA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dẫn</a:t>
            </a:r>
            <a:r>
              <a:rPr lang="en-US" sz="2550" b="1" dirty="0">
                <a:solidFill>
                  <a:srgbClr val="0F84AA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tương</a:t>
            </a:r>
            <a:r>
              <a:rPr lang="en-US" sz="2550" b="1" dirty="0">
                <a:solidFill>
                  <a:srgbClr val="0F84AA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đối</a:t>
            </a:r>
            <a:r>
              <a:rPr lang="en-US" sz="2550" b="1" dirty="0">
                <a:solidFill>
                  <a:srgbClr val="0F84AA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và</a:t>
            </a:r>
            <a:r>
              <a:rPr lang="en-US" sz="2550" b="1" dirty="0">
                <a:solidFill>
                  <a:srgbClr val="0F84AA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tuyệt</a:t>
            </a:r>
            <a:r>
              <a:rPr lang="en-US" sz="2550" b="1" dirty="0">
                <a:solidFill>
                  <a:srgbClr val="0F84AA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đối</a:t>
            </a:r>
            <a:r>
              <a:rPr lang="en-US" sz="2550" b="1" dirty="0">
                <a:solidFill>
                  <a:srgbClr val="0F84AA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trong</a:t>
            </a:r>
            <a:r>
              <a:rPr lang="en-US" sz="2550" b="1" dirty="0">
                <a:solidFill>
                  <a:srgbClr val="0F84AA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unix</a:t>
            </a:r>
            <a:endParaRPr sz="2550" b="1" dirty="0">
              <a:solidFill>
                <a:srgbClr val="0F84A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itle accent">
            <a:extLst>
              <a:ext uri="{FF2B5EF4-FFF2-40B4-BE49-F238E27FC236}">
                <a16:creationId xmlns:a16="http://schemas.microsoft.com/office/drawing/2014/main" id="{068B295F-71C1-467D-A795-DAF568161917}"/>
              </a:ext>
            </a:extLst>
          </p:cNvPr>
          <p:cNvSpPr>
            <a:spLocks noGrp="1"/>
          </p:cNvSpPr>
          <p:nvPr/>
        </p:nvSpPr>
        <p:spPr>
          <a:xfrm>
            <a:off x="838200" y="1028700"/>
            <a:ext cx="1619250" cy="57150"/>
          </a:xfrm>
          <a:prstGeom prst="rect">
            <a:avLst/>
          </a:prstGeom>
          <a:solidFill>
            <a:srgbClr val="E97132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FD168D-F7C3-ACC6-9511-F5A84BA8B697}"/>
              </a:ext>
            </a:extLst>
          </p:cNvPr>
          <p:cNvSpPr txBox="1"/>
          <p:nvPr/>
        </p:nvSpPr>
        <p:spPr>
          <a:xfrm>
            <a:off x="974785" y="1500996"/>
            <a:ext cx="581420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Đường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dẫn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tuyệt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đối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là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đường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dẫn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luôn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bắt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đầu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từ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“/”</a:t>
            </a:r>
          </a:p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Có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thể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truy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cập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được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ở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bất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kỳ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đâu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/Users/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lamnguyen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/Works/ONT/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ONT_practice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Đường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dẫn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tương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đối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là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đường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dẫn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tính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từ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vị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trí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hiện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tại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ONT_practice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./config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./data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15FA56-E446-5BA0-CCA8-31B663A0F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5435" y="1500996"/>
            <a:ext cx="4782541" cy="4146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0729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50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ction kicker">
            <a:extLst>
              <a:ext uri="{FF2B5EF4-FFF2-40B4-BE49-F238E27FC236}">
                <a16:creationId xmlns:a16="http://schemas.microsoft.com/office/drawing/2014/main" id="{27F39FD5-FDE7-4B61-88E8-3F701F8D89B5}"/>
              </a:ext>
            </a:extLst>
          </p:cNvPr>
          <p:cNvSpPr>
            <a:spLocks noGrp="1"/>
          </p:cNvSpPr>
          <p:nvPr/>
        </p:nvSpPr>
        <p:spPr>
          <a:xfrm>
            <a:off x="876300" y="1762125"/>
            <a:ext cx="723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8FD5E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FD5E8"/>
                </a:solidFill>
                <a:latin typeface="Arial"/>
                <a:ea typeface="Arial"/>
                <a:cs typeface="Arial"/>
              </a:rPr>
              <a:t>PHẦN 2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35624B14-3F9B-4FEE-BDDC-97BD9ECC2B46}"/>
              </a:ext>
            </a:extLst>
          </p:cNvPr>
          <p:cNvSpPr>
            <a:spLocks noGrp="1"/>
          </p:cNvSpPr>
          <p:nvPr/>
        </p:nvSpPr>
        <p:spPr>
          <a:xfrm>
            <a:off x="876300" y="2333625"/>
            <a:ext cx="96202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POD5 tools </a:t>
            </a:r>
            <a:r>
              <a:rPr sz="36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và</a:t>
            </a:r>
            <a:r>
              <a:rPr sz="3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Dorado </a:t>
            </a:r>
            <a:r>
              <a:rPr sz="36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basecalling</a:t>
            </a:r>
            <a:endParaRPr sz="36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Section accent">
            <a:extLst>
              <a:ext uri="{FF2B5EF4-FFF2-40B4-BE49-F238E27FC236}">
                <a16:creationId xmlns:a16="http://schemas.microsoft.com/office/drawing/2014/main" id="{2258A04C-A57F-4D19-B998-FAAA073306E2}"/>
              </a:ext>
            </a:extLst>
          </p:cNvPr>
          <p:cNvSpPr>
            <a:spLocks noGrp="1"/>
          </p:cNvSpPr>
          <p:nvPr/>
        </p:nvSpPr>
        <p:spPr>
          <a:xfrm>
            <a:off x="876300" y="3810000"/>
            <a:ext cx="2286000" cy="95250"/>
          </a:xfrm>
          <a:prstGeom prst="rect">
            <a:avLst/>
          </a:prstGeom>
          <a:solidFill>
            <a:srgbClr val="E97132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39015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">
            <a:extLst>
              <a:ext uri="{FF2B5EF4-FFF2-40B4-BE49-F238E27FC236}">
                <a16:creationId xmlns:a16="http://schemas.microsoft.com/office/drawing/2014/main" id="{0E5A15E2-AB28-4337-87FE-6951D34A6045}"/>
              </a:ext>
            </a:extLst>
          </p:cNvPr>
          <p:cNvSpPr>
            <a:spLocks noGrp="1"/>
          </p:cNvSpPr>
          <p:nvPr/>
        </p:nvSpPr>
        <p:spPr>
          <a:xfrm>
            <a:off x="838200" y="361950"/>
            <a:ext cx="10515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F84AA"/>
                </a:solidFill>
                <a:latin typeface="Arial"/>
                <a:ea typeface="Arial"/>
                <a:cs typeface="Arial"/>
              </a:defRPr>
            </a:pPr>
            <a:r>
              <a:rPr lang="en-US"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C</a:t>
            </a:r>
            <a:r>
              <a:rPr lang="en-US" altLang="ko-KR"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ài</a:t>
            </a:r>
            <a:r>
              <a:rPr lang="en-US" altLang="ko-KR" sz="2550" b="1" dirty="0">
                <a:solidFill>
                  <a:srgbClr val="0F84AA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altLang="ko-KR"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đặt</a:t>
            </a:r>
            <a:r>
              <a:rPr lang="en-US" sz="2550" b="1" dirty="0">
                <a:solidFill>
                  <a:srgbClr val="0F84AA"/>
                </a:solidFill>
                <a:latin typeface="Arial"/>
                <a:ea typeface="Arial"/>
                <a:cs typeface="Arial"/>
              </a:rPr>
              <a:t> POD5</a:t>
            </a:r>
            <a:endParaRPr sz="2550" b="1" dirty="0">
              <a:solidFill>
                <a:srgbClr val="0F84A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itle accent">
            <a:extLst>
              <a:ext uri="{FF2B5EF4-FFF2-40B4-BE49-F238E27FC236}">
                <a16:creationId xmlns:a16="http://schemas.microsoft.com/office/drawing/2014/main" id="{CA449EB0-270F-4E2A-A3A1-311B4C63B1F7}"/>
              </a:ext>
            </a:extLst>
          </p:cNvPr>
          <p:cNvSpPr>
            <a:spLocks noGrp="1"/>
          </p:cNvSpPr>
          <p:nvPr/>
        </p:nvSpPr>
        <p:spPr>
          <a:xfrm>
            <a:off x="838200" y="1028700"/>
            <a:ext cx="1619250" cy="57150"/>
          </a:xfrm>
          <a:prstGeom prst="rect">
            <a:avLst/>
          </a:prstGeom>
          <a:solidFill>
            <a:srgbClr val="E97132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Code block">
            <a:extLst>
              <a:ext uri="{FF2B5EF4-FFF2-40B4-BE49-F238E27FC236}">
                <a16:creationId xmlns:a16="http://schemas.microsoft.com/office/drawing/2014/main" id="{C66AE2A2-3A55-43B3-9824-E7815119BEC2}"/>
              </a:ext>
            </a:extLst>
          </p:cNvPr>
          <p:cNvSpPr>
            <a:spLocks noGrp="1"/>
          </p:cNvSpPr>
          <p:nvPr/>
        </p:nvSpPr>
        <p:spPr>
          <a:xfrm>
            <a:off x="838200" y="2631226"/>
            <a:ext cx="10477500" cy="2216819"/>
          </a:xfrm>
          <a:prstGeom prst="roundRect">
            <a:avLst>
              <a:gd name="adj" fmla="val 1951"/>
            </a:avLst>
          </a:prstGeom>
          <a:solidFill>
            <a:srgbClr val="F4F7F8"/>
          </a:solidFill>
          <a:ln w="9525">
            <a:solidFill>
              <a:srgbClr val="B8CDD5"/>
            </a:solidFill>
            <a:prstDash val="solid"/>
          </a:ln>
        </p:spPr>
        <p:txBody>
          <a:bodyPr/>
          <a:lstStyle/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conda</a:t>
            </a: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activate </a:t>
            </a:r>
            <a:r>
              <a:rPr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ont</a:t>
            </a:r>
            <a:r>
              <a:rPr lang="vi-VN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			# Activate môi trường</a:t>
            </a:r>
            <a:endParaRPr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conda</a:t>
            </a: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install</a:t>
            </a:r>
            <a:r>
              <a:rPr lang="vi-VN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pod5</a:t>
            </a:r>
            <a:r>
              <a:rPr lang="vi-VN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			# Cài POD5 vào môi trường vừa được activate</a:t>
            </a:r>
            <a:endParaRPr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endParaRPr lang="vi-VN"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which pod5</a:t>
            </a:r>
            <a:r>
              <a:rPr lang="vi-VN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				# Xem thưc mục cài đặt của pod5 ở đâu</a:t>
            </a:r>
            <a:endParaRPr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endParaRPr lang="vi-VN"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vi-VN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pod5 –help				# Xem</a:t>
            </a:r>
            <a:r>
              <a:rPr lang="ko-KR" alt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altLang="ko-KR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hướng</a:t>
            </a:r>
            <a:r>
              <a:rPr lang="en-US" altLang="ko-KR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altLang="ko-KR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dẫn</a:t>
            </a:r>
            <a:r>
              <a:rPr lang="en-US" altLang="ko-KR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altLang="ko-KR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tổng</a:t>
            </a:r>
            <a:r>
              <a:rPr lang="en-US" altLang="ko-KR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altLang="ko-KR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quản</a:t>
            </a:r>
            <a:r>
              <a:rPr lang="en-US" altLang="ko-KR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altLang="ko-KR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của</a:t>
            </a:r>
            <a:r>
              <a:rPr lang="en-US" altLang="ko-KR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altLang="ko-KR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phần</a:t>
            </a:r>
            <a:r>
              <a:rPr lang="en-US" altLang="ko-KR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altLang="ko-KR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mềm</a:t>
            </a:r>
            <a:endParaRPr lang="en-US" altLang="ko-KR"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endParaRPr lang="vi-VN"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pod5 inspect 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–</a:t>
            </a: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help</a:t>
            </a:r>
            <a:r>
              <a:rPr lang="vi-VN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			# Xem </a:t>
            </a:r>
            <a:r>
              <a:rPr lang="en-US" altLang="ko-KR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hướng</a:t>
            </a:r>
            <a:r>
              <a:rPr lang="en-US" altLang="ko-KR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altLang="ko-KR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dẫn</a:t>
            </a:r>
            <a:r>
              <a:rPr lang="en-US" altLang="ko-KR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altLang="ko-KR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sử</a:t>
            </a:r>
            <a:r>
              <a:rPr lang="en-US" altLang="ko-KR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altLang="ko-KR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dụng</a:t>
            </a:r>
            <a:r>
              <a:rPr lang="en-US" altLang="ko-KR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altLang="ko-KR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của</a:t>
            </a:r>
            <a:r>
              <a:rPr lang="en-US" altLang="ko-KR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inspect </a:t>
            </a:r>
            <a:r>
              <a:rPr lang="en-US" altLang="ko-KR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trong</a:t>
            </a:r>
            <a:r>
              <a:rPr lang="en-US" altLang="ko-KR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pod5</a:t>
            </a:r>
            <a:endParaRPr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4245F7F-F906-0920-48A5-5BB292B5D55C}"/>
              </a:ext>
            </a:extLst>
          </p:cNvPr>
          <p:cNvSpPr/>
          <p:nvPr/>
        </p:nvSpPr>
        <p:spPr>
          <a:xfrm>
            <a:off x="838200" y="1257300"/>
            <a:ext cx="10477500" cy="914400"/>
          </a:xfrm>
          <a:prstGeom prst="roundRect">
            <a:avLst>
              <a:gd name="adj" fmla="val 736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POD5 </a:t>
            </a:r>
            <a:r>
              <a:rPr lang="en-US" sz="2000" dirty="0" err="1"/>
              <a:t>là</a:t>
            </a:r>
            <a:r>
              <a:rPr lang="en-US" sz="2000" dirty="0"/>
              <a:t> </a:t>
            </a:r>
            <a:r>
              <a:rPr lang="en-US" sz="2000" dirty="0" err="1"/>
              <a:t>phần</a:t>
            </a:r>
            <a:r>
              <a:rPr lang="en-US" sz="2000" dirty="0"/>
              <a:t> </a:t>
            </a:r>
            <a:r>
              <a:rPr lang="en-US" sz="2000" dirty="0" err="1"/>
              <a:t>mềm</a:t>
            </a:r>
            <a:r>
              <a:rPr lang="en-US" sz="2000" dirty="0"/>
              <a:t> </a:t>
            </a:r>
            <a:r>
              <a:rPr lang="en-US" sz="2000" dirty="0" err="1"/>
              <a:t>để</a:t>
            </a:r>
            <a:r>
              <a:rPr lang="en-US" sz="2000" dirty="0"/>
              <a:t> </a:t>
            </a:r>
            <a:r>
              <a:rPr lang="en-US" sz="2000" dirty="0" err="1"/>
              <a:t>đọc</a:t>
            </a:r>
            <a:r>
              <a:rPr lang="en-US" sz="2000" dirty="0"/>
              <a:t> </a:t>
            </a:r>
            <a:r>
              <a:rPr lang="en-US" sz="2000" dirty="0" err="1"/>
              <a:t>và</a:t>
            </a:r>
            <a:r>
              <a:rPr lang="en-US" sz="2000" dirty="0"/>
              <a:t> </a:t>
            </a:r>
            <a:r>
              <a:rPr lang="en-US" sz="2000" dirty="0" err="1"/>
              <a:t>kiểm</a:t>
            </a:r>
            <a:r>
              <a:rPr lang="en-US" sz="2000" dirty="0"/>
              <a:t> </a:t>
            </a:r>
            <a:r>
              <a:rPr lang="en-US" sz="2000" dirty="0" err="1"/>
              <a:t>tra</a:t>
            </a:r>
            <a:r>
              <a:rPr lang="en-US" sz="2000" dirty="0"/>
              <a:t> file POD5</a:t>
            </a:r>
          </a:p>
        </p:txBody>
      </p:sp>
    </p:spTree>
    <p:extLst>
      <p:ext uri="{BB962C8B-B14F-4D97-AF65-F5344CB8AC3E}">
        <p14:creationId xmlns:p14="http://schemas.microsoft.com/office/powerpoint/2010/main" val="193978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">
            <a:extLst>
              <a:ext uri="{FF2B5EF4-FFF2-40B4-BE49-F238E27FC236}">
                <a16:creationId xmlns:a16="http://schemas.microsoft.com/office/drawing/2014/main" id="{0E5A15E2-AB28-4337-87FE-6951D34A6045}"/>
              </a:ext>
            </a:extLst>
          </p:cNvPr>
          <p:cNvSpPr>
            <a:spLocks noGrp="1"/>
          </p:cNvSpPr>
          <p:nvPr/>
        </p:nvSpPr>
        <p:spPr>
          <a:xfrm>
            <a:off x="838200" y="361950"/>
            <a:ext cx="10515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F84AA"/>
                </a:solidFill>
                <a:latin typeface="Arial"/>
                <a:ea typeface="Arial"/>
                <a:cs typeface="Arial"/>
              </a:defRPr>
            </a:pPr>
            <a:r>
              <a:rPr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Tải</a:t>
            </a:r>
            <a:r>
              <a:rPr sz="2550" b="1" dirty="0">
                <a:solidFill>
                  <a:srgbClr val="0F84AA"/>
                </a:solidFill>
                <a:latin typeface="Arial"/>
                <a:ea typeface="Arial"/>
                <a:cs typeface="Arial"/>
              </a:rPr>
              <a:t> </a:t>
            </a:r>
            <a:r>
              <a:rPr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và</a:t>
            </a:r>
            <a:r>
              <a:rPr sz="2550" b="1" dirty="0">
                <a:solidFill>
                  <a:srgbClr val="0F84AA"/>
                </a:solidFill>
                <a:latin typeface="Arial"/>
                <a:ea typeface="Arial"/>
                <a:cs typeface="Arial"/>
              </a:rPr>
              <a:t> inspect POD5</a:t>
            </a:r>
          </a:p>
        </p:txBody>
      </p:sp>
      <p:sp>
        <p:nvSpPr>
          <p:cNvPr id="2" name="Title accent">
            <a:extLst>
              <a:ext uri="{FF2B5EF4-FFF2-40B4-BE49-F238E27FC236}">
                <a16:creationId xmlns:a16="http://schemas.microsoft.com/office/drawing/2014/main" id="{CA449EB0-270F-4E2A-A3A1-311B4C63B1F7}"/>
              </a:ext>
            </a:extLst>
          </p:cNvPr>
          <p:cNvSpPr>
            <a:spLocks noGrp="1"/>
          </p:cNvSpPr>
          <p:nvPr/>
        </p:nvSpPr>
        <p:spPr>
          <a:xfrm>
            <a:off x="838200" y="1028700"/>
            <a:ext cx="1619250" cy="57150"/>
          </a:xfrm>
          <a:prstGeom prst="rect">
            <a:avLst/>
          </a:prstGeom>
          <a:solidFill>
            <a:srgbClr val="E97132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Code block">
            <a:extLst>
              <a:ext uri="{FF2B5EF4-FFF2-40B4-BE49-F238E27FC236}">
                <a16:creationId xmlns:a16="http://schemas.microsoft.com/office/drawing/2014/main" id="{C66AE2A2-3A55-43B3-9824-E7815119BEC2}"/>
              </a:ext>
            </a:extLst>
          </p:cNvPr>
          <p:cNvSpPr>
            <a:spLocks noGrp="1"/>
          </p:cNvSpPr>
          <p:nvPr/>
        </p:nvSpPr>
        <p:spPr>
          <a:xfrm>
            <a:off x="876299" y="1285875"/>
            <a:ext cx="10260403" cy="3018706"/>
          </a:xfrm>
          <a:prstGeom prst="roundRect">
            <a:avLst>
              <a:gd name="adj" fmla="val 1951"/>
            </a:avLst>
          </a:prstGeom>
          <a:solidFill>
            <a:srgbClr val="F4F7F8"/>
          </a:solidFill>
          <a:ln w="9525">
            <a:solidFill>
              <a:srgbClr val="B8CDD5"/>
            </a:solidFill>
            <a:prstDash val="solid"/>
          </a:ln>
        </p:spPr>
        <p:txBody>
          <a:bodyPr/>
          <a:lstStyle/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vi-VN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# Go to thư mục </a:t>
            </a:r>
            <a:r>
              <a:rPr lang="vi-VN" sz="1575" b="1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ONT_practice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endParaRPr lang="vi-VN"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wget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-O data/raw/pod5_demo/dorado_r10_demo.pod5 </a:t>
            </a:r>
            <a:r>
              <a:rPr lang="en-US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https://</a:t>
            </a:r>
            <a:r>
              <a:rPr lang="en-US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raw.githubusercontent.com</a:t>
            </a:r>
            <a:r>
              <a:rPr lang="en-US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lang="en-US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nanoporetech</a:t>
            </a:r>
            <a:r>
              <a:rPr lang="en-US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/dorado/release-v2.1/tests/data/pod5/dna_r10.4.1_e8.2_400bps_5khz/dna_r10.4.1_e8.2_400bps_5khz-FLO_PRO114M-SQK_LSK114_XL-5000.pod5</a:t>
            </a:r>
            <a:endParaRPr lang="vi-VN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endParaRPr lang="en-US"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pod5 inspect summary data/raw/pod5_demo/dorado_r10_demo.pod5</a:t>
            </a:r>
            <a:endParaRPr lang="en-US"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endParaRPr lang="en-US"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pod5 inspect reads data/raw/pod5_demo/dorado_r10_demo.pod5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endParaRPr lang="en-US"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endParaRPr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2EB35D0-A29F-F539-8E2E-4AC3CC7858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684" y="4504606"/>
            <a:ext cx="5869558" cy="64173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50DE1A2-408B-BDA6-5D9D-5750CF93C4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4504606"/>
            <a:ext cx="5682429" cy="172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78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">
            <a:extLst>
              <a:ext uri="{FF2B5EF4-FFF2-40B4-BE49-F238E27FC236}">
                <a16:creationId xmlns:a16="http://schemas.microsoft.com/office/drawing/2014/main" id="{0E5A15E2-AB28-4337-87FE-6951D34A6045}"/>
              </a:ext>
            </a:extLst>
          </p:cNvPr>
          <p:cNvSpPr>
            <a:spLocks noGrp="1"/>
          </p:cNvSpPr>
          <p:nvPr/>
        </p:nvSpPr>
        <p:spPr>
          <a:xfrm>
            <a:off x="838200" y="361950"/>
            <a:ext cx="10515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F84AA"/>
                </a:solidFill>
                <a:latin typeface="Arial"/>
                <a:ea typeface="Arial"/>
                <a:cs typeface="Arial"/>
              </a:defRPr>
            </a:pPr>
            <a:r>
              <a:rPr lang="en-US"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Cài</a:t>
            </a:r>
            <a:r>
              <a:rPr lang="en-US" sz="2550" b="1" dirty="0">
                <a:solidFill>
                  <a:srgbClr val="0F84AA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đặt</a:t>
            </a:r>
            <a:r>
              <a:rPr sz="2550" b="1" dirty="0">
                <a:solidFill>
                  <a:srgbClr val="0F84AA"/>
                </a:solidFill>
                <a:latin typeface="Arial"/>
                <a:ea typeface="Arial"/>
                <a:cs typeface="Arial"/>
              </a:rPr>
              <a:t> Dorado</a:t>
            </a:r>
          </a:p>
        </p:txBody>
      </p:sp>
      <p:sp>
        <p:nvSpPr>
          <p:cNvPr id="2" name="Title accent">
            <a:extLst>
              <a:ext uri="{FF2B5EF4-FFF2-40B4-BE49-F238E27FC236}">
                <a16:creationId xmlns:a16="http://schemas.microsoft.com/office/drawing/2014/main" id="{CA449EB0-270F-4E2A-A3A1-311B4C63B1F7}"/>
              </a:ext>
            </a:extLst>
          </p:cNvPr>
          <p:cNvSpPr>
            <a:spLocks noGrp="1"/>
          </p:cNvSpPr>
          <p:nvPr/>
        </p:nvSpPr>
        <p:spPr>
          <a:xfrm>
            <a:off x="838200" y="1028700"/>
            <a:ext cx="1619250" cy="57150"/>
          </a:xfrm>
          <a:prstGeom prst="rect">
            <a:avLst/>
          </a:prstGeom>
          <a:solidFill>
            <a:srgbClr val="E97132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Code block">
            <a:extLst>
              <a:ext uri="{FF2B5EF4-FFF2-40B4-BE49-F238E27FC236}">
                <a16:creationId xmlns:a16="http://schemas.microsoft.com/office/drawing/2014/main" id="{C66AE2A2-3A55-43B3-9824-E7815119BEC2}"/>
              </a:ext>
            </a:extLst>
          </p:cNvPr>
          <p:cNvSpPr>
            <a:spLocks noGrp="1"/>
          </p:cNvSpPr>
          <p:nvPr/>
        </p:nvSpPr>
        <p:spPr>
          <a:xfrm>
            <a:off x="876300" y="1285875"/>
            <a:ext cx="10287000" cy="3428738"/>
          </a:xfrm>
          <a:prstGeom prst="roundRect">
            <a:avLst>
              <a:gd name="adj" fmla="val 1951"/>
            </a:avLst>
          </a:prstGeom>
          <a:solidFill>
            <a:srgbClr val="F4F7F8"/>
          </a:solidFill>
          <a:ln w="9525">
            <a:solidFill>
              <a:srgbClr val="B8CDD5"/>
            </a:solidFill>
            <a:prstDash val="solid"/>
          </a:ln>
        </p:spPr>
        <p:txBody>
          <a:bodyPr/>
          <a:lstStyle/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vi-VN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Github: </a:t>
            </a:r>
            <a:r>
              <a:rPr lang="vi-VN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  <a:hlinkClick r:id="rId3"/>
              </a:rPr>
              <a:t>https://github.com/nanoporetech/dorado</a:t>
            </a:r>
            <a:endParaRPr lang="vi-VN"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endParaRPr lang="vi-VN"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vi-VN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uname –m	# Kiểm tra cấu trúc CPU của máy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vi-VN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nproc		# Kiểm tra số lượng CPU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endParaRPr lang="vi-VN"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vi-VN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# download and unzip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vi-VN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pwd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vi-VN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# export to the path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vi-VN" sz="12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export PATH=$PATH:/Users/lamnguyen/Works/ONT/ONT_practice/tools/dorado-2.1.2-osx-arm64/bin # chỉ là ví dụ, đường dẫn sẽ tuỳ thuộc vào từng máy.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endParaRPr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dorado 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–</a:t>
            </a: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version</a:t>
            </a:r>
            <a:endParaRPr lang="en-US"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dorado </a:t>
            </a: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basecaller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–help</a:t>
            </a:r>
            <a:endParaRPr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dorado </a:t>
            </a:r>
            <a:r>
              <a:rPr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basecaller</a:t>
            </a: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--help | grep -E '</a:t>
            </a:r>
            <a:r>
              <a:rPr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device|emit-fastq|max-reads</a:t>
            </a: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'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974016D-D6BD-2693-D8AF-B4CFA008D1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229" y="4914638"/>
            <a:ext cx="10233897" cy="1402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78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">
            <a:extLst>
              <a:ext uri="{FF2B5EF4-FFF2-40B4-BE49-F238E27FC236}">
                <a16:creationId xmlns:a16="http://schemas.microsoft.com/office/drawing/2014/main" id="{0E5A15E2-AB28-4337-87FE-6951D34A6045}"/>
              </a:ext>
            </a:extLst>
          </p:cNvPr>
          <p:cNvSpPr>
            <a:spLocks noGrp="1"/>
          </p:cNvSpPr>
          <p:nvPr/>
        </p:nvSpPr>
        <p:spPr>
          <a:xfrm>
            <a:off x="838200" y="361950"/>
            <a:ext cx="10515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F84AA"/>
                </a:solidFill>
                <a:latin typeface="Arial"/>
                <a:ea typeface="Arial"/>
                <a:cs typeface="Arial"/>
              </a:defRPr>
            </a:pPr>
            <a:r>
              <a:rPr lang="en-US" sz="2550" b="1" dirty="0">
                <a:solidFill>
                  <a:srgbClr val="0F84AA"/>
                </a:solidFill>
                <a:latin typeface="Arial"/>
                <a:ea typeface="Arial"/>
                <a:cs typeface="Arial"/>
              </a:rPr>
              <a:t>Dorado </a:t>
            </a:r>
            <a:r>
              <a:rPr lang="en-US"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basecaller</a:t>
            </a:r>
            <a:r>
              <a:rPr lang="en-US" sz="2550" b="1" dirty="0">
                <a:solidFill>
                  <a:srgbClr val="0F84AA"/>
                </a:solidFill>
                <a:latin typeface="Arial"/>
                <a:ea typeface="Arial"/>
                <a:cs typeface="Arial"/>
              </a:rPr>
              <a:t> to FASTQ</a:t>
            </a:r>
            <a:endParaRPr sz="2550" b="1" dirty="0">
              <a:solidFill>
                <a:srgbClr val="0F84A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itle accent">
            <a:extLst>
              <a:ext uri="{FF2B5EF4-FFF2-40B4-BE49-F238E27FC236}">
                <a16:creationId xmlns:a16="http://schemas.microsoft.com/office/drawing/2014/main" id="{CA449EB0-270F-4E2A-A3A1-311B4C63B1F7}"/>
              </a:ext>
            </a:extLst>
          </p:cNvPr>
          <p:cNvSpPr>
            <a:spLocks noGrp="1"/>
          </p:cNvSpPr>
          <p:nvPr/>
        </p:nvSpPr>
        <p:spPr>
          <a:xfrm>
            <a:off x="838200" y="1028700"/>
            <a:ext cx="1619250" cy="57150"/>
          </a:xfrm>
          <a:prstGeom prst="rect">
            <a:avLst/>
          </a:prstGeom>
          <a:solidFill>
            <a:srgbClr val="E97132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Code block">
            <a:extLst>
              <a:ext uri="{FF2B5EF4-FFF2-40B4-BE49-F238E27FC236}">
                <a16:creationId xmlns:a16="http://schemas.microsoft.com/office/drawing/2014/main" id="{C66AE2A2-3A55-43B3-9824-E7815119BEC2}"/>
              </a:ext>
            </a:extLst>
          </p:cNvPr>
          <p:cNvSpPr>
            <a:spLocks noGrp="1"/>
          </p:cNvSpPr>
          <p:nvPr/>
        </p:nvSpPr>
        <p:spPr>
          <a:xfrm>
            <a:off x="876300" y="1285875"/>
            <a:ext cx="5751004" cy="2297797"/>
          </a:xfrm>
          <a:prstGeom prst="roundRect">
            <a:avLst>
              <a:gd name="adj" fmla="val 1951"/>
            </a:avLst>
          </a:prstGeom>
          <a:solidFill>
            <a:srgbClr val="F4F7F8"/>
          </a:solidFill>
          <a:ln w="9525">
            <a:solidFill>
              <a:srgbClr val="B8CDD5"/>
            </a:solidFill>
            <a:prstDash val="solid"/>
          </a:ln>
        </p:spPr>
        <p:txBody>
          <a:bodyPr/>
          <a:lstStyle/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dorado </a:t>
            </a: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basecaller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fast \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 data/raw/pod5_demo/dorado_r10_demo.pod5 \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 --device </a:t>
            </a: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cpu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\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 --max-reads 1 \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 --emit-</a:t>
            </a: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fastq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\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 &gt; data/</a:t>
            </a: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fastq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/pod5_demo_fast.fastq \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 2&gt; data/</a:t>
            </a: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fastq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/pod5_demo_fast.log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endParaRPr lang="en-US"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# Practice </a:t>
            </a: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basecaller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“hac” and “sup” option</a:t>
            </a:r>
          </a:p>
        </p:txBody>
      </p:sp>
      <p:sp>
        <p:nvSpPr>
          <p:cNvPr id="17" name="Code block">
            <a:extLst>
              <a:ext uri="{FF2B5EF4-FFF2-40B4-BE49-F238E27FC236}">
                <a16:creationId xmlns:a16="http://schemas.microsoft.com/office/drawing/2014/main" id="{9F06173E-9691-7244-A23A-7C27FBFDA394}"/>
              </a:ext>
            </a:extLst>
          </p:cNvPr>
          <p:cNvSpPr>
            <a:spLocks noGrp="1"/>
          </p:cNvSpPr>
          <p:nvPr/>
        </p:nvSpPr>
        <p:spPr>
          <a:xfrm>
            <a:off x="6866592" y="1285874"/>
            <a:ext cx="5011373" cy="2297797"/>
          </a:xfrm>
          <a:prstGeom prst="roundRect">
            <a:avLst>
              <a:gd name="adj" fmla="val 1951"/>
            </a:avLst>
          </a:prstGeom>
          <a:solidFill>
            <a:srgbClr val="F4F7F8"/>
          </a:solidFill>
          <a:ln w="9525">
            <a:solidFill>
              <a:srgbClr val="B8CDD5"/>
            </a:solidFill>
            <a:prstDash val="solid"/>
          </a:ln>
        </p:spPr>
        <p:txBody>
          <a:bodyPr/>
          <a:lstStyle/>
          <a:p>
            <a:pPr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4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Standard input and output</a:t>
            </a:r>
          </a:p>
          <a:p>
            <a:pPr marL="285750" indent="-285750">
              <a:buFont typeface="Arial" panose="020B0604020202020204" pitchFamily="34" charset="0"/>
              <a:buChar char="•"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4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0	stdin	0&lt; = &lt; </a:t>
            </a:r>
            <a:r>
              <a:rPr lang="en-US" sz="1400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wc</a:t>
            </a:r>
            <a:r>
              <a:rPr lang="en-US" sz="14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–l &lt; input</a:t>
            </a:r>
          </a:p>
          <a:p>
            <a:pPr marL="285750" indent="-285750">
              <a:buFont typeface="Arial" panose="020B0604020202020204" pitchFamily="34" charset="0"/>
              <a:buChar char="•"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4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1	</a:t>
            </a:r>
            <a:r>
              <a:rPr lang="en-US" sz="1400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stdout</a:t>
            </a:r>
            <a:r>
              <a:rPr lang="en-US" sz="14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	1&gt; = &gt;</a:t>
            </a:r>
          </a:p>
          <a:p>
            <a:pPr marL="285750" indent="-285750">
              <a:buFont typeface="Arial" panose="020B0604020202020204" pitchFamily="34" charset="0"/>
              <a:buChar char="•"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4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2	stderr	2&gt; = 2&gt;</a:t>
            </a:r>
          </a:p>
          <a:p>
            <a:pPr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Các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kiểu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ghi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trong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unix</a:t>
            </a:r>
            <a:endParaRPr lang="en-US"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4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&gt;       # </a:t>
            </a:r>
            <a:r>
              <a:rPr lang="en-US" sz="1400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stdout</a:t>
            </a:r>
            <a:r>
              <a:rPr lang="en-US" sz="14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lang="en-US" sz="1400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ghi</a:t>
            </a:r>
            <a:r>
              <a:rPr lang="en-US" sz="14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sz="1400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đè</a:t>
            </a:r>
            <a:endParaRPr lang="en-US" sz="1400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4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&gt;&gt;      # </a:t>
            </a:r>
            <a:r>
              <a:rPr lang="en-US" sz="1400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stdout</a:t>
            </a:r>
            <a:r>
              <a:rPr lang="en-US" sz="14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, append</a:t>
            </a:r>
          </a:p>
          <a:p>
            <a:pPr marL="285750" indent="-285750">
              <a:buFont typeface="Arial" panose="020B0604020202020204" pitchFamily="34" charset="0"/>
              <a:buChar char="•"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4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2&gt;&amp;1    # stderr </a:t>
            </a:r>
            <a:r>
              <a:rPr lang="en-US" sz="1400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đi</a:t>
            </a:r>
            <a:r>
              <a:rPr lang="en-US" sz="14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sz="1400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cùng</a:t>
            </a:r>
            <a:r>
              <a:rPr lang="en-US" sz="14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sz="1400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stdout</a:t>
            </a:r>
            <a:endParaRPr lang="en-US" sz="1400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4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&amp;&gt;      # </a:t>
            </a:r>
            <a:r>
              <a:rPr lang="en-US" sz="1400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stdout</a:t>
            </a:r>
            <a:r>
              <a:rPr lang="en-US" sz="14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+ stderr </a:t>
            </a:r>
            <a:r>
              <a:rPr lang="en-US" sz="1400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vào</a:t>
            </a:r>
            <a:r>
              <a:rPr lang="en-US" sz="14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sz="1400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cùng</a:t>
            </a:r>
            <a:r>
              <a:rPr lang="en-US" sz="14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file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110F3CF-BB42-2756-52A0-DB96CFC625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" y="3805943"/>
            <a:ext cx="11001665" cy="2690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78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">
            <a:extLst>
              <a:ext uri="{FF2B5EF4-FFF2-40B4-BE49-F238E27FC236}">
                <a16:creationId xmlns:a16="http://schemas.microsoft.com/office/drawing/2014/main" id="{85FF980A-4D5B-4021-ACAB-878B13232B48}"/>
              </a:ext>
            </a:extLst>
          </p:cNvPr>
          <p:cNvSpPr>
            <a:spLocks noGrp="1"/>
          </p:cNvSpPr>
          <p:nvPr/>
        </p:nvSpPr>
        <p:spPr>
          <a:xfrm>
            <a:off x="838200" y="361950"/>
            <a:ext cx="10515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F84AA"/>
                </a:solidFill>
                <a:latin typeface="Arial"/>
                <a:ea typeface="Arial"/>
                <a:cs typeface="Arial"/>
              </a:defRPr>
            </a:pPr>
            <a:r>
              <a:rPr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Kiểm</a:t>
            </a:r>
            <a:r>
              <a:rPr sz="2550" b="1" dirty="0">
                <a:solidFill>
                  <a:srgbClr val="0F84AA"/>
                </a:solidFill>
                <a:latin typeface="Arial"/>
                <a:ea typeface="Arial"/>
                <a:cs typeface="Arial"/>
              </a:rPr>
              <a:t> </a:t>
            </a:r>
            <a:r>
              <a:rPr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tra</a:t>
            </a:r>
            <a:r>
              <a:rPr sz="2550" b="1" dirty="0">
                <a:solidFill>
                  <a:srgbClr val="0F84AA"/>
                </a:solidFill>
                <a:latin typeface="Arial"/>
                <a:ea typeface="Arial"/>
                <a:cs typeface="Arial"/>
              </a:rPr>
              <a:t> FASTQ</a:t>
            </a:r>
          </a:p>
        </p:txBody>
      </p:sp>
      <p:sp>
        <p:nvSpPr>
          <p:cNvPr id="2" name="Title accent">
            <a:extLst>
              <a:ext uri="{FF2B5EF4-FFF2-40B4-BE49-F238E27FC236}">
                <a16:creationId xmlns:a16="http://schemas.microsoft.com/office/drawing/2014/main" id="{068B295F-71C1-467D-A795-DAF568161917}"/>
              </a:ext>
            </a:extLst>
          </p:cNvPr>
          <p:cNvSpPr>
            <a:spLocks noGrp="1"/>
          </p:cNvSpPr>
          <p:nvPr/>
        </p:nvSpPr>
        <p:spPr>
          <a:xfrm>
            <a:off x="838200" y="1028700"/>
            <a:ext cx="1619250" cy="57150"/>
          </a:xfrm>
          <a:prstGeom prst="rect">
            <a:avLst/>
          </a:prstGeom>
          <a:solidFill>
            <a:srgbClr val="E97132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Code block">
            <a:extLst>
              <a:ext uri="{FF2B5EF4-FFF2-40B4-BE49-F238E27FC236}">
                <a16:creationId xmlns:a16="http://schemas.microsoft.com/office/drawing/2014/main" id="{9B243964-8951-4987-8064-15FA6FCB1BB8}"/>
              </a:ext>
            </a:extLst>
          </p:cNvPr>
          <p:cNvSpPr>
            <a:spLocks noGrp="1"/>
          </p:cNvSpPr>
          <p:nvPr/>
        </p:nvSpPr>
        <p:spPr>
          <a:xfrm>
            <a:off x="876300" y="1238250"/>
            <a:ext cx="10797540" cy="1163320"/>
          </a:xfrm>
          <a:prstGeom prst="roundRect">
            <a:avLst>
              <a:gd name="adj" fmla="val 1905"/>
            </a:avLst>
          </a:prstGeom>
          <a:solidFill>
            <a:srgbClr val="F4F7F8"/>
          </a:solidFill>
          <a:ln w="9525">
            <a:solidFill>
              <a:srgbClr val="B8CDD5"/>
            </a:solidFill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00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zcat</a:t>
            </a:r>
            <a:r>
              <a:rPr sz="15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data/</a:t>
            </a:r>
            <a:r>
              <a:rPr sz="1500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fastq</a:t>
            </a:r>
            <a:r>
              <a:rPr sz="1500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/pod5_demo.fastq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83B84DD-2B9A-5240-226B-17E098551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" y="2917272"/>
            <a:ext cx="7772400" cy="142550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F4AAE01-6A8D-04A5-79B8-2948A601FC0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-1589" r="56125"/>
          <a:stretch/>
        </p:blipFill>
        <p:spPr>
          <a:xfrm>
            <a:off x="876301" y="4915629"/>
            <a:ext cx="10797540" cy="118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78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50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ction kicker">
            <a:extLst>
              <a:ext uri="{FF2B5EF4-FFF2-40B4-BE49-F238E27FC236}">
                <a16:creationId xmlns:a16="http://schemas.microsoft.com/office/drawing/2014/main" id="{27F39FD5-FDE7-4B61-88E8-3F701F8D89B5}"/>
              </a:ext>
            </a:extLst>
          </p:cNvPr>
          <p:cNvSpPr>
            <a:spLocks noGrp="1"/>
          </p:cNvSpPr>
          <p:nvPr/>
        </p:nvSpPr>
        <p:spPr>
          <a:xfrm>
            <a:off x="876300" y="1762125"/>
            <a:ext cx="723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8FD5E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FD5E8"/>
                </a:solidFill>
                <a:latin typeface="Arial"/>
                <a:ea typeface="Arial"/>
                <a:cs typeface="Arial"/>
              </a:rPr>
              <a:t>PHẦN 3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35624B14-3F9B-4FEE-BDDC-97BD9ECC2B46}"/>
              </a:ext>
            </a:extLst>
          </p:cNvPr>
          <p:cNvSpPr>
            <a:spLocks noGrp="1"/>
          </p:cNvSpPr>
          <p:nvPr/>
        </p:nvSpPr>
        <p:spPr>
          <a:xfrm>
            <a:off x="876300" y="2333625"/>
            <a:ext cx="96202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Tạo</a:t>
            </a:r>
            <a:r>
              <a:rPr sz="3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3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dataset</a:t>
            </a:r>
            <a:r>
              <a:rPr sz="3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HG002</a:t>
            </a:r>
            <a:r>
              <a:rPr lang="en-US" sz="3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36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cho</a:t>
            </a:r>
            <a:r>
              <a:rPr lang="en-US" sz="3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36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các</a:t>
            </a:r>
            <a:r>
              <a:rPr lang="en-US" sz="3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36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bước</a:t>
            </a:r>
            <a:r>
              <a:rPr lang="en-US" sz="3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36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tiếp</a:t>
            </a:r>
            <a:r>
              <a:rPr lang="en-US" sz="3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36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theo</a:t>
            </a:r>
            <a:endParaRPr sz="36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Section accent">
            <a:extLst>
              <a:ext uri="{FF2B5EF4-FFF2-40B4-BE49-F238E27FC236}">
                <a16:creationId xmlns:a16="http://schemas.microsoft.com/office/drawing/2014/main" id="{2258A04C-A57F-4D19-B998-FAAA073306E2}"/>
              </a:ext>
            </a:extLst>
          </p:cNvPr>
          <p:cNvSpPr>
            <a:spLocks noGrp="1"/>
          </p:cNvSpPr>
          <p:nvPr/>
        </p:nvSpPr>
        <p:spPr>
          <a:xfrm>
            <a:off x="876300" y="3810000"/>
            <a:ext cx="2286000" cy="95250"/>
          </a:xfrm>
          <a:prstGeom prst="rect">
            <a:avLst/>
          </a:prstGeom>
          <a:solidFill>
            <a:srgbClr val="E97132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39015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">
            <a:extLst>
              <a:ext uri="{FF2B5EF4-FFF2-40B4-BE49-F238E27FC236}">
                <a16:creationId xmlns:a16="http://schemas.microsoft.com/office/drawing/2014/main" id="{0E5A15E2-AB28-4337-87FE-6951D34A6045}"/>
              </a:ext>
            </a:extLst>
          </p:cNvPr>
          <p:cNvSpPr>
            <a:spLocks noGrp="1"/>
          </p:cNvSpPr>
          <p:nvPr/>
        </p:nvSpPr>
        <p:spPr>
          <a:xfrm>
            <a:off x="838200" y="361950"/>
            <a:ext cx="10515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F84AA"/>
                </a:solidFill>
                <a:latin typeface="Arial"/>
                <a:ea typeface="Arial"/>
                <a:cs typeface="Arial"/>
              </a:defRPr>
            </a:pPr>
            <a:r>
              <a:rPr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Tải</a:t>
            </a:r>
            <a:r>
              <a:rPr sz="2550" b="1" dirty="0">
                <a:solidFill>
                  <a:srgbClr val="0F84AA"/>
                </a:solidFill>
                <a:latin typeface="Arial"/>
                <a:ea typeface="Arial"/>
                <a:cs typeface="Arial"/>
              </a:rPr>
              <a:t> </a:t>
            </a:r>
            <a:r>
              <a:rPr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và</a:t>
            </a:r>
            <a:r>
              <a:rPr sz="2550" b="1" dirty="0">
                <a:solidFill>
                  <a:srgbClr val="0F84AA"/>
                </a:solidFill>
                <a:latin typeface="Arial"/>
                <a:ea typeface="Arial"/>
                <a:cs typeface="Arial"/>
              </a:rPr>
              <a:t> </a:t>
            </a:r>
            <a:r>
              <a:rPr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giải</a:t>
            </a:r>
            <a:r>
              <a:rPr sz="2550" b="1" dirty="0">
                <a:solidFill>
                  <a:srgbClr val="0F84AA"/>
                </a:solidFill>
                <a:latin typeface="Arial"/>
                <a:ea typeface="Arial"/>
                <a:cs typeface="Arial"/>
              </a:rPr>
              <a:t> </a:t>
            </a:r>
            <a:r>
              <a:rPr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nén</a:t>
            </a:r>
            <a:r>
              <a:rPr sz="2550" b="1" dirty="0">
                <a:solidFill>
                  <a:srgbClr val="0F84AA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dự</a:t>
            </a:r>
            <a:r>
              <a:rPr lang="en-US" sz="2550" b="1" dirty="0">
                <a:solidFill>
                  <a:srgbClr val="0F84AA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2550" b="1" dirty="0" err="1">
                <a:solidFill>
                  <a:srgbClr val="0F84AA"/>
                </a:solidFill>
                <a:latin typeface="Arial"/>
                <a:ea typeface="Arial"/>
                <a:cs typeface="Arial"/>
              </a:rPr>
              <a:t>liệu</a:t>
            </a:r>
            <a:r>
              <a:rPr sz="2550" b="1" dirty="0">
                <a:solidFill>
                  <a:srgbClr val="0F84AA"/>
                </a:solidFill>
                <a:latin typeface="Arial"/>
                <a:ea typeface="Arial"/>
                <a:cs typeface="Arial"/>
              </a:rPr>
              <a:t> demo</a:t>
            </a:r>
          </a:p>
        </p:txBody>
      </p:sp>
      <p:sp>
        <p:nvSpPr>
          <p:cNvPr id="2" name="Title accent">
            <a:extLst>
              <a:ext uri="{FF2B5EF4-FFF2-40B4-BE49-F238E27FC236}">
                <a16:creationId xmlns:a16="http://schemas.microsoft.com/office/drawing/2014/main" id="{CA449EB0-270F-4E2A-A3A1-311B4C63B1F7}"/>
              </a:ext>
            </a:extLst>
          </p:cNvPr>
          <p:cNvSpPr>
            <a:spLocks noGrp="1"/>
          </p:cNvSpPr>
          <p:nvPr/>
        </p:nvSpPr>
        <p:spPr>
          <a:xfrm>
            <a:off x="838200" y="1028700"/>
            <a:ext cx="1619250" cy="57150"/>
          </a:xfrm>
          <a:prstGeom prst="rect">
            <a:avLst/>
          </a:prstGeom>
          <a:solidFill>
            <a:srgbClr val="E97132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Code block">
            <a:extLst>
              <a:ext uri="{FF2B5EF4-FFF2-40B4-BE49-F238E27FC236}">
                <a16:creationId xmlns:a16="http://schemas.microsoft.com/office/drawing/2014/main" id="{C66AE2A2-3A55-43B3-9824-E7815119BEC2}"/>
              </a:ext>
            </a:extLst>
          </p:cNvPr>
          <p:cNvSpPr>
            <a:spLocks noGrp="1"/>
          </p:cNvSpPr>
          <p:nvPr/>
        </p:nvSpPr>
        <p:spPr>
          <a:xfrm>
            <a:off x="876299" y="1285875"/>
            <a:ext cx="10973193" cy="3031012"/>
          </a:xfrm>
          <a:prstGeom prst="roundRect">
            <a:avLst>
              <a:gd name="adj" fmla="val 1951"/>
            </a:avLst>
          </a:prstGeom>
          <a:solidFill>
            <a:srgbClr val="F4F7F8"/>
          </a:solidFill>
          <a:ln w="9525">
            <a:solidFill>
              <a:srgbClr val="B8CDD5"/>
            </a:solidFill>
            <a:prstDash val="solid"/>
          </a:ln>
        </p:spPr>
        <p:txBody>
          <a:bodyPr/>
          <a:lstStyle/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wget</a:t>
            </a: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-O data/raw/</a:t>
            </a:r>
            <a:r>
              <a:rPr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wf_demo</a:t>
            </a: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wf-demo.tar.gz</a:t>
            </a: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\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 'https://ont-exd-int-s3-euwst1-epi2me-labs.s3.amazonaws.com/</a:t>
            </a:r>
            <a:r>
              <a:rPr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wf</a:t>
            </a: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-human-variation/hg002%2bmods.v1/</a:t>
            </a:r>
            <a:r>
              <a:rPr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wf</a:t>
            </a: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-human-variation-</a:t>
            </a:r>
            <a:r>
              <a:rPr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demo.tar.gz</a:t>
            </a: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’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# </a:t>
            </a: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tải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file </a:t>
            </a: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từ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web </a:t>
            </a: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về</a:t>
            </a:r>
            <a:endParaRPr lang="en-US"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endParaRPr lang="en-US"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tar -</a:t>
            </a:r>
            <a:r>
              <a:rPr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tzf</a:t>
            </a: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data/raw/</a:t>
            </a:r>
            <a:r>
              <a:rPr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wf_demo</a:t>
            </a: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wf-demo.tar.gz</a:t>
            </a:r>
            <a:r>
              <a:rPr lang="vi-VN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	# view danh sách file trong file nén</a:t>
            </a:r>
            <a:endParaRPr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endParaRPr lang="en-US"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tar -</a:t>
            </a:r>
            <a:r>
              <a:rPr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xzf</a:t>
            </a: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data/raw/</a:t>
            </a:r>
            <a:r>
              <a:rPr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wf_demo</a:t>
            </a: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wf-demo.tar.gz</a:t>
            </a: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\</a:t>
            </a:r>
            <a:r>
              <a:rPr lang="vi-VN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	# giải nén file nén</a:t>
            </a:r>
            <a:endParaRPr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 -C data/raw/</a:t>
            </a:r>
            <a:r>
              <a:rPr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wf_demo</a:t>
            </a:r>
            <a:endParaRPr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endParaRPr lang="en-US"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cd data/raw/</a:t>
            </a:r>
            <a:r>
              <a:rPr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wf_demo</a:t>
            </a: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wf</a:t>
            </a: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-human-variation-demo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md5sum -c md5sums.txt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cd ../../..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D3DF474-449B-26DB-CF9A-C7B4FB5DCA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6746" y="3878541"/>
            <a:ext cx="5838531" cy="2536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78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">
            <a:extLst>
              <a:ext uri="{FF2B5EF4-FFF2-40B4-BE49-F238E27FC236}">
                <a16:creationId xmlns:a16="http://schemas.microsoft.com/office/drawing/2014/main" id="{0E5A15E2-AB28-4337-87FE-6951D34A6045}"/>
              </a:ext>
            </a:extLst>
          </p:cNvPr>
          <p:cNvSpPr>
            <a:spLocks noGrp="1"/>
          </p:cNvSpPr>
          <p:nvPr/>
        </p:nvSpPr>
        <p:spPr>
          <a:xfrm>
            <a:off x="838200" y="361950"/>
            <a:ext cx="10515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F84A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84AA"/>
                </a:solidFill>
                <a:latin typeface="Arial"/>
                <a:ea typeface="Arial"/>
                <a:cs typeface="Arial"/>
              </a:rPr>
              <a:t>Tạo BED và reference chr20</a:t>
            </a:r>
          </a:p>
        </p:txBody>
      </p:sp>
      <p:sp>
        <p:nvSpPr>
          <p:cNvPr id="2" name="Title accent">
            <a:extLst>
              <a:ext uri="{FF2B5EF4-FFF2-40B4-BE49-F238E27FC236}">
                <a16:creationId xmlns:a16="http://schemas.microsoft.com/office/drawing/2014/main" id="{CA449EB0-270F-4E2A-A3A1-311B4C63B1F7}"/>
              </a:ext>
            </a:extLst>
          </p:cNvPr>
          <p:cNvSpPr>
            <a:spLocks noGrp="1"/>
          </p:cNvSpPr>
          <p:nvPr/>
        </p:nvSpPr>
        <p:spPr>
          <a:xfrm>
            <a:off x="838200" y="1028700"/>
            <a:ext cx="1619250" cy="57150"/>
          </a:xfrm>
          <a:prstGeom prst="rect">
            <a:avLst/>
          </a:prstGeom>
          <a:solidFill>
            <a:srgbClr val="E97132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Code block">
            <a:extLst>
              <a:ext uri="{FF2B5EF4-FFF2-40B4-BE49-F238E27FC236}">
                <a16:creationId xmlns:a16="http://schemas.microsoft.com/office/drawing/2014/main" id="{C66AE2A2-3A55-43B3-9824-E7815119BEC2}"/>
              </a:ext>
            </a:extLst>
          </p:cNvPr>
          <p:cNvSpPr>
            <a:spLocks noGrp="1"/>
          </p:cNvSpPr>
          <p:nvPr/>
        </p:nvSpPr>
        <p:spPr>
          <a:xfrm>
            <a:off x="876300" y="1285874"/>
            <a:ext cx="10515600" cy="2530953"/>
          </a:xfrm>
          <a:prstGeom prst="roundRect">
            <a:avLst>
              <a:gd name="adj" fmla="val 1951"/>
            </a:avLst>
          </a:prstGeom>
          <a:solidFill>
            <a:srgbClr val="F4F7F8"/>
          </a:solidFill>
          <a:ln w="9525">
            <a:solidFill>
              <a:srgbClr val="B8CDD5"/>
            </a:solidFill>
            <a:prstDash val="solid"/>
          </a:ln>
        </p:spPr>
        <p:txBody>
          <a:bodyPr/>
          <a:lstStyle/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DEMO=data/raw/</a:t>
            </a:r>
            <a:r>
              <a:rPr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wf_demo</a:t>
            </a: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wf</a:t>
            </a: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-human-variation-demo</a:t>
            </a:r>
            <a:endParaRPr lang="en-US"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endParaRPr lang="en-US"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# </a:t>
            </a: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lấy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tất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cả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các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dòng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bắt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đầu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bằng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chr20</a:t>
            </a:r>
            <a:endParaRPr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awk '$1=="chr20"' "$DEMO/</a:t>
            </a:r>
            <a:r>
              <a:rPr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demo.bed</a:t>
            </a: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" &gt; config/target.chr20.bed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endParaRPr lang="vi-VN"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samtools</a:t>
            </a: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faidx</a:t>
            </a: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"$DEMO/</a:t>
            </a:r>
            <a:r>
              <a:rPr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demo.fasta</a:t>
            </a: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" chr20 &gt; data/reference/GRCh38.chr20.fa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endParaRPr lang="vi-VN"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samtools</a:t>
            </a: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faidx</a:t>
            </a:r>
            <a:r>
              <a:rPr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data/reference/GRCh38.chr20.fa</a:t>
            </a:r>
            <a:endParaRPr lang="en-US"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endParaRPr lang="en-US"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cat data/reference/GRCh38.chr20.fa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endParaRPr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2678A7-0537-4573-17E0-3768D1444839}"/>
              </a:ext>
            </a:extLst>
          </p:cNvPr>
          <p:cNvSpPr txBox="1"/>
          <p:nvPr/>
        </p:nvSpPr>
        <p:spPr>
          <a:xfrm>
            <a:off x="876300" y="4054951"/>
            <a:ext cx="6094428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chr20   64444167   7   70   71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│       │          │   │    │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│       │          │   │    └─ 71 bytes/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dòng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│       │          │   └────── 70 bases/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dòng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│       │          └────────── offset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│       └─────────────────────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tổng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64,444,167 bases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└─────────────────────────────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tên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sequence</a:t>
            </a:r>
          </a:p>
        </p:txBody>
      </p:sp>
    </p:spTree>
    <p:extLst>
      <p:ext uri="{BB962C8B-B14F-4D97-AF65-F5344CB8AC3E}">
        <p14:creationId xmlns:p14="http://schemas.microsoft.com/office/powerpoint/2010/main" val="193978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">
            <a:extLst>
              <a:ext uri="{FF2B5EF4-FFF2-40B4-BE49-F238E27FC236}">
                <a16:creationId xmlns:a16="http://schemas.microsoft.com/office/drawing/2014/main" id="{0E5A15E2-AB28-4337-87FE-6951D34A6045}"/>
              </a:ext>
            </a:extLst>
          </p:cNvPr>
          <p:cNvSpPr>
            <a:spLocks noGrp="1"/>
          </p:cNvSpPr>
          <p:nvPr/>
        </p:nvSpPr>
        <p:spPr>
          <a:xfrm>
            <a:off x="838200" y="361950"/>
            <a:ext cx="10515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F84A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84AA"/>
                </a:solidFill>
                <a:latin typeface="Arial"/>
                <a:ea typeface="Arial"/>
                <a:cs typeface="Arial"/>
              </a:rPr>
              <a:t>Tạo FASTQ HG002 chr20</a:t>
            </a:r>
          </a:p>
        </p:txBody>
      </p:sp>
      <p:sp>
        <p:nvSpPr>
          <p:cNvPr id="2" name="Title accent">
            <a:extLst>
              <a:ext uri="{FF2B5EF4-FFF2-40B4-BE49-F238E27FC236}">
                <a16:creationId xmlns:a16="http://schemas.microsoft.com/office/drawing/2014/main" id="{CA449EB0-270F-4E2A-A3A1-311B4C63B1F7}"/>
              </a:ext>
            </a:extLst>
          </p:cNvPr>
          <p:cNvSpPr>
            <a:spLocks noGrp="1"/>
          </p:cNvSpPr>
          <p:nvPr/>
        </p:nvSpPr>
        <p:spPr>
          <a:xfrm>
            <a:off x="838200" y="1028700"/>
            <a:ext cx="1619250" cy="57150"/>
          </a:xfrm>
          <a:prstGeom prst="rect">
            <a:avLst/>
          </a:prstGeom>
          <a:solidFill>
            <a:srgbClr val="E97132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Code block">
            <a:extLst>
              <a:ext uri="{FF2B5EF4-FFF2-40B4-BE49-F238E27FC236}">
                <a16:creationId xmlns:a16="http://schemas.microsoft.com/office/drawing/2014/main" id="{C66AE2A2-3A55-43B3-9824-E7815119BEC2}"/>
              </a:ext>
            </a:extLst>
          </p:cNvPr>
          <p:cNvSpPr>
            <a:spLocks noGrp="1"/>
          </p:cNvSpPr>
          <p:nvPr/>
        </p:nvSpPr>
        <p:spPr>
          <a:xfrm>
            <a:off x="876300" y="1285875"/>
            <a:ext cx="10515600" cy="1259362"/>
          </a:xfrm>
          <a:prstGeom prst="roundRect">
            <a:avLst>
              <a:gd name="adj" fmla="val 1951"/>
            </a:avLst>
          </a:prstGeom>
          <a:solidFill>
            <a:srgbClr val="F4F7F8"/>
          </a:solidFill>
          <a:ln w="9525">
            <a:solidFill>
              <a:srgbClr val="B8CDD5"/>
            </a:solidFill>
            <a:prstDash val="solid"/>
          </a:ln>
        </p:spPr>
        <p:txBody>
          <a:bodyPr/>
          <a:lstStyle/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samtools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view -b data/raw/</a:t>
            </a: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wf_demo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/</a:t>
            </a: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wf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-human-variation-demo/</a:t>
            </a: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demo.bam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chr20 |\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samtools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fastq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- | \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gzip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-c &gt; data/</a:t>
            </a: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fastq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/HG002.chr20.fastq.gz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endParaRPr lang="en-US"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zcat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 data/</a:t>
            </a:r>
            <a:r>
              <a:rPr lang="en-US" sz="1575" dirty="0" err="1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fastq</a:t>
            </a:r>
            <a:r>
              <a:rPr lang="en-US" sz="1575" dirty="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/HG002.chr20.fastq.gz | head</a:t>
            </a: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endParaRPr lang="en-US"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endParaRPr lang="en-US"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  <a:p>
            <a:pPr>
              <a:buNone/>
              <a:defRPr sz="1575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endParaRPr sz="1575" dirty="0">
              <a:solidFill>
                <a:srgbClr val="17242B"/>
              </a:solidFill>
              <a:latin typeface="Courier New"/>
              <a:ea typeface="Courier New"/>
              <a:cs typeface="Courier New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9B541BC-0F08-92E4-C4AC-988D20413B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" y="2783362"/>
            <a:ext cx="11197932" cy="761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78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">
            <a:extLst>
              <a:ext uri="{FF2B5EF4-FFF2-40B4-BE49-F238E27FC236}">
                <a16:creationId xmlns:a16="http://schemas.microsoft.com/office/drawing/2014/main" id="{85FF980A-4D5B-4021-ACAB-878B13232B48}"/>
              </a:ext>
            </a:extLst>
          </p:cNvPr>
          <p:cNvSpPr>
            <a:spLocks noGrp="1"/>
          </p:cNvSpPr>
          <p:nvPr/>
        </p:nvSpPr>
        <p:spPr>
          <a:xfrm>
            <a:off x="838200" y="361950"/>
            <a:ext cx="10515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F84A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84AA"/>
                </a:solidFill>
                <a:latin typeface="Arial"/>
                <a:ea typeface="Arial"/>
                <a:cs typeface="Arial"/>
              </a:rPr>
              <a:t>Checkpoint cuối Buổi 2</a:t>
            </a:r>
          </a:p>
        </p:txBody>
      </p:sp>
      <p:sp>
        <p:nvSpPr>
          <p:cNvPr id="2" name="Title accent">
            <a:extLst>
              <a:ext uri="{FF2B5EF4-FFF2-40B4-BE49-F238E27FC236}">
                <a16:creationId xmlns:a16="http://schemas.microsoft.com/office/drawing/2014/main" id="{068B295F-71C1-467D-A795-DAF568161917}"/>
              </a:ext>
            </a:extLst>
          </p:cNvPr>
          <p:cNvSpPr>
            <a:spLocks noGrp="1"/>
          </p:cNvSpPr>
          <p:nvPr/>
        </p:nvSpPr>
        <p:spPr>
          <a:xfrm>
            <a:off x="838200" y="1028700"/>
            <a:ext cx="1619250" cy="57150"/>
          </a:xfrm>
          <a:prstGeom prst="rect">
            <a:avLst/>
          </a:prstGeom>
          <a:solidFill>
            <a:srgbClr val="E97132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Code block">
            <a:extLst>
              <a:ext uri="{FF2B5EF4-FFF2-40B4-BE49-F238E27FC236}">
                <a16:creationId xmlns:a16="http://schemas.microsoft.com/office/drawing/2014/main" id="{9B243964-8951-4987-8064-15FA6FCB1BB8}"/>
              </a:ext>
            </a:extLst>
          </p:cNvPr>
          <p:cNvSpPr>
            <a:spLocks noGrp="1"/>
          </p:cNvSpPr>
          <p:nvPr/>
        </p:nvSpPr>
        <p:spPr>
          <a:xfrm>
            <a:off x="876300" y="1238250"/>
            <a:ext cx="5524500" cy="4000500"/>
          </a:xfrm>
          <a:prstGeom prst="roundRect">
            <a:avLst>
              <a:gd name="adj" fmla="val 1905"/>
            </a:avLst>
          </a:prstGeom>
          <a:solidFill>
            <a:srgbClr val="F4F7F8"/>
          </a:solidFill>
          <a:ln w="9525">
            <a:solidFill>
              <a:srgbClr val="B8CDD5"/>
            </a:solidFill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0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gzip -t data/fastq/HG002.chr20.fastq.gz</a:t>
            </a:r>
          </a:p>
          <a:p>
            <a:pPr>
              <a:buNone/>
              <a:defRPr sz="1500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0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head config/target.chr20.bed</a:t>
            </a:r>
          </a:p>
          <a:p>
            <a:pPr>
              <a:buNone/>
              <a:defRPr sz="1500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0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cut -f1,2 data/reference/GRCh38.chr20.fa.fai</a:t>
            </a:r>
          </a:p>
          <a:p>
            <a:pPr>
              <a:buNone/>
              <a:defRPr sz="1500">
                <a:solidFill>
                  <a:srgbClr val="17242B"/>
                </a:solidFill>
                <a:latin typeface="Courier New"/>
                <a:ea typeface="Courier New"/>
                <a:cs typeface="Courier New"/>
              </a:defRPr>
            </a:pPr>
            <a:r>
              <a:rPr sz="1500">
                <a:solidFill>
                  <a:srgbClr val="17242B"/>
                </a:solidFill>
                <a:latin typeface="Courier New"/>
                <a:ea typeface="Courier New"/>
                <a:cs typeface="Courier New"/>
              </a:rPr>
              <a:t>tree -L 3</a:t>
            </a:r>
          </a:p>
        </p:txBody>
      </p:sp>
      <p:sp>
        <p:nvSpPr>
          <p:cNvPr id="4" name="Accent 1">
            <a:extLst>
              <a:ext uri="{FF2B5EF4-FFF2-40B4-BE49-F238E27FC236}">
                <a16:creationId xmlns:a16="http://schemas.microsoft.com/office/drawing/2014/main" id="{F95D8DD7-2849-4603-B9ED-40F48F15CDE6}"/>
              </a:ext>
            </a:extLst>
          </p:cNvPr>
          <p:cNvSpPr>
            <a:spLocks noGrp="1"/>
          </p:cNvSpPr>
          <p:nvPr/>
        </p:nvSpPr>
        <p:spPr>
          <a:xfrm>
            <a:off x="6905625" y="1419225"/>
            <a:ext cx="66675" cy="495300"/>
          </a:xfrm>
          <a:prstGeom prst="rect">
            <a:avLst/>
          </a:prstGeom>
          <a:solidFill>
            <a:srgbClr val="0F84A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Point 1">
            <a:extLst>
              <a:ext uri="{FF2B5EF4-FFF2-40B4-BE49-F238E27FC236}">
                <a16:creationId xmlns:a16="http://schemas.microsoft.com/office/drawing/2014/main" id="{CDBD869C-D6ED-4960-BFBF-7B5BCC4F4D7E}"/>
              </a:ext>
            </a:extLst>
          </p:cNvPr>
          <p:cNvSpPr>
            <a:spLocks noGrp="1"/>
          </p:cNvSpPr>
          <p:nvPr/>
        </p:nvSpPr>
        <p:spPr>
          <a:xfrm>
            <a:off x="7134225" y="1381125"/>
            <a:ext cx="40576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>
                <a:solidFill>
                  <a:srgbClr val="202A33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202A33"/>
                </a:solidFill>
                <a:latin typeface="Arial"/>
                <a:ea typeface="Arial"/>
                <a:cs typeface="Arial"/>
              </a:rPr>
              <a:t>FASTQ nén hợp lệ.</a:t>
            </a:r>
          </a:p>
        </p:txBody>
      </p:sp>
      <p:sp>
        <p:nvSpPr>
          <p:cNvPr id="6" name="Accent 2">
            <a:extLst>
              <a:ext uri="{FF2B5EF4-FFF2-40B4-BE49-F238E27FC236}">
                <a16:creationId xmlns:a16="http://schemas.microsoft.com/office/drawing/2014/main" id="{19EEFC44-A992-439D-9F39-E131681765FF}"/>
              </a:ext>
            </a:extLst>
          </p:cNvPr>
          <p:cNvSpPr>
            <a:spLocks noGrp="1"/>
          </p:cNvSpPr>
          <p:nvPr/>
        </p:nvSpPr>
        <p:spPr>
          <a:xfrm>
            <a:off x="6905625" y="2105025"/>
            <a:ext cx="66675" cy="495300"/>
          </a:xfrm>
          <a:prstGeom prst="rect">
            <a:avLst/>
          </a:prstGeom>
          <a:solidFill>
            <a:srgbClr val="E97132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Point 2">
            <a:extLst>
              <a:ext uri="{FF2B5EF4-FFF2-40B4-BE49-F238E27FC236}">
                <a16:creationId xmlns:a16="http://schemas.microsoft.com/office/drawing/2014/main" id="{E15419D3-52A1-4F02-8610-9A02DF793B7F}"/>
              </a:ext>
            </a:extLst>
          </p:cNvPr>
          <p:cNvSpPr>
            <a:spLocks noGrp="1"/>
          </p:cNvSpPr>
          <p:nvPr/>
        </p:nvSpPr>
        <p:spPr>
          <a:xfrm>
            <a:off x="7134225" y="2066925"/>
            <a:ext cx="40576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>
                <a:solidFill>
                  <a:srgbClr val="202A33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8" name="Accent 3">
            <a:extLst>
              <a:ext uri="{FF2B5EF4-FFF2-40B4-BE49-F238E27FC236}">
                <a16:creationId xmlns:a16="http://schemas.microsoft.com/office/drawing/2014/main" id="{1DA51AC8-F954-4EF6-80EF-37519541EC4E}"/>
              </a:ext>
            </a:extLst>
          </p:cNvPr>
          <p:cNvSpPr>
            <a:spLocks noGrp="1"/>
          </p:cNvSpPr>
          <p:nvPr/>
        </p:nvSpPr>
        <p:spPr>
          <a:xfrm>
            <a:off x="6905625" y="2790825"/>
            <a:ext cx="66675" cy="495300"/>
          </a:xfrm>
          <a:prstGeom prst="rect">
            <a:avLst/>
          </a:prstGeom>
          <a:solidFill>
            <a:srgbClr val="2E8B7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Point 3">
            <a:extLst>
              <a:ext uri="{FF2B5EF4-FFF2-40B4-BE49-F238E27FC236}">
                <a16:creationId xmlns:a16="http://schemas.microsoft.com/office/drawing/2014/main" id="{B1371358-58F2-456F-9DD7-A3A19E3C7ABE}"/>
              </a:ext>
            </a:extLst>
          </p:cNvPr>
          <p:cNvSpPr>
            <a:spLocks noGrp="1"/>
          </p:cNvSpPr>
          <p:nvPr/>
        </p:nvSpPr>
        <p:spPr>
          <a:xfrm>
            <a:off x="7134225" y="2752725"/>
            <a:ext cx="40576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>
                <a:solidFill>
                  <a:srgbClr val="202A33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0" name="Accent 4">
            <a:extLst>
              <a:ext uri="{FF2B5EF4-FFF2-40B4-BE49-F238E27FC236}">
                <a16:creationId xmlns:a16="http://schemas.microsoft.com/office/drawing/2014/main" id="{9673F61A-AD84-4A20-B624-EBAD72984C7D}"/>
              </a:ext>
            </a:extLst>
          </p:cNvPr>
          <p:cNvSpPr>
            <a:spLocks noGrp="1"/>
          </p:cNvSpPr>
          <p:nvPr/>
        </p:nvSpPr>
        <p:spPr>
          <a:xfrm>
            <a:off x="6905625" y="3476625"/>
            <a:ext cx="66675" cy="495300"/>
          </a:xfrm>
          <a:prstGeom prst="rect">
            <a:avLst/>
          </a:prstGeom>
          <a:solidFill>
            <a:srgbClr val="7B61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Point 4">
            <a:extLst>
              <a:ext uri="{FF2B5EF4-FFF2-40B4-BE49-F238E27FC236}">
                <a16:creationId xmlns:a16="http://schemas.microsoft.com/office/drawing/2014/main" id="{7ABBC7B6-5C7A-4B8F-964D-CE77CDAA9510}"/>
              </a:ext>
            </a:extLst>
          </p:cNvPr>
          <p:cNvSpPr>
            <a:spLocks noGrp="1"/>
          </p:cNvSpPr>
          <p:nvPr/>
        </p:nvSpPr>
        <p:spPr>
          <a:xfrm>
            <a:off x="7134225" y="3438525"/>
            <a:ext cx="40576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>
                <a:solidFill>
                  <a:srgbClr val="202A33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2" name="Accent 5">
            <a:extLst>
              <a:ext uri="{FF2B5EF4-FFF2-40B4-BE49-F238E27FC236}">
                <a16:creationId xmlns:a16="http://schemas.microsoft.com/office/drawing/2014/main" id="{F1ABC482-4F94-4BE3-A414-093B8A025450}"/>
              </a:ext>
            </a:extLst>
          </p:cNvPr>
          <p:cNvSpPr>
            <a:spLocks noGrp="1"/>
          </p:cNvSpPr>
          <p:nvPr/>
        </p:nvSpPr>
        <p:spPr>
          <a:xfrm>
            <a:off x="6905625" y="4162425"/>
            <a:ext cx="66675" cy="495300"/>
          </a:xfrm>
          <a:prstGeom prst="rect">
            <a:avLst/>
          </a:prstGeom>
          <a:solidFill>
            <a:srgbClr val="D49A22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Point 5">
            <a:extLst>
              <a:ext uri="{FF2B5EF4-FFF2-40B4-BE49-F238E27FC236}">
                <a16:creationId xmlns:a16="http://schemas.microsoft.com/office/drawing/2014/main" id="{ED50CD46-7A0C-4C1A-8D20-3919F8F9BA9F}"/>
              </a:ext>
            </a:extLst>
          </p:cNvPr>
          <p:cNvSpPr>
            <a:spLocks noGrp="1"/>
          </p:cNvSpPr>
          <p:nvPr/>
        </p:nvSpPr>
        <p:spPr>
          <a:xfrm>
            <a:off x="7134225" y="4124325"/>
            <a:ext cx="40576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>
                <a:solidFill>
                  <a:srgbClr val="202A33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4" name="Goal">
            <a:extLst>
              <a:ext uri="{FF2B5EF4-FFF2-40B4-BE49-F238E27FC236}">
                <a16:creationId xmlns:a16="http://schemas.microsoft.com/office/drawing/2014/main" id="{7B02453A-5E39-4E3F-BDE9-1B6FB955C483}"/>
              </a:ext>
            </a:extLst>
          </p:cNvPr>
          <p:cNvSpPr>
            <a:spLocks noGrp="1"/>
          </p:cNvSpPr>
          <p:nvPr/>
        </p:nvSpPr>
        <p:spPr>
          <a:xfrm>
            <a:off x="876300" y="5572125"/>
            <a:ext cx="1028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1">
                <a:solidFill>
                  <a:srgbClr val="0F84A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F84AA"/>
                </a:solidFill>
                <a:latin typeface="Arial"/>
                <a:ea typeface="Arial"/>
                <a:cs typeface="Arial"/>
              </a:rPr>
              <a:t>Đầu ra: FASTQ + BED + reference sẵn sàng cho QC.</a:t>
            </a:r>
          </a:p>
        </p:txBody>
      </p:sp>
    </p:spTree>
    <p:extLst>
      <p:ext uri="{BB962C8B-B14F-4D97-AF65-F5344CB8AC3E}">
        <p14:creationId xmlns:p14="http://schemas.microsoft.com/office/powerpoint/2010/main" val="193978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">
            <a:extLst>
              <a:ext uri="{FF2B5EF4-FFF2-40B4-BE49-F238E27FC236}">
                <a16:creationId xmlns:a16="http://schemas.microsoft.com/office/drawing/2014/main" id="{24D0993E-202B-4014-9541-9446C4E58AFC}"/>
              </a:ext>
            </a:extLst>
          </p:cNvPr>
          <p:cNvSpPr>
            <a:spLocks noGrp="1"/>
          </p:cNvSpPr>
          <p:nvPr/>
        </p:nvSpPr>
        <p:spPr>
          <a:xfrm>
            <a:off x="838200" y="361950"/>
            <a:ext cx="10515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F84A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84AA"/>
                </a:solidFill>
                <a:latin typeface="Arial"/>
                <a:ea typeface="Arial"/>
                <a:cs typeface="Arial"/>
              </a:rPr>
              <a:t>Bài tập về nhà Buổi 2</a:t>
            </a:r>
          </a:p>
        </p:txBody>
      </p:sp>
      <p:sp>
        <p:nvSpPr>
          <p:cNvPr id="2" name="Title accent">
            <a:extLst>
              <a:ext uri="{FF2B5EF4-FFF2-40B4-BE49-F238E27FC236}">
                <a16:creationId xmlns:a16="http://schemas.microsoft.com/office/drawing/2014/main" id="{57D362B7-B49A-4D88-B4D7-6ABB16765900}"/>
              </a:ext>
            </a:extLst>
          </p:cNvPr>
          <p:cNvSpPr>
            <a:spLocks noGrp="1"/>
          </p:cNvSpPr>
          <p:nvPr/>
        </p:nvSpPr>
        <p:spPr>
          <a:xfrm>
            <a:off x="838200" y="1028700"/>
            <a:ext cx="1619250" cy="57150"/>
          </a:xfrm>
          <a:prstGeom prst="rect">
            <a:avLst/>
          </a:prstGeom>
          <a:solidFill>
            <a:srgbClr val="E97132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71955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1077</TotalTime>
  <Words>1209</Words>
  <Application>Microsoft Macintosh PowerPoint</Application>
  <DocSecurity>0</DocSecurity>
  <PresentationFormat>Widescreen</PresentationFormat>
  <Paragraphs>184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Consolas</vt:lpstr>
      <vt:lpstr>Courier New</vt:lpstr>
      <vt:lpstr>Office Theme</vt:lpstr>
      <vt:lpstr>Introduction to Bioinformatics with Oxford Nanopore Sequencing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Van Lam Nguyen</cp:lastModifiedBy>
  <cp:revision>4</cp:revision>
  <dcterms:created xsi:type="dcterms:W3CDTF">2026-09-06T03:15:47Z</dcterms:created>
  <dcterms:modified xsi:type="dcterms:W3CDTF">2026-09-09T20:15:58Z</dcterms:modified>
</cp:coreProperties>
</file>