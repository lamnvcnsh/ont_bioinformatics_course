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78" r:id="rId2"/>
    <p:sldId id="257" r:id="rId3"/>
    <p:sldId id="281" r:id="rId4"/>
    <p:sldId id="258" r:id="rId5"/>
    <p:sldId id="259" r:id="rId6"/>
    <p:sldId id="260" r:id="rId7"/>
    <p:sldId id="261" r:id="rId8"/>
    <p:sldId id="276" r:id="rId9"/>
    <p:sldId id="263" r:id="rId10"/>
    <p:sldId id="264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802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213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A5B9-5BF1-B50D-5BAE-A229DB179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buNone/>
              <a:defRPr sz="4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9FDA5-592A-666B-0E30-0DAF4C6ED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1CC01-1E7C-A6DA-AB33-747E67C16A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2309-7945-8334-4676-2816A957C9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ECEAB-C954-5C57-9F0C-27C1A133B5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50CE-DDB2-C6F1-0E2C-84A0F1DB1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A5FE-BD29-2F87-99B6-55296C460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96091-9086-BFB4-7FCF-91E2302742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02AE4-41F8-9235-E8FF-3C140FABB0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6C11-AC07-6FDD-17F6-0E5CA622B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5952-5104-0DF1-3298-CA011779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B6440-01AD-17D8-7E7F-286B2B8CB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F8C8-2AB4-8ECE-C678-F984BF8F26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1C71-EFDB-3129-1C22-8FAC7CECB3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240E1-3242-8309-7049-4C7A847D3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2A21-0332-077B-CA9E-5970E9B6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7E85-DACB-435E-388E-84AAF9586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720"/>
            <a:ext cx="5593080" cy="473424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CE932-5AED-44C1-F416-1D183178E1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442720"/>
            <a:ext cx="5593080" cy="473424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908CA-FE11-58FA-E118-FE91E475D9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9C0CC-C9AF-2B0E-5E94-5CB8CE88E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61A17-A87A-B91C-AD00-52C6B78244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87F8-CB13-D112-46A0-1400F47D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CC29-0D4A-7CDA-DAD6-404AF832B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33EF4-BB80-C262-BF5F-067AA647012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CD9EE-6F9C-56C2-42A4-82213E42C13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A4CFD-4534-94A3-A3F5-CD5051A8F42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A5184-F97A-0CBC-E93D-29B1111145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D1F077-C773-D89A-6AA9-5A858ED89C9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FDD54-F56C-492B-F7E5-29D11549E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D75-1680-56E2-667D-5144DF92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8F568-954E-8FF2-5958-8228CD34AF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2F8CA-F620-9E78-6620-EF2CBD3799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6A3AD-D7AD-35AB-503C-D6436AC842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49316-7366-3468-D447-649179C402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CD0CB-9158-B544-BD49-1225FD48EB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E35E4-BCCB-9AD3-31CE-2DE2B5BB6D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BE80-F870-6D36-6659-6988EB27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156F-BFA8-4422-F223-ECAEC21FF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96322-989C-AE62-067E-5B895570EC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36132-FE35-22C4-77F0-58AC584C11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F304A-6356-6D0B-9DE7-917E760D24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81F05-5586-65FE-5B58-2295B5C13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B09D-500F-21E5-8DF2-45A61C65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804B4-2BDB-3D16-81E6-BD74D5AC98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C85A4-F192-22FF-AA65-0E7267B564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8991F-DC65-C6BB-C072-DC0DF37F2F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9D41F-7E1D-6A98-80A7-94D88B21FB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2F0CE-9A9C-5344-ADC2-02C056558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31B8-A32C-CC33-7C44-215DE8E2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93B4F-B7F5-E429-ED3A-E17BBCCBE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19601-F4EC-FF07-39CA-A148610014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A81E5-BA5B-667E-5CDE-1433663E91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37CFC-4829-5A90-BB3A-B5F4DBE4BF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E8C9B-9793-D24F-7241-A81B371E8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AE245-6978-06B4-A190-BEA41E8E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A965-2C36-2350-D378-6343CDE975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7F304-BD5C-7217-D643-8365F8FBAA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70655-B8E5-060B-A958-91459C404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CA5B4E-8CC0-F641-B9F8-098110D0683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3A113-5CD4-608F-1763-2E2D9BFC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445"/>
            <a:ext cx="10927080" cy="7626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5C8F8-FCCA-98FF-2CD0-27F37B899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2880"/>
            <a:ext cx="10927080" cy="472408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2CB3-C046-2323-3DD0-A66E320D24F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787A1-AE21-7749-8ABB-48F5E74FF1F8}" type="datetimeFigureOut">
              <a:t>9/9/26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A3F5D-5345-0645-671D-8B1DACFB444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D6E75-5765-D15A-4066-A80F58F3AD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315468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5B4E-8CC0-F641-B9F8-098110D0683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anaconda.com/miniconda/Miniconda3-latest-Linux-x86_64.s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noporetech/dorado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D0565-21D1-05B5-3C3F-CF2149F74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139" y="1206796"/>
            <a:ext cx="10685721" cy="2387600"/>
          </a:xfrm>
        </p:spPr>
        <p:txBody>
          <a:bodyPr>
            <a:normAutofit/>
          </a:bodyPr>
          <a:lstStyle/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4800" dirty="0">
                <a:latin typeface="Arial"/>
                <a:ea typeface="Arial"/>
                <a:cs typeface="Arial"/>
              </a:rPr>
              <a:t>Introduction to Bioinformatics</a:t>
            </a:r>
            <a:br>
              <a:rPr dirty="0"/>
            </a:br>
            <a:r>
              <a:rPr sz="4000" dirty="0">
                <a:latin typeface="Arial"/>
                <a:ea typeface="Arial"/>
                <a:cs typeface="Arial"/>
              </a:rPr>
              <a:t>with Oxford Nanopore Sequencing</a:t>
            </a:r>
            <a:endParaRPr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18202-4EC3-B023-7471-C380673FE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5442"/>
            <a:ext cx="9144000" cy="1655762"/>
          </a:xfrm>
        </p:spPr>
        <p:txBody>
          <a:bodyPr>
            <a:normAutofit fontScale="75015" lnSpcReduction="20000"/>
          </a:bodyPr>
          <a:lstStyle/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u="sng" dirty="0">
                <a:latin typeface="Arial"/>
                <a:ea typeface="Arial"/>
                <a:cs typeface="Arial"/>
              </a:rPr>
              <a:t>Van Lam Nguyen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Bioinformatics Research Scientist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Department of Computational Biology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St. Jude Children’s Research Hospital</a:t>
            </a:r>
          </a:p>
          <a:p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dirty="0">
                <a:latin typeface="Arial"/>
                <a:ea typeface="Arial"/>
                <a:cs typeface="Arial"/>
              </a:rPr>
              <a:t>Memphis, TN, USA</a:t>
            </a:r>
          </a:p>
        </p:txBody>
      </p:sp>
    </p:spTree>
    <p:extLst>
      <p:ext uri="{BB962C8B-B14F-4D97-AF65-F5344CB8AC3E}">
        <p14:creationId xmlns:p14="http://schemas.microsoft.com/office/powerpoint/2010/main" val="1881671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170F1794-ABC6-4F4F-B25B-B4207C0AE80F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Nội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dung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buổi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2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58E7F87B-A124-4D9F-9089-3FEBEC8D4BA1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Accent 1">
            <a:extLst>
              <a:ext uri="{FF2B5EF4-FFF2-40B4-BE49-F238E27FC236}">
                <a16:creationId xmlns:a16="http://schemas.microsoft.com/office/drawing/2014/main" id="{7A57AB93-9B69-47D2-AC3A-441702AA5232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66675" cy="495300"/>
          </a:xfrm>
          <a:prstGeom prst="rect">
            <a:avLst/>
          </a:prstGeom>
          <a:solidFill>
            <a:srgbClr val="0F84A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Accent 2">
            <a:extLst>
              <a:ext uri="{FF2B5EF4-FFF2-40B4-BE49-F238E27FC236}">
                <a16:creationId xmlns:a16="http://schemas.microsoft.com/office/drawing/2014/main" id="{098089F5-5036-457B-A67F-F0CD9DB01969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66675" cy="49530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oint 2">
            <a:extLst>
              <a:ext uri="{FF2B5EF4-FFF2-40B4-BE49-F238E27FC236}">
                <a16:creationId xmlns:a16="http://schemas.microsoft.com/office/drawing/2014/main" id="{F4558CF9-C949-4289-874D-C62831AF7622}"/>
              </a:ext>
            </a:extLst>
          </p:cNvPr>
          <p:cNvSpPr>
            <a:spLocks noGrp="1"/>
          </p:cNvSpPr>
          <p:nvPr/>
        </p:nvSpPr>
        <p:spPr>
          <a:xfrm>
            <a:off x="1104900" y="34480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Download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dữ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liệu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demo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Accent 3">
            <a:extLst>
              <a:ext uri="{FF2B5EF4-FFF2-40B4-BE49-F238E27FC236}">
                <a16:creationId xmlns:a16="http://schemas.microsoft.com/office/drawing/2014/main" id="{42BE9690-A84C-49EF-AC01-DF11D2970AAD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66675" cy="495300"/>
          </a:xfrm>
          <a:prstGeom prst="rect">
            <a:avLst/>
          </a:prstGeom>
          <a:solidFill>
            <a:srgbClr val="2E8B7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oint 3">
            <a:extLst>
              <a:ext uri="{FF2B5EF4-FFF2-40B4-BE49-F238E27FC236}">
                <a16:creationId xmlns:a16="http://schemas.microsoft.com/office/drawing/2014/main" id="{C54FE448-0403-4745-BA24-7EFECF353A07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Làm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quen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với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POD5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Accent 4">
            <a:extLst>
              <a:ext uri="{FF2B5EF4-FFF2-40B4-BE49-F238E27FC236}">
                <a16:creationId xmlns:a16="http://schemas.microsoft.com/office/drawing/2014/main" id="{B526ED1B-4EDF-4561-A3C6-E76268B35E19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66675" cy="495300"/>
          </a:xfrm>
          <a:prstGeom prst="rect">
            <a:avLst/>
          </a:prstGeom>
          <a:solidFill>
            <a:srgbClr val="7B61A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oint 4">
            <a:extLst>
              <a:ext uri="{FF2B5EF4-FFF2-40B4-BE49-F238E27FC236}">
                <a16:creationId xmlns:a16="http://schemas.microsoft.com/office/drawing/2014/main" id="{FB9F9ADA-41A8-49C7-83CA-0F65CA57F3A1}"/>
              </a:ext>
            </a:extLst>
          </p:cNvPr>
          <p:cNvSpPr>
            <a:spLocks noGrp="1"/>
          </p:cNvSpPr>
          <p:nvPr/>
        </p:nvSpPr>
        <p:spPr>
          <a:xfrm>
            <a:off x="1104900" y="2717080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Chạy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demo Dorado</a:t>
            </a:r>
            <a:r>
              <a:rPr lang="vi-VN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basecaller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Accent 5">
            <a:extLst>
              <a:ext uri="{FF2B5EF4-FFF2-40B4-BE49-F238E27FC236}">
                <a16:creationId xmlns:a16="http://schemas.microsoft.com/office/drawing/2014/main" id="{5311D711-A5D9-405C-BAF9-2A313225B52D}"/>
              </a:ext>
            </a:extLst>
          </p:cNvPr>
          <p:cNvSpPr>
            <a:spLocks noGrp="1"/>
          </p:cNvSpPr>
          <p:nvPr/>
        </p:nvSpPr>
        <p:spPr>
          <a:xfrm>
            <a:off x="876300" y="4133850"/>
            <a:ext cx="66675" cy="495300"/>
          </a:xfrm>
          <a:prstGeom prst="rect">
            <a:avLst/>
          </a:prstGeom>
          <a:solidFill>
            <a:srgbClr val="D49A2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oint 5">
            <a:extLst>
              <a:ext uri="{FF2B5EF4-FFF2-40B4-BE49-F238E27FC236}">
                <a16:creationId xmlns:a16="http://schemas.microsoft.com/office/drawing/2014/main" id="{43C38B1F-04D8-4960-8CA1-1A8C3CD34BEE}"/>
              </a:ext>
            </a:extLst>
          </p:cNvPr>
          <p:cNvSpPr>
            <a:spLocks noGrp="1"/>
          </p:cNvSpPr>
          <p:nvPr/>
        </p:nvSpPr>
        <p:spPr>
          <a:xfrm>
            <a:off x="1104900" y="4129908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Tạo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FASTQ, reference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và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BED chr20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dùng</a:t>
            </a:r>
            <a:r>
              <a:rPr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ho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buổi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theo</a:t>
            </a:r>
            <a:r>
              <a:rPr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.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oint 4">
            <a:extLst>
              <a:ext uri="{FF2B5EF4-FFF2-40B4-BE49-F238E27FC236}">
                <a16:creationId xmlns:a16="http://schemas.microsoft.com/office/drawing/2014/main" id="{876E0EAD-89B1-B1FF-3E1F-7D1EFFEAD5A0}"/>
              </a:ext>
            </a:extLst>
          </p:cNvPr>
          <p:cNvSpPr>
            <a:spLocks noGrp="1"/>
          </p:cNvSpPr>
          <p:nvPr/>
        </p:nvSpPr>
        <p:spPr>
          <a:xfrm>
            <a:off x="1104900" y="1395412"/>
            <a:ext cx="101536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202A33"/>
                </a:solidFill>
                <a:latin typeface="Arial"/>
                <a:ea typeface="Arial"/>
                <a:cs typeface="Arial"/>
              </a:defRPr>
            </a:pP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Tổ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chức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thư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mục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cho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dự</a:t>
            </a:r>
            <a:r>
              <a:rPr lang="en-US" sz="1575" dirty="0">
                <a:solidFill>
                  <a:srgbClr val="202A33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75" dirty="0" err="1">
                <a:solidFill>
                  <a:srgbClr val="202A33"/>
                </a:solidFill>
                <a:latin typeface="Arial"/>
                <a:ea typeface="Arial"/>
                <a:cs typeface="Arial"/>
              </a:rPr>
              <a:t>án</a:t>
            </a:r>
            <a:endParaRPr sz="1575" dirty="0">
              <a:solidFill>
                <a:srgbClr val="202A3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53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A8E7211-2DAD-49FC-B2DD-DCC255EC2B4E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Cài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Conda</a:t>
            </a:r>
            <a:r>
              <a:rPr lang="vi-VN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– bài tập buổi 1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D277A753-B6FB-4045-B5A5-8B9CAEA8D661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4DDC0-108E-B0E3-C92C-81BDE2A8BAA4}"/>
              </a:ext>
            </a:extLst>
          </p:cNvPr>
          <p:cNvSpPr txBox="1"/>
          <p:nvPr/>
        </p:nvSpPr>
        <p:spPr>
          <a:xfrm>
            <a:off x="838200" y="2087671"/>
            <a:ext cx="77954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#installation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cd /</a:t>
            </a:r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tmp</a:t>
            </a: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wget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https://repo.anaconda.com/miniconda/Miniconda3-latest-Linux-x86_64.sh</a:t>
            </a: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bash Miniconda3-latest-Linux-x86_64.sh</a:t>
            </a:r>
          </a:p>
          <a:p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#follow instruction</a:t>
            </a:r>
          </a:p>
          <a:p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7A91F-BB83-1189-79E5-39D7B372FCC8}"/>
              </a:ext>
            </a:extLst>
          </p:cNvPr>
          <p:cNvSpPr txBox="1"/>
          <p:nvPr/>
        </p:nvSpPr>
        <p:spPr>
          <a:xfrm>
            <a:off x="8751687" y="728000"/>
            <a:ext cx="23969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name: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ont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channels: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-forge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defaults</a:t>
            </a:r>
          </a:p>
          <a:p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dependencies: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python=3.11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wget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curl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unzip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gzip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tree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seqkit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nanoplot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minimap2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bcftools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htslib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tabix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0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kicker">
            <a:extLst>
              <a:ext uri="{FF2B5EF4-FFF2-40B4-BE49-F238E27FC236}">
                <a16:creationId xmlns:a16="http://schemas.microsoft.com/office/drawing/2014/main" id="{27F39FD5-FDE7-4B61-88E8-3F701F8D89B5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8F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5E8"/>
                </a:solidFill>
                <a:latin typeface="Arial"/>
                <a:ea typeface="Arial"/>
                <a:cs typeface="Arial"/>
              </a:rPr>
              <a:t>PHẦN 1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35624B14-3F9B-4FEE-BDDC-97BD9ECC2B46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Tổ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chức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thư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dự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án</a:t>
            </a:r>
            <a:endParaRPr sz="3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ction accent">
            <a:extLst>
              <a:ext uri="{FF2B5EF4-FFF2-40B4-BE49-F238E27FC236}">
                <a16:creationId xmlns:a16="http://schemas.microsoft.com/office/drawing/2014/main" id="{2258A04C-A57F-4D19-B998-FAAA073306E2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5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75F1C-9015-7BD7-0F4A-A500872FF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778" y="1238969"/>
            <a:ext cx="3452595" cy="4839534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390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Tạo thư mục gốc và các nhánh chính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4762500" cy="2521609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</a:t>
            </a: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ONT_</a:t>
            </a:r>
            <a:r>
              <a:rPr lang="en-US"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practice</a:t>
            </a:r>
            <a:endParaRPr sz="1575" dirty="0">
              <a:solidFill>
                <a:srgbClr val="17242B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</a:endParaRP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</a:t>
            </a:r>
            <a:r>
              <a:rPr lang="en-US"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ONT_practice</a:t>
            </a:r>
            <a:endParaRPr sz="1575" dirty="0">
              <a:solidFill>
                <a:srgbClr val="17242B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</a:endParaRP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p</a:t>
            </a: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wd</a:t>
            </a:r>
            <a:endParaRPr lang="en-US" sz="1575" dirty="0">
              <a:solidFill>
                <a:srgbClr val="17242B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</a:endParaRP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config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data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results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scripts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logs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docs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3653CF-E8F6-5EC3-4A88-4A4792856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16" y="1028700"/>
            <a:ext cx="3452595" cy="4839534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Tạo các thư mục con bằng navigation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4762500" cy="2665023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data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raw reference </a:t>
            </a: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fastq</a:t>
            </a:r>
            <a:endParaRPr sz="1575" dirty="0">
              <a:solidFill>
                <a:srgbClr val="17242B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raw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pod5_demo </a:t>
            </a: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wf_demo</a:t>
            </a:r>
            <a:endParaRPr sz="1575" dirty="0">
              <a:solidFill>
                <a:srgbClr val="17242B"/>
              </a:solidFill>
              <a:latin typeface="Consolas" panose="020B0609020204030204" pitchFamily="49" charset="0"/>
              <a:ea typeface="Courier New"/>
              <a:cs typeface="Consolas" panose="020B0609020204030204" pitchFamily="49" charset="0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../..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results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01_qc 02_alignment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03_clair3 04_annotation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mkdir</a:t>
            </a: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 05_nextflow_demo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nsolas" panose="020B0609020204030204" pitchFamily="49" charset="0"/>
                <a:ea typeface="Courier New"/>
                <a:cs typeface="Consolas" panose="020B0609020204030204" pitchFamily="49" charset="0"/>
              </a:rPr>
              <a:t>cd ..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345E46-89FC-49E6-9889-BC26047F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205" y="1085850"/>
            <a:ext cx="3452595" cy="4839534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013572-7482-ACD6-26A5-4329C15E3DAC}"/>
              </a:ext>
            </a:extLst>
          </p:cNvPr>
          <p:cNvSpPr txBox="1"/>
          <p:nvPr/>
        </p:nvSpPr>
        <p:spPr>
          <a:xfrm>
            <a:off x="876300" y="4347713"/>
            <a:ext cx="5883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../: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Lùi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lại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một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thư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mục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Có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thể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tạo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nhiều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thư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mục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trong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một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lệnh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85FF980A-4D5B-4021-ACAB-878B13232B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Kiểm tra cây thư mục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68B295F-71C1-467D-A795-DAF5681619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9B243964-8951-4987-8064-15FA6FCB1BB8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5524500" cy="1703358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pwd</a:t>
            </a:r>
            <a:endParaRPr sz="15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ls -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lh</a:t>
            </a:r>
            <a:endParaRPr sz="15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tree -L 3</a:t>
            </a:r>
            <a:endParaRPr lang="vi-VN" sz="15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sz="15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nếu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không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có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tree: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find . -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maxdepth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3 -type d | sort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CC944E-CFA7-8E11-9FFC-E0E5439B2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22" y="1238250"/>
            <a:ext cx="2359884" cy="3307871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4675D3-F436-D6F9-AC5B-03057DACD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625" y="1238251"/>
            <a:ext cx="2924853" cy="330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85FF980A-4D5B-4021-ACAB-878B13232B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Đường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dẫn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tương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đối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và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tuyệt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đối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trong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unix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68B295F-71C1-467D-A795-DAF5681619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D168D-F7C3-ACC6-9511-F5A84BA8B697}"/>
              </a:ext>
            </a:extLst>
          </p:cNvPr>
          <p:cNvSpPr txBox="1"/>
          <p:nvPr/>
        </p:nvSpPr>
        <p:spPr>
          <a:xfrm>
            <a:off x="974785" y="1500996"/>
            <a:ext cx="58142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Đường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dẫn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tuyệt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đối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đường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dẫn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luôn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bắt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đầu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từ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“/”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Có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thể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truy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cập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được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ở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bất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kỳ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đâu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/Users/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lamnguyen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/Works/ONT/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ONT_practice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Đường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dẫn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tương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đối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là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đường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dẫn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tính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từ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vị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trí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hiện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tại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ONT_practice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./config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./data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5FA56-E446-5BA0-CCA8-31B663A0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435" y="1500996"/>
            <a:ext cx="4782541" cy="414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7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kicker">
            <a:extLst>
              <a:ext uri="{FF2B5EF4-FFF2-40B4-BE49-F238E27FC236}">
                <a16:creationId xmlns:a16="http://schemas.microsoft.com/office/drawing/2014/main" id="{27F39FD5-FDE7-4B61-88E8-3F701F8D89B5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8F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5E8"/>
                </a:solidFill>
                <a:latin typeface="Arial"/>
                <a:ea typeface="Arial"/>
                <a:cs typeface="Arial"/>
              </a:rPr>
              <a:t>PHẦN 2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35624B14-3F9B-4FEE-BDDC-97BD9ECC2B46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POD5 tools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Dorado </a:t>
            </a: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basecalling</a:t>
            </a:r>
            <a:endParaRPr sz="3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ction accent">
            <a:extLst>
              <a:ext uri="{FF2B5EF4-FFF2-40B4-BE49-F238E27FC236}">
                <a16:creationId xmlns:a16="http://schemas.microsoft.com/office/drawing/2014/main" id="{2258A04C-A57F-4D19-B998-FAAA073306E2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5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90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</a:t>
            </a:r>
            <a:r>
              <a:rPr lang="en-US" altLang="ko-KR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ài</a:t>
            </a:r>
            <a:r>
              <a:rPr lang="en-US" altLang="ko-KR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ko-KR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đặt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POD5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38200" y="2631226"/>
            <a:ext cx="10477500" cy="2216819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conda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activate 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ont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		# Activate môi trường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conda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install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pod5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		# Cài POD5 vào môi trường vừa được activate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which pod5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				# Xem thưc mục cài đặt của pod5 ở đâu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pod5 –help				# Xem</a:t>
            </a:r>
            <a:r>
              <a:rPr lang="ko-KR" alt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hướng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dẫn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tổng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quản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của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phần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mềm</a:t>
            </a:r>
            <a:endParaRPr lang="en-US" altLang="ko-KR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pod5 inspect 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help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		# Xem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hướng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dẫn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sử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dụng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của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inspect </a:t>
            </a:r>
            <a:r>
              <a:rPr lang="en-US" altLang="ko-KR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trong</a:t>
            </a:r>
            <a:r>
              <a:rPr lang="en-US" altLang="ko-KR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pod5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4245F7F-F906-0920-48A5-5BB292B5D55C}"/>
              </a:ext>
            </a:extLst>
          </p:cNvPr>
          <p:cNvSpPr/>
          <p:nvPr/>
        </p:nvSpPr>
        <p:spPr>
          <a:xfrm>
            <a:off x="838200" y="1257300"/>
            <a:ext cx="10477500" cy="914400"/>
          </a:xfrm>
          <a:prstGeom prst="roundRect">
            <a:avLst>
              <a:gd name="adj" fmla="val 73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POD5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mềm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đọc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file POD5</a:t>
            </a:r>
          </a:p>
        </p:txBody>
      </p:sp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Tải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và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inspect POD5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299" y="1285875"/>
            <a:ext cx="10628129" cy="3018706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Go to thư mục </a:t>
            </a:r>
            <a:r>
              <a:rPr lang="vi-VN" sz="1575" b="1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ONT_practice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wget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-O data/raw/pod5_demo/dorado_r10_demo.pod5 </a:t>
            </a:r>
            <a:r>
              <a:rPr lang="en-US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https://</a:t>
            </a:r>
            <a:r>
              <a:rPr lang="en-US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raw.githubusercontent.com</a:t>
            </a:r>
            <a:r>
              <a:rPr lang="en-US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en-US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nanoporetech</a:t>
            </a:r>
            <a:r>
              <a:rPr lang="en-US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/dorado/release-v2.1/tests/data/pod5/dna_r10.4.1_e8.2_400bps_5khz/dna_r10.4.1_e8.2_400bps_5khz-FLO_PRO114M-SQK_LSK114_XL-5000.pod5</a:t>
            </a:r>
            <a:endParaRPr lang="vi-VN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pod5 inspect summary data/raw/pod5_demo/dorado_r10_demo.pod5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pod5 inspect reads data/raw/pod5_demo/dorado_r10_demo.pod5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EB35D0-A29F-F539-8E2E-4AC3CC785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84" y="4504606"/>
            <a:ext cx="5869558" cy="6417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0DE1A2-408B-BDA6-5D9D-5750CF93C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504606"/>
            <a:ext cx="5682429" cy="172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Cài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đặt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Dorado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287000" cy="3428738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Github: 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  <a:hlinkClick r:id="rId3"/>
              </a:rPr>
              <a:t>https://github.com/nanoporetech/dorado</a:t>
            </a: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uname –m	# Kiểm tra cấu trúc CPU của máy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nproc		# Kiểm tra số lượng CPU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download and unzip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pwd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export to the path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vi-VN" sz="12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export PATH=$PATH:/Users/lamnguyen/Works/ONT/ONT_practice/tools/dorado-2.1.2-osx-arm64/bin # chỉ là ví dụ, đường dẫn sẽ tuỳ thuộc vào từng máy.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dorado 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–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version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dorado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basecaller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–help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dorado 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basecaller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--help | grep -E '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device|emit-fastq|max-reads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'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74016D-D6BD-2693-D8AF-B4CFA008D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229" y="4914638"/>
            <a:ext cx="10233897" cy="140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Dorado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basecaller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to FASTQ</a:t>
            </a:r>
            <a:endParaRPr sz="2550" b="1" dirty="0">
              <a:solidFill>
                <a:srgbClr val="0F84A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5751004" cy="2297797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dorado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basecaller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fast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data/raw/pod5_demo/dorado_r10_demo.pod5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--device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cpu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--max-reads 1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--emit-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&gt; data/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/pod5_demo_fast.fastq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2&gt; data/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/pod5_demo_fast.log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Practice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basecaller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“hac” and “sup” option</a:t>
            </a:r>
          </a:p>
        </p:txBody>
      </p:sp>
      <p:sp>
        <p:nvSpPr>
          <p:cNvPr id="17" name="Code block">
            <a:extLst>
              <a:ext uri="{FF2B5EF4-FFF2-40B4-BE49-F238E27FC236}">
                <a16:creationId xmlns:a16="http://schemas.microsoft.com/office/drawing/2014/main" id="{9F06173E-9691-7244-A23A-7C27FBFDA394}"/>
              </a:ext>
            </a:extLst>
          </p:cNvPr>
          <p:cNvSpPr>
            <a:spLocks noGrp="1"/>
          </p:cNvSpPr>
          <p:nvPr/>
        </p:nvSpPr>
        <p:spPr>
          <a:xfrm>
            <a:off x="6866592" y="1285874"/>
            <a:ext cx="5011373" cy="2297797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Standard input and output</a:t>
            </a: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0	stdin	0&lt; = &lt;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wc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–l &lt; input</a:t>
            </a: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1	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stdout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1&gt; = &gt;</a:t>
            </a: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2	stderr	2&gt; = 2&gt;</a:t>
            </a:r>
          </a:p>
          <a:p>
            <a:pPr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Các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kiểu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ghi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trong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unix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&gt;       #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stdout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ghi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đè</a:t>
            </a:r>
            <a:endParaRPr lang="en-US" sz="14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&gt;&gt;      #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stdout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, append</a:t>
            </a: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2&gt;&amp;1    # stderr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đi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cùng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stdout</a:t>
            </a:r>
            <a:endParaRPr lang="en-US" sz="1400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&amp;&gt;      #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stdout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+ stderr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vào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4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cùng</a:t>
            </a:r>
            <a:r>
              <a:rPr lang="en-US" sz="14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file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10F3CF-BB42-2756-52A0-DB96CFC6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805943"/>
            <a:ext cx="11001665" cy="269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85FF980A-4D5B-4021-ACAB-878B13232B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Kiểm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tra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FASTQ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68B295F-71C1-467D-A795-DAF5681619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9B243964-8951-4987-8064-15FA6FCB1BB8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10797540" cy="116332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zcat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data/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/pod5_demo.fastq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3B84DD-2B9A-5240-226B-17E098551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917272"/>
            <a:ext cx="7772400" cy="1425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4AAE01-6A8D-04A5-79B8-2948A601FC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589" r="56125"/>
          <a:stretch/>
        </p:blipFill>
        <p:spPr>
          <a:xfrm>
            <a:off x="876301" y="4915629"/>
            <a:ext cx="10797540" cy="11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kicker">
            <a:extLst>
              <a:ext uri="{FF2B5EF4-FFF2-40B4-BE49-F238E27FC236}">
                <a16:creationId xmlns:a16="http://schemas.microsoft.com/office/drawing/2014/main" id="{27F39FD5-FDE7-4B61-88E8-3F701F8D89B5}"/>
              </a:ext>
            </a:extLst>
          </p:cNvPr>
          <p:cNvSpPr>
            <a:spLocks noGrp="1"/>
          </p:cNvSpPr>
          <p:nvPr/>
        </p:nvSpPr>
        <p:spPr>
          <a:xfrm>
            <a:off x="876300" y="17621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1">
                <a:solidFill>
                  <a:srgbClr val="8FD5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5E8"/>
                </a:solidFill>
                <a:latin typeface="Arial"/>
                <a:ea typeface="Arial"/>
                <a:cs typeface="Arial"/>
              </a:rPr>
              <a:t>PHẦN 3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35624B14-3F9B-4FEE-BDDC-97BD9ECC2B46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962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Tạo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</a:t>
            </a: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HG002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các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tiếp</a:t>
            </a: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</a:t>
            </a:r>
            <a:endParaRPr sz="3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ection accent">
            <a:extLst>
              <a:ext uri="{FF2B5EF4-FFF2-40B4-BE49-F238E27FC236}">
                <a16:creationId xmlns:a16="http://schemas.microsoft.com/office/drawing/2014/main" id="{2258A04C-A57F-4D19-B998-FAAA073306E2}"/>
              </a:ext>
            </a:extLst>
          </p:cNvPr>
          <p:cNvSpPr>
            <a:spLocks noGrp="1"/>
          </p:cNvSpPr>
          <p:nvPr/>
        </p:nvSpPr>
        <p:spPr>
          <a:xfrm>
            <a:off x="876300" y="3810000"/>
            <a:ext cx="2286000" cy="952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901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Tải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và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giải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nén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dự</a:t>
            </a:r>
            <a:r>
              <a:rPr lang="en-US"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50" b="1" dirty="0" err="1">
                <a:solidFill>
                  <a:srgbClr val="0F84AA"/>
                </a:solidFill>
                <a:latin typeface="Arial"/>
                <a:ea typeface="Arial"/>
                <a:cs typeface="Arial"/>
              </a:rPr>
              <a:t>liệu</a:t>
            </a:r>
            <a:r>
              <a:rPr sz="2550" b="1" dirty="0">
                <a:solidFill>
                  <a:srgbClr val="0F84AA"/>
                </a:solidFill>
                <a:latin typeface="Arial"/>
                <a:ea typeface="Arial"/>
                <a:cs typeface="Arial"/>
              </a:rPr>
              <a:t> demo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299" y="1285875"/>
            <a:ext cx="10973193" cy="3031012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wget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-O 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wf-demo.tar.gz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'https://ont-exd-int-s3-euwst1-epi2me-labs.s3.amazonaws.com/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-human-variation/hg002%2bmods.v1/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-human-variation-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demo.tar.gz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’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#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tải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file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từ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web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về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tar -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tzf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wf-demo.tar.gz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# view danh sách file trong file nén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tar -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xzf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wf-demo.tar.gz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\</a:t>
            </a:r>
            <a:r>
              <a:rPr lang="vi-VN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	# giải nén file nén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 -C 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cd 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-human-variation-demo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md5sum -c md5sums.txt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cd ../../..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3DF474-449B-26DB-CF9A-C7B4FB5DC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746" y="3878541"/>
            <a:ext cx="5838531" cy="253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Tạo BED và reference chr20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4"/>
            <a:ext cx="10515600" cy="2530953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DEMO=data/raw/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-human-variation-demo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#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lấy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tất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cả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các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dòng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bắt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đầu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bằng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chr20</a:t>
            </a: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awk '$1=="chr20"' "$DEMO/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demo.bed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" &gt; config/target.chr20.bed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faidx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"$DEMO/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demo.fasta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" chr20 &gt; data/reference/GRCh38.chr20.fa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vi-VN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faidx</a:t>
            </a:r>
            <a:r>
              <a:rPr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data/reference/GRCh38.chr20.fa</a:t>
            </a: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cat data/reference/GRCh38.chr20.fa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678A7-0537-4573-17E0-3768D1444839}"/>
              </a:ext>
            </a:extLst>
          </p:cNvPr>
          <p:cNvSpPr txBox="1"/>
          <p:nvPr/>
        </p:nvSpPr>
        <p:spPr>
          <a:xfrm>
            <a:off x="876300" y="4054951"/>
            <a:ext cx="609442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chr20   64444167   7   70   71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│       │          │   │    │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│       │          │   │    └─ 71 bytes/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dòng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│       │          │   └────── 70 bases/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dòng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│       │          └────────── offset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│       └─────────────────────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tổng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64,444,167 bases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└─────────────────────────────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tên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sequence</a:t>
            </a:r>
          </a:p>
        </p:txBody>
      </p:sp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0E5A15E2-AB28-4337-87FE-6951D34A6045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Tạo FASTQ HG002 chr20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CA449EB0-270F-4E2A-A3A1-311B4C63B1F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C66AE2A2-3A55-43B3-9824-E7815119BEC2}"/>
              </a:ext>
            </a:extLst>
          </p:cNvPr>
          <p:cNvSpPr>
            <a:spLocks noGrp="1"/>
          </p:cNvSpPr>
          <p:nvPr/>
        </p:nvSpPr>
        <p:spPr>
          <a:xfrm>
            <a:off x="876300" y="1285875"/>
            <a:ext cx="10515600" cy="1259362"/>
          </a:xfrm>
          <a:prstGeom prst="roundRect">
            <a:avLst>
              <a:gd name="adj" fmla="val 1951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view -b data/raw/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wf_demo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wf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-human-variation-demo/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demo.bam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chr20 |\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samtools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 | \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gzip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-c &gt; data/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/HG002.chr20.fastq.gz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zcat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data/</a:t>
            </a:r>
            <a:r>
              <a:rPr lang="en-US" sz="1575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lang="en-US" sz="1575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/HG002.chr20.fastq.gz | head</a:t>
            </a: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lang="en-US"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  <a:p>
            <a:pPr>
              <a:buNone/>
              <a:defRPr sz="1575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endParaRPr sz="1575" dirty="0">
              <a:solidFill>
                <a:srgbClr val="17242B"/>
              </a:solidFill>
              <a:latin typeface="Courier New"/>
              <a:ea typeface="Courier New"/>
              <a:cs typeface="Courier New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B541BC-0F08-92E4-C4AC-988D2041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783362"/>
            <a:ext cx="11197932" cy="76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85FF980A-4D5B-4021-ACAB-878B13232B48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Checkpoint cuối Buổi 2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068B295F-71C1-467D-A795-DAF568161917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Code block">
            <a:extLst>
              <a:ext uri="{FF2B5EF4-FFF2-40B4-BE49-F238E27FC236}">
                <a16:creationId xmlns:a16="http://schemas.microsoft.com/office/drawing/2014/main" id="{9B243964-8951-4987-8064-15FA6FCB1BB8}"/>
              </a:ext>
            </a:extLst>
          </p:cNvPr>
          <p:cNvSpPr>
            <a:spLocks noGrp="1"/>
          </p:cNvSpPr>
          <p:nvPr/>
        </p:nvSpPr>
        <p:spPr>
          <a:xfrm>
            <a:off x="838201" y="1085850"/>
            <a:ext cx="5668925" cy="10756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B8CDD5"/>
            </a:solidFill>
            <a:prstDash val="solid"/>
          </a:ln>
        </p:spPr>
        <p:txBody>
          <a:bodyPr/>
          <a:lstStyle/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gzip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 -t data/</a:t>
            </a:r>
            <a:r>
              <a:rPr sz="1500" dirty="0" err="1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fastq</a:t>
            </a: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/HG002.chr20.fastq.gz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head config/target.chr20.bed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cut -f1,2 data/reference/GRCh38.chr20.fa.fai</a:t>
            </a:r>
          </a:p>
          <a:p>
            <a:pPr>
              <a:buNone/>
              <a:defRPr sz="1500">
                <a:solidFill>
                  <a:srgbClr val="17242B"/>
                </a:solidFill>
                <a:latin typeface="Courier New"/>
                <a:ea typeface="Courier New"/>
                <a:cs typeface="Courier New"/>
              </a:defRPr>
            </a:pPr>
            <a:r>
              <a:rPr sz="1500" dirty="0">
                <a:solidFill>
                  <a:srgbClr val="17242B"/>
                </a:solidFill>
                <a:latin typeface="Courier New"/>
                <a:ea typeface="Courier New"/>
                <a:cs typeface="Courier New"/>
              </a:rPr>
              <a:t>tree -L 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75364D-D82B-0B47-01E6-7F43991E6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081" y="361950"/>
            <a:ext cx="3535850" cy="63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24D0993E-202B-4014-9541-9446C4E58AFC}"/>
              </a:ext>
            </a:extLst>
          </p:cNvPr>
          <p:cNvSpPr>
            <a:spLocks noGrp="1"/>
          </p:cNvSpPr>
          <p:nvPr/>
        </p:nvSpPr>
        <p:spPr>
          <a:xfrm>
            <a:off x="838200" y="361950"/>
            <a:ext cx="1051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550" b="1">
                <a:solidFill>
                  <a:srgbClr val="0F84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84AA"/>
                </a:solidFill>
                <a:latin typeface="Arial"/>
                <a:ea typeface="Arial"/>
                <a:cs typeface="Arial"/>
              </a:rPr>
              <a:t>Bài tập về nhà Buổi 2</a:t>
            </a:r>
          </a:p>
        </p:txBody>
      </p:sp>
      <p:sp>
        <p:nvSpPr>
          <p:cNvPr id="2" name="Title accent">
            <a:extLst>
              <a:ext uri="{FF2B5EF4-FFF2-40B4-BE49-F238E27FC236}">
                <a16:creationId xmlns:a16="http://schemas.microsoft.com/office/drawing/2014/main" id="{57D362B7-B49A-4D88-B4D7-6ABB16765900}"/>
              </a:ext>
            </a:extLst>
          </p:cNvPr>
          <p:cNvSpPr>
            <a:spLocks noGrp="1"/>
          </p:cNvSpPr>
          <p:nvPr/>
        </p:nvSpPr>
        <p:spPr>
          <a:xfrm>
            <a:off x="838200" y="1028700"/>
            <a:ext cx="1619250" cy="57150"/>
          </a:xfrm>
          <a:prstGeom prst="rect">
            <a:avLst/>
          </a:prstGeom>
          <a:solidFill>
            <a:srgbClr val="E9713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E7A10-68F3-DD33-D4A8-9D5859C91D23}"/>
              </a:ext>
            </a:extLst>
          </p:cNvPr>
          <p:cNvSpPr txBox="1"/>
          <p:nvPr/>
        </p:nvSpPr>
        <p:spPr>
          <a:xfrm>
            <a:off x="1020726" y="1541721"/>
            <a:ext cx="10515601" cy="245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Thực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hành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Dorado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basecaller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với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“fast” “hac”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và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“sup”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và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tuyệt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nhiêu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fastq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vừa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chr20: 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data/</a:t>
            </a:r>
            <a:r>
              <a:rPr lang="en-US" sz="2000" dirty="0" err="1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fastq</a:t>
            </a:r>
            <a:r>
              <a:rPr lang="en-US" sz="2000" dirty="0">
                <a:solidFill>
                  <a:srgbClr val="17242B"/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</a:rPr>
              <a:t>/HG002.chr20.fastq.gz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95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1246</Words>
  <Application>Microsoft Macintosh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Courier New</vt:lpstr>
      <vt:lpstr>Office Theme</vt:lpstr>
      <vt:lpstr>Introduction to Bioinformatics with Oxford Nanopore Sequencing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Van Lam Nguyen</cp:lastModifiedBy>
  <cp:revision>6</cp:revision>
  <dcterms:created xsi:type="dcterms:W3CDTF">2026-09-06T03:15:47Z</dcterms:created>
  <dcterms:modified xsi:type="dcterms:W3CDTF">2026-09-09T22:09:30Z</dcterms:modified>
</cp:coreProperties>
</file>