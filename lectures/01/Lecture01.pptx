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9" r:id="rId4"/>
    <p:sldId id="267" r:id="rId5"/>
    <p:sldId id="272" r:id="rId6"/>
    <p:sldId id="269" r:id="rId7"/>
    <p:sldId id="268" r:id="rId8"/>
    <p:sldId id="271" r:id="rId9"/>
    <p:sldId id="261" r:id="rId10"/>
    <p:sldId id="265" r:id="rId11"/>
    <p:sldId id="262" r:id="rId12"/>
    <p:sldId id="263" r:id="rId13"/>
    <p:sldId id="279" r:id="rId14"/>
    <p:sldId id="280" r:id="rId15"/>
    <p:sldId id="281" r:id="rId16"/>
    <p:sldId id="260" r:id="rId17"/>
    <p:sldId id="275" r:id="rId18"/>
    <p:sldId id="278" r:id="rId19"/>
    <p:sldId id="282" r:id="rId20"/>
    <p:sldId id="273" r:id="rId21"/>
    <p:sldId id="277" r:id="rId22"/>
    <p:sldId id="276" r:id="rId23"/>
    <p:sldId id="274" r:id="rId24"/>
    <p:sldId id="28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65"/>
  </p:normalViewPr>
  <p:slideViewPr>
    <p:cSldViewPr snapToGrid="0">
      <p:cViewPr>
        <p:scale>
          <a:sx n="116" d="100"/>
          <a:sy n="116" d="100"/>
        </p:scale>
        <p:origin x="6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42E4F6-A647-214B-BDF8-0EFCA9951952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60FE58-CBDE-0A4A-BBEA-D4F5C203A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33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ASCII converter: https://</a:t>
            </a:r>
            <a:r>
              <a:rPr lang="en-US" dirty="0" err="1"/>
              <a:t>jamiemcgowan.ie</a:t>
            </a:r>
            <a:r>
              <a:rPr lang="en-US" dirty="0"/>
              <a:t>/</a:t>
            </a:r>
            <a:r>
              <a:rPr lang="en-US" dirty="0" err="1"/>
              <a:t>bioinf</a:t>
            </a:r>
            <a:r>
              <a:rPr lang="en-US" dirty="0"/>
              <a:t>/</a:t>
            </a:r>
            <a:r>
              <a:rPr lang="en-US" dirty="0" err="1"/>
              <a:t>phred.html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0FE58-CBDE-0A4A-BBEA-D4F5C203AD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86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name: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channels: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conda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-forge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bioconda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defaults</a:t>
            </a:r>
          </a:p>
          <a:p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dependencies: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python=3.10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wget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curl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unzip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gzip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tree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seqkit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nanoplot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minimap2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bcftools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htslib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tabix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0FE58-CBDE-0A4A-BBEA-D4F5C203AD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67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FA5B9-5BF1-B50D-5BAE-A229DB179A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C9FDA5-592A-666B-0E30-0DAF4C6ED5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1CC01-1E7C-A6DA-AB33-747E67C16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72309-7945-8334-4676-2816A957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ECEAB-C954-5C57-9F0C-27C1A133B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322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B50CE-DDB2-C6F1-0E2C-84A0F1DB1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6A5FE-BD29-2F87-99B6-55296C460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96091-9086-BFB4-7FCF-91E230274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02AE4-41F8-9235-E8FF-3C140FAB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6C11-AC07-6FDD-17F6-0E5CA622B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07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5952-5104-0DF1-3298-CA011779F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8B6440-01AD-17D8-7E7F-286B2B8CB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F8C8-2AB4-8ECE-C678-F984BF8F2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21C71-EFDB-3129-1C22-8FAC7CECB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240E1-3242-8309-7049-4C7A847D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2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F2A21-0332-077B-CA9E-5970E9B66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7E85-DACB-435E-388E-84AAF95863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42720"/>
            <a:ext cx="5593080" cy="47342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8CE932-5AED-44C1-F416-1D183178E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42720"/>
            <a:ext cx="5593080" cy="47342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0908CA-FE11-58FA-E118-FE91E475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9C0CC-C9AF-2B0E-5E94-5CB8CE88E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61A17-A87A-B91C-AD00-52C6B7824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368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187F8-CB13-D112-46A0-1400F47D4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CCC29-0D4A-7CDA-DAD6-404AF832B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33EF4-BB80-C262-BF5F-067AA6470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ACD9EE-6F9C-56C2-42A4-82213E42C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A4CFD-4534-94A3-A3F5-CD5051A8F4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5A5184-F97A-0CBC-E93D-29B111114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D1F077-C773-D89A-6AA9-5A858ED89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4FDD54-F56C-492B-F7E5-29D11549E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07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3AD75-1680-56E2-667D-5144DF927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78F568-954E-8FF2-5958-8228CD34A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2F8CA-F620-9E78-6620-EF2CBD379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6A3AD-D7AD-35AB-503C-D6436AC8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43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349316-7366-3468-D447-649179C40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ACD0CB-9158-B544-BD49-1225FD48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E35E4-BCCB-9AD3-31CE-2DE2B5BB6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71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5BE80-F870-6D36-6659-6988EB273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B156F-BFA8-4422-F223-ECAEC21FF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96322-989C-AE62-067E-5B895570E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936132-FE35-22C4-77F0-58AC584C1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F304A-6356-6D0B-9DE7-917E760D2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81F05-5586-65FE-5B58-2295B5C13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033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AB09D-500F-21E5-8DF2-45A61C6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6804B4-2BDB-3D16-81E6-BD74D5AC98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2C85A4-F192-22FF-AA65-0E7267B564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8991F-DC65-C6BB-C072-DC0DF37F2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9D41F-7E1D-6A98-80A7-94D88B2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2F0CE-9A9C-5344-ADC2-02C056558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328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31B8-A32C-CC33-7C44-215DE8E2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93B4F-B7F5-E429-ED3A-E17BBCCBE2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19601-F4EC-FF07-39CA-A14861001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A81E5-BA5B-667E-5CDE-1433663E9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37CFC-4829-5A90-BB3A-B5F4DBE4B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90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DE8C9B-9793-D24F-7241-A81B371E8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AE245-6978-06B4-A190-BEA41E8E2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EA965-2C36-2350-D378-6343CDE97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7F304-BD5C-7217-D643-8365F8FBA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70655-B8E5-060B-A958-91459C404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13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D3A113-5CD4-608F-1763-2E2D9BFC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445"/>
            <a:ext cx="10927080" cy="7626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5C8F8-FCCA-98FF-2CD0-27F37B899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52880"/>
            <a:ext cx="10927080" cy="4724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A2CB3-C046-2323-3DD0-A66E320D24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0787A1-AE21-7749-8ABB-48F5E74FF1F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A3F5D-5345-0645-671D-8B1DACFB44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D6E75-5765-D15A-4066-A80F58F3AD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546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A5B4E-8CC0-F641-B9F8-098110D06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37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accent4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mailto:ont_bio@3.20.225.24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anaconda.com/miniconda/Miniconda3-latest-Linux-x86_64.sh%20-O%20~/miniconda3/miniconda.sh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D0565-21D1-05B5-3C3F-CF2149F74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139" y="1206796"/>
            <a:ext cx="10685721" cy="2387600"/>
          </a:xfrm>
        </p:spPr>
        <p:txBody>
          <a:bodyPr>
            <a:normAutofit/>
          </a:bodyPr>
          <a:lstStyle/>
          <a:p>
            <a:r>
              <a:rPr lang="en-US" sz="4800" dirty="0"/>
              <a:t>Introduction to Bioinformatics</a:t>
            </a:r>
            <a:br>
              <a:rPr lang="en-US" sz="4800" dirty="0"/>
            </a:br>
            <a:r>
              <a:rPr lang="en-US" sz="4000" dirty="0"/>
              <a:t>with Offord Nanopore Sequencing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18202-4EC3-B023-7471-C380673FE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5442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u="sng" dirty="0"/>
              <a:t>Van Lam Nguyen</a:t>
            </a:r>
          </a:p>
          <a:p>
            <a:r>
              <a:rPr lang="en-US" dirty="0"/>
              <a:t>Bioinformatic Research Scientist</a:t>
            </a:r>
          </a:p>
          <a:p>
            <a:r>
              <a:rPr lang="en-US" dirty="0"/>
              <a:t>Department of Computational Biology</a:t>
            </a:r>
          </a:p>
          <a:p>
            <a:r>
              <a:rPr lang="en-US" dirty="0"/>
              <a:t>St. Jude Children’s Research Hospital</a:t>
            </a:r>
          </a:p>
          <a:p>
            <a:r>
              <a:rPr lang="en-US" dirty="0"/>
              <a:t>Memphis, TN, USA</a:t>
            </a:r>
          </a:p>
        </p:txBody>
      </p:sp>
    </p:spTree>
    <p:extLst>
      <p:ext uri="{BB962C8B-B14F-4D97-AF65-F5344CB8AC3E}">
        <p14:creationId xmlns:p14="http://schemas.microsoft.com/office/powerpoint/2010/main" val="3866947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5F958-1DA6-581E-BAF6-1A57BEBF0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chung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9DF0B-94A3-2DFE-8355-17C84E4B5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Khoá</a:t>
            </a:r>
            <a:r>
              <a:rPr lang="en-US" sz="2000" dirty="0"/>
              <a:t> </a:t>
            </a:r>
            <a:r>
              <a:rPr lang="en-US" sz="2000" dirty="0" err="1"/>
              <a:t>học</a:t>
            </a:r>
            <a:r>
              <a:rPr lang="en-US" sz="2000" dirty="0"/>
              <a:t> </a:t>
            </a:r>
            <a:r>
              <a:rPr lang="en-US" sz="2000" dirty="0" err="1"/>
              <a:t>này</a:t>
            </a:r>
            <a:r>
              <a:rPr lang="en-US" sz="2000" dirty="0"/>
              <a:t> </a:t>
            </a:r>
            <a:r>
              <a:rPr lang="en-US" sz="2000" dirty="0" err="1"/>
              <a:t>được</a:t>
            </a:r>
            <a:r>
              <a:rPr lang="en-US" sz="2000" dirty="0"/>
              <a:t> </a:t>
            </a:r>
            <a:r>
              <a:rPr lang="en-US" sz="2000" dirty="0" err="1"/>
              <a:t>thiết</a:t>
            </a:r>
            <a:r>
              <a:rPr lang="en-US" sz="2000" dirty="0"/>
              <a:t> </a:t>
            </a:r>
            <a:r>
              <a:rPr lang="en-US" sz="2000" dirty="0" err="1"/>
              <a:t>kể</a:t>
            </a:r>
            <a:r>
              <a:rPr lang="en-US" sz="2000" dirty="0"/>
              <a:t> </a:t>
            </a:r>
            <a:r>
              <a:rPr lang="en-US" sz="2000" dirty="0" err="1"/>
              <a:t>cho</a:t>
            </a:r>
            <a:r>
              <a:rPr lang="en-US" sz="2000" dirty="0"/>
              <a:t> </a:t>
            </a:r>
            <a:r>
              <a:rPr lang="en-US" sz="2000" dirty="0" err="1"/>
              <a:t>các</a:t>
            </a:r>
            <a:r>
              <a:rPr lang="en-US" sz="2000" dirty="0"/>
              <a:t> </a:t>
            </a:r>
            <a:r>
              <a:rPr lang="en-US" sz="2000" dirty="0" err="1"/>
              <a:t>bạn</a:t>
            </a:r>
            <a:r>
              <a:rPr lang="en-US" sz="2000" dirty="0"/>
              <a:t> </a:t>
            </a:r>
            <a:r>
              <a:rPr lang="en-US" sz="2000" dirty="0" err="1"/>
              <a:t>có</a:t>
            </a:r>
            <a:r>
              <a:rPr lang="en-US" sz="2000" dirty="0"/>
              <a:t> </a:t>
            </a:r>
            <a:r>
              <a:rPr lang="en-US" sz="2000" dirty="0" err="1"/>
              <a:t>nền</a:t>
            </a:r>
            <a:r>
              <a:rPr lang="en-US" sz="2000" dirty="0"/>
              <a:t> </a:t>
            </a:r>
            <a:r>
              <a:rPr lang="en-US" sz="2000" dirty="0" err="1"/>
              <a:t>tảng</a:t>
            </a:r>
            <a:r>
              <a:rPr lang="en-US" sz="2000" dirty="0"/>
              <a:t> </a:t>
            </a:r>
            <a:r>
              <a:rPr lang="en-US" sz="2000" dirty="0" err="1"/>
              <a:t>vể</a:t>
            </a:r>
            <a:r>
              <a:rPr lang="en-US" sz="2000" dirty="0"/>
              <a:t> </a:t>
            </a:r>
            <a:r>
              <a:rPr lang="en-US" sz="2000" dirty="0" err="1"/>
              <a:t>sinh</a:t>
            </a:r>
            <a:r>
              <a:rPr lang="en-US" sz="2000" dirty="0"/>
              <a:t> </a:t>
            </a:r>
            <a:r>
              <a:rPr lang="en-US" sz="2000" dirty="0" err="1"/>
              <a:t>học</a:t>
            </a:r>
            <a:r>
              <a:rPr lang="en-US" sz="2000" dirty="0"/>
              <a:t>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bắt</a:t>
            </a:r>
            <a:r>
              <a:rPr lang="en-US" sz="2000" dirty="0"/>
              <a:t> </a:t>
            </a:r>
            <a:r>
              <a:rPr lang="en-US" sz="2000" dirty="0" err="1"/>
              <a:t>đầu</a:t>
            </a:r>
            <a:r>
              <a:rPr lang="en-US" sz="2000" dirty="0"/>
              <a:t> </a:t>
            </a:r>
            <a:r>
              <a:rPr lang="en-US" sz="2000" dirty="0" err="1"/>
              <a:t>làm</a:t>
            </a:r>
            <a:r>
              <a:rPr lang="en-US" sz="2000" dirty="0"/>
              <a:t> </a:t>
            </a:r>
            <a:r>
              <a:rPr lang="en-US" sz="2000" dirty="0" err="1"/>
              <a:t>quen</a:t>
            </a:r>
            <a:r>
              <a:rPr lang="en-US" sz="2000" dirty="0"/>
              <a:t> </a:t>
            </a:r>
            <a:r>
              <a:rPr lang="en-US" sz="2000" dirty="0" err="1"/>
              <a:t>với</a:t>
            </a:r>
            <a:r>
              <a:rPr lang="en-US" sz="2000" dirty="0"/>
              <a:t> Tin </a:t>
            </a:r>
            <a:r>
              <a:rPr lang="en-US" sz="2000" dirty="0" err="1"/>
              <a:t>sinh</a:t>
            </a:r>
            <a:r>
              <a:rPr lang="en-US" sz="2000" dirty="0"/>
              <a:t> </a:t>
            </a:r>
            <a:r>
              <a:rPr lang="en-US" sz="2000" dirty="0" err="1"/>
              <a:t>học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Tập</a:t>
            </a:r>
            <a:r>
              <a:rPr lang="en-US" sz="2000" dirty="0"/>
              <a:t> </a:t>
            </a:r>
            <a:r>
              <a:rPr lang="en-US" sz="2000" dirty="0" err="1"/>
              <a:t>trung</a:t>
            </a:r>
            <a:r>
              <a:rPr lang="en-US" sz="2000" dirty="0"/>
              <a:t> </a:t>
            </a:r>
            <a:r>
              <a:rPr lang="en-US" sz="2000" dirty="0" err="1"/>
              <a:t>vào</a:t>
            </a:r>
            <a:r>
              <a:rPr lang="en-US" sz="2000" dirty="0"/>
              <a:t> </a:t>
            </a:r>
            <a:r>
              <a:rPr lang="en-US" sz="2000" dirty="0" err="1"/>
              <a:t>dữ</a:t>
            </a:r>
            <a:r>
              <a:rPr lang="en-US" sz="2000" dirty="0"/>
              <a:t> </a:t>
            </a:r>
            <a:r>
              <a:rPr lang="en-US" sz="2000" dirty="0" err="1"/>
              <a:t>liệu</a:t>
            </a:r>
            <a:r>
              <a:rPr lang="en-US" sz="2000" dirty="0"/>
              <a:t> ONT sequencing, </a:t>
            </a:r>
            <a:r>
              <a:rPr lang="en-US" sz="2000" dirty="0" err="1"/>
              <a:t>với</a:t>
            </a:r>
            <a:r>
              <a:rPr lang="en-US" sz="2000" dirty="0"/>
              <a:t> workflow </a:t>
            </a:r>
            <a:r>
              <a:rPr lang="en-US" sz="2000" dirty="0" err="1"/>
              <a:t>cơ</a:t>
            </a:r>
            <a:r>
              <a:rPr lang="en-US" sz="2000" dirty="0"/>
              <a:t> </a:t>
            </a:r>
            <a:r>
              <a:rPr lang="en-US" sz="2000" dirty="0" err="1"/>
              <a:t>bản</a:t>
            </a:r>
            <a:r>
              <a:rPr lang="en-US" sz="2000" dirty="0"/>
              <a:t>.</a:t>
            </a:r>
          </a:p>
          <a:p>
            <a:pPr lvl="1"/>
            <a:r>
              <a:rPr lang="en-US" sz="2000" dirty="0" err="1"/>
              <a:t>Đánh</a:t>
            </a:r>
            <a:r>
              <a:rPr lang="en-US" sz="2000" dirty="0"/>
              <a:t> </a:t>
            </a:r>
            <a:r>
              <a:rPr lang="en-US" sz="2000" dirty="0" err="1"/>
              <a:t>giá</a:t>
            </a:r>
            <a:r>
              <a:rPr lang="en-US" sz="2000" dirty="0"/>
              <a:t> </a:t>
            </a:r>
            <a:r>
              <a:rPr lang="en-US" sz="2000" dirty="0" err="1"/>
              <a:t>chất</a:t>
            </a:r>
            <a:r>
              <a:rPr lang="en-US" sz="2000" dirty="0"/>
              <a:t> </a:t>
            </a:r>
            <a:r>
              <a:rPr lang="en-US" sz="2000" dirty="0" err="1"/>
              <a:t>lượng</a:t>
            </a:r>
            <a:r>
              <a:rPr lang="en-US" sz="2000" dirty="0"/>
              <a:t> (Quality control)</a:t>
            </a:r>
          </a:p>
          <a:p>
            <a:pPr lvl="1"/>
            <a:r>
              <a:rPr lang="en-US" sz="2000" dirty="0" err="1"/>
              <a:t>Ánh</a:t>
            </a:r>
            <a:r>
              <a:rPr lang="en-US" sz="2000" dirty="0"/>
              <a:t> </a:t>
            </a:r>
            <a:r>
              <a:rPr lang="en-US" sz="2000" dirty="0" err="1"/>
              <a:t>xạ</a:t>
            </a:r>
            <a:r>
              <a:rPr lang="en-US" sz="2000" dirty="0"/>
              <a:t> </a:t>
            </a:r>
            <a:r>
              <a:rPr lang="en-US" sz="2000" dirty="0" err="1"/>
              <a:t>vào</a:t>
            </a:r>
            <a:r>
              <a:rPr lang="en-US" sz="2000" dirty="0"/>
              <a:t> </a:t>
            </a:r>
            <a:r>
              <a:rPr lang="en-US" sz="2000" dirty="0" err="1"/>
              <a:t>hệ</a:t>
            </a:r>
            <a:r>
              <a:rPr lang="en-US" sz="2000" dirty="0"/>
              <a:t> gen </a:t>
            </a:r>
            <a:r>
              <a:rPr lang="en-US" sz="2000" dirty="0" err="1"/>
              <a:t>tham</a:t>
            </a:r>
            <a:r>
              <a:rPr lang="en-US" sz="2000" dirty="0"/>
              <a:t> </a:t>
            </a:r>
            <a:r>
              <a:rPr lang="en-US" sz="2000" dirty="0" err="1"/>
              <a:t>chiếu</a:t>
            </a:r>
            <a:r>
              <a:rPr lang="en-US" sz="2000" dirty="0"/>
              <a:t> (Alignment)</a:t>
            </a:r>
          </a:p>
          <a:p>
            <a:pPr lvl="1"/>
            <a:r>
              <a:rPr lang="en-US" sz="2000" dirty="0" err="1"/>
              <a:t>Xác</a:t>
            </a:r>
            <a:r>
              <a:rPr lang="en-US" sz="2000" dirty="0"/>
              <a:t> </a:t>
            </a:r>
            <a:r>
              <a:rPr lang="en-US" sz="2000" dirty="0" err="1"/>
              <a:t>định</a:t>
            </a:r>
            <a:r>
              <a:rPr lang="en-US" sz="2000" dirty="0"/>
              <a:t> variant (Variant calling)</a:t>
            </a:r>
          </a:p>
          <a:p>
            <a:pPr lvl="1"/>
            <a:r>
              <a:rPr lang="en-US" sz="2000" dirty="0" err="1"/>
              <a:t>Chú</a:t>
            </a:r>
            <a:r>
              <a:rPr lang="en-US" sz="2000" dirty="0"/>
              <a:t> </a:t>
            </a:r>
            <a:r>
              <a:rPr lang="en-US" sz="2000" dirty="0" err="1"/>
              <a:t>giải</a:t>
            </a:r>
            <a:r>
              <a:rPr lang="en-US" sz="2000" dirty="0"/>
              <a:t> (Annotation)</a:t>
            </a:r>
          </a:p>
        </p:txBody>
      </p:sp>
    </p:spTree>
    <p:extLst>
      <p:ext uri="{BB962C8B-B14F-4D97-AF65-F5344CB8AC3E}">
        <p14:creationId xmlns:p14="http://schemas.microsoft.com/office/powerpoint/2010/main" val="94153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C964-08A1-E228-DE92-71816DF0C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Bioinformatics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F9E8D-5885-63B4-8B38-7B9248FB4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154" y="1452880"/>
            <a:ext cx="4814046" cy="4724083"/>
          </a:xfrm>
        </p:spPr>
        <p:txBody>
          <a:bodyPr>
            <a:normAutofit/>
          </a:bodyPr>
          <a:lstStyle/>
          <a:p>
            <a:r>
              <a:rPr lang="en-US" sz="2400" b="1" dirty="0"/>
              <a:t>Bioinformatics</a:t>
            </a:r>
            <a:r>
              <a:rPr lang="en-US" sz="2400" dirty="0"/>
              <a:t> </a:t>
            </a:r>
            <a:r>
              <a:rPr lang="en-US" sz="2400" dirty="0" err="1"/>
              <a:t>là</a:t>
            </a:r>
            <a:r>
              <a:rPr lang="en-US" sz="2400" dirty="0"/>
              <a:t> </a:t>
            </a:r>
            <a:r>
              <a:rPr lang="en-US" sz="2400" dirty="0" err="1"/>
              <a:t>một</a:t>
            </a:r>
            <a:r>
              <a:rPr lang="en-US" sz="2400" dirty="0"/>
              <a:t> </a:t>
            </a:r>
            <a:r>
              <a:rPr lang="en-US" sz="2400" dirty="0" err="1"/>
              <a:t>lĩnh</a:t>
            </a:r>
            <a:r>
              <a:rPr lang="en-US" sz="2400" dirty="0"/>
              <a:t> </a:t>
            </a:r>
            <a:r>
              <a:rPr lang="en-US" sz="2400" dirty="0" err="1"/>
              <a:t>vực</a:t>
            </a:r>
            <a:r>
              <a:rPr lang="en-US" sz="2400" dirty="0"/>
              <a:t> </a:t>
            </a:r>
            <a:r>
              <a:rPr lang="en-US" sz="2400" dirty="0" err="1"/>
              <a:t>liên</a:t>
            </a:r>
            <a:r>
              <a:rPr lang="en-US" sz="2400" dirty="0"/>
              <a:t> </a:t>
            </a:r>
            <a:r>
              <a:rPr lang="en-US" sz="2400" dirty="0" err="1"/>
              <a:t>ngành</a:t>
            </a:r>
            <a:r>
              <a:rPr lang="en-US" sz="2400" dirty="0"/>
              <a:t>, </a:t>
            </a: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 </a:t>
            </a:r>
            <a:r>
              <a:rPr lang="en-US" sz="2400" dirty="0" err="1"/>
              <a:t>sinh</a:t>
            </a:r>
            <a:r>
              <a:rPr lang="en-US" sz="2400" dirty="0"/>
              <a:t> </a:t>
            </a:r>
            <a:r>
              <a:rPr lang="en-US" sz="2400" dirty="0" err="1"/>
              <a:t>học</a:t>
            </a:r>
            <a:r>
              <a:rPr lang="en-US" sz="2400" dirty="0"/>
              <a:t>, khoa </a:t>
            </a:r>
            <a:r>
              <a:rPr lang="en-US" sz="2400" dirty="0" err="1"/>
              <a:t>học</a:t>
            </a:r>
            <a:r>
              <a:rPr lang="en-US" sz="2400" dirty="0"/>
              <a:t> </a:t>
            </a:r>
            <a:r>
              <a:rPr lang="en-US" sz="2400" dirty="0" err="1"/>
              <a:t>máy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r>
              <a:rPr lang="en-US" sz="2400" dirty="0"/>
              <a:t>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thu</a:t>
            </a:r>
            <a:r>
              <a:rPr lang="en-US" sz="2400" dirty="0"/>
              <a:t> </a:t>
            </a:r>
            <a:r>
              <a:rPr lang="en-US" sz="2400" dirty="0" err="1"/>
              <a:t>thập</a:t>
            </a:r>
            <a:r>
              <a:rPr lang="en-US" sz="2400" dirty="0"/>
              <a:t>, </a:t>
            </a:r>
            <a:r>
              <a:rPr lang="en-US" sz="2400" dirty="0" err="1"/>
              <a:t>xử</a:t>
            </a:r>
            <a:r>
              <a:rPr lang="en-US" sz="2400" dirty="0"/>
              <a:t> </a:t>
            </a:r>
            <a:r>
              <a:rPr lang="en-US" sz="2400" dirty="0" err="1"/>
              <a:t>lý</a:t>
            </a:r>
            <a:r>
              <a:rPr lang="en-US" sz="2400" dirty="0"/>
              <a:t>,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diễn</a:t>
            </a:r>
            <a:r>
              <a:rPr lang="en-US" sz="2400" dirty="0"/>
              <a:t> </a:t>
            </a:r>
            <a:r>
              <a:rPr lang="en-US" sz="2400" dirty="0" err="1"/>
              <a:t>giải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sinh</a:t>
            </a:r>
            <a:r>
              <a:rPr lang="en-US" sz="2400" dirty="0"/>
              <a:t> </a:t>
            </a:r>
            <a:r>
              <a:rPr lang="en-US" sz="2400" dirty="0" err="1"/>
              <a:t>học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vi-VN" sz="2400" dirty="0"/>
              <a:t>Bioinformatics đóng vai trò như cầu nối giữa </a:t>
            </a:r>
            <a:r>
              <a:rPr lang="vi-VN" sz="2400" b="1" dirty="0"/>
              <a:t>Sinh học</a:t>
            </a:r>
            <a:r>
              <a:rPr lang="vi-VN" sz="2400" dirty="0"/>
              <a:t> và </a:t>
            </a:r>
            <a:r>
              <a:rPr lang="vi-VN" sz="2400" b="1" dirty="0"/>
              <a:t>công nghệ</a:t>
            </a:r>
            <a:r>
              <a:rPr lang="vi-VN" sz="2400" dirty="0"/>
              <a:t>, giúp biến dữ liệu sinh học phức tạp thành thông tin có thể hiểu và sử dụng được.</a:t>
            </a:r>
          </a:p>
        </p:txBody>
      </p:sp>
      <p:pic>
        <p:nvPicPr>
          <p:cNvPr id="1026" name="Picture 2" descr="What is Bioinformatics?">
            <a:extLst>
              <a:ext uri="{FF2B5EF4-FFF2-40B4-BE49-F238E27FC236}">
                <a16:creationId xmlns:a16="http://schemas.microsoft.com/office/drawing/2014/main" id="{D7B6C9CF-603D-C905-D929-C8901FE5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540" y="1486320"/>
            <a:ext cx="6907306" cy="3885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74C079-3EA5-7581-0C7C-F2B8C0BE905C}"/>
              </a:ext>
            </a:extLst>
          </p:cNvPr>
          <p:cNvSpPr txBox="1"/>
          <p:nvPr/>
        </p:nvSpPr>
        <p:spPr>
          <a:xfrm>
            <a:off x="4644813" y="6330537"/>
            <a:ext cx="7392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https://</a:t>
            </a:r>
            <a:r>
              <a:rPr lang="en-US" dirty="0" err="1"/>
              <a:t>www.healthtech.dtu.dk</a:t>
            </a:r>
            <a:r>
              <a:rPr lang="en-US" dirty="0"/>
              <a:t>/research/research-areas/bioinformatics</a:t>
            </a:r>
          </a:p>
        </p:txBody>
      </p:sp>
    </p:spTree>
    <p:extLst>
      <p:ext uri="{BB962C8B-B14F-4D97-AF65-F5344CB8AC3E}">
        <p14:creationId xmlns:p14="http://schemas.microsoft.com/office/powerpoint/2010/main" val="3711463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3105A-0081-66C7-A425-824D9912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Bioinformatics?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1DB1F-94D9-7C40-0B3D-01003F9DB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Bioinformatics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(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)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variant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Variant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nằm</a:t>
            </a:r>
            <a:r>
              <a:rPr lang="en-US" dirty="0"/>
              <a:t> </a:t>
            </a:r>
            <a:r>
              <a:rPr lang="en-US" dirty="0" err="1"/>
              <a:t>ở</a:t>
            </a:r>
            <a:r>
              <a:rPr lang="en-US" dirty="0"/>
              <a:t> gene </a:t>
            </a:r>
            <a:r>
              <a:rPr lang="en-US" dirty="0" err="1"/>
              <a:t>nào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Variant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tin </a:t>
            </a:r>
            <a:r>
              <a:rPr lang="en-US" dirty="0" err="1"/>
              <a:t>cây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variant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152213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4ADF0E2-29AB-6AFB-6534-AED5A247A2AA}"/>
              </a:ext>
            </a:extLst>
          </p:cNvPr>
          <p:cNvSpPr/>
          <p:nvPr/>
        </p:nvSpPr>
        <p:spPr>
          <a:xfrm>
            <a:off x="1330036" y="4156364"/>
            <a:ext cx="9871364" cy="16625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4B573F-05D7-7CC8-9AFB-74A3270F8291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2423991" y="4989482"/>
            <a:ext cx="71995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CB33C14-C712-8ED4-C428-24767946E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nghiệm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tin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1344FB-EFF2-CA87-C3B4-646ACF592235}"/>
              </a:ext>
            </a:extLst>
          </p:cNvPr>
          <p:cNvSpPr/>
          <p:nvPr/>
        </p:nvSpPr>
        <p:spPr>
          <a:xfrm>
            <a:off x="838200" y="2154381"/>
            <a:ext cx="1579418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Biological sample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7206E0A-EEBD-ED95-C5CD-5BDB43080284}"/>
              </a:ext>
            </a:extLst>
          </p:cNvPr>
          <p:cNvSpPr/>
          <p:nvPr/>
        </p:nvSpPr>
        <p:spPr>
          <a:xfrm>
            <a:off x="2827713" y="2154381"/>
            <a:ext cx="1579418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Library Preparation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F9C7C7B-56AD-2A66-391E-C5DB24185E44}"/>
              </a:ext>
            </a:extLst>
          </p:cNvPr>
          <p:cNvSpPr/>
          <p:nvPr/>
        </p:nvSpPr>
        <p:spPr>
          <a:xfrm>
            <a:off x="4817226" y="2154381"/>
            <a:ext cx="1579418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Sequencing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A0C6C60-FAD8-E5A3-DBE4-15EB0A179A15}"/>
              </a:ext>
            </a:extLst>
          </p:cNvPr>
          <p:cNvSpPr/>
          <p:nvPr/>
        </p:nvSpPr>
        <p:spPr>
          <a:xfrm>
            <a:off x="6806739" y="2154381"/>
            <a:ext cx="103216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Reads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3E4BB0A-0C27-94E2-A19C-F98DC64564B5}"/>
              </a:ext>
            </a:extLst>
          </p:cNvPr>
          <p:cNvSpPr/>
          <p:nvPr/>
        </p:nvSpPr>
        <p:spPr>
          <a:xfrm>
            <a:off x="8248997" y="2154381"/>
            <a:ext cx="1766454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Bioinformatics Analysis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1B29BA-30B1-4EDA-EA12-125E3B90B12C}"/>
              </a:ext>
            </a:extLst>
          </p:cNvPr>
          <p:cNvSpPr/>
          <p:nvPr/>
        </p:nvSpPr>
        <p:spPr>
          <a:xfrm>
            <a:off x="10425546" y="2154381"/>
            <a:ext cx="1339734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35DEA5-7B74-2E05-AA6B-3403FFC2ACE5}"/>
              </a:ext>
            </a:extLst>
          </p:cNvPr>
          <p:cNvSpPr/>
          <p:nvPr/>
        </p:nvSpPr>
        <p:spPr>
          <a:xfrm>
            <a:off x="6583680" y="1950026"/>
            <a:ext cx="3640975" cy="130925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724420-02A5-5935-CE4B-0D71AD5766C5}"/>
              </a:ext>
            </a:extLst>
          </p:cNvPr>
          <p:cNvCxnSpPr>
            <a:cxnSpLocks/>
          </p:cNvCxnSpPr>
          <p:nvPr/>
        </p:nvCxnSpPr>
        <p:spPr>
          <a:xfrm>
            <a:off x="2417618" y="2611581"/>
            <a:ext cx="4100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4A4C74-3BBA-0F5F-E3A9-D0E0A8538670}"/>
              </a:ext>
            </a:extLst>
          </p:cNvPr>
          <p:cNvCxnSpPr>
            <a:cxnSpLocks/>
          </p:cNvCxnSpPr>
          <p:nvPr/>
        </p:nvCxnSpPr>
        <p:spPr>
          <a:xfrm flipV="1">
            <a:off x="4407131" y="2611581"/>
            <a:ext cx="410095" cy="6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380A7C2-754F-9A9A-8E23-CD05534DB02B}"/>
              </a:ext>
            </a:extLst>
          </p:cNvPr>
          <p:cNvCxnSpPr>
            <a:cxnSpLocks/>
          </p:cNvCxnSpPr>
          <p:nvPr/>
        </p:nvCxnSpPr>
        <p:spPr>
          <a:xfrm>
            <a:off x="6138949" y="2611581"/>
            <a:ext cx="667790" cy="6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FB27555-FCFF-6A4C-62EE-FA8D2C791162}"/>
              </a:ext>
            </a:extLst>
          </p:cNvPr>
          <p:cNvCxnSpPr>
            <a:cxnSpLocks/>
          </p:cNvCxnSpPr>
          <p:nvPr/>
        </p:nvCxnSpPr>
        <p:spPr>
          <a:xfrm>
            <a:off x="7838902" y="2611581"/>
            <a:ext cx="4100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15E557-133A-59AA-3865-CE17C61B4740}"/>
              </a:ext>
            </a:extLst>
          </p:cNvPr>
          <p:cNvCxnSpPr>
            <a:cxnSpLocks/>
          </p:cNvCxnSpPr>
          <p:nvPr/>
        </p:nvCxnSpPr>
        <p:spPr>
          <a:xfrm>
            <a:off x="10015451" y="2611581"/>
            <a:ext cx="4100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1CC21F4-99F4-C435-90F5-422B2E7A7D2A}"/>
              </a:ext>
            </a:extLst>
          </p:cNvPr>
          <p:cNvSpPr/>
          <p:nvPr/>
        </p:nvSpPr>
        <p:spPr>
          <a:xfrm>
            <a:off x="1509591" y="4532282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POD5 signal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DCBCFDB-005D-ECC6-842F-F3F242FC309C}"/>
              </a:ext>
            </a:extLst>
          </p:cNvPr>
          <p:cNvSpPr/>
          <p:nvPr/>
        </p:nvSpPr>
        <p:spPr>
          <a:xfrm>
            <a:off x="2958361" y="4532282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</a:t>
            </a:r>
            <a:endParaRPr lang="en-US" dirty="0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834F24B-9AF2-A9E3-1389-8F2ED44E9EC5}"/>
              </a:ext>
            </a:extLst>
          </p:cNvPr>
          <p:cNvSpPr/>
          <p:nvPr/>
        </p:nvSpPr>
        <p:spPr>
          <a:xfrm>
            <a:off x="4407131" y="4532282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QC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12A81E0-AE78-D547-A598-112171FA1077}"/>
              </a:ext>
            </a:extLst>
          </p:cNvPr>
          <p:cNvSpPr/>
          <p:nvPr/>
        </p:nvSpPr>
        <p:spPr>
          <a:xfrm>
            <a:off x="5855901" y="4532282"/>
            <a:ext cx="134943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Alignment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E441137A-A640-47E8-A957-5D947FFF0C03}"/>
              </a:ext>
            </a:extLst>
          </p:cNvPr>
          <p:cNvSpPr/>
          <p:nvPr/>
        </p:nvSpPr>
        <p:spPr>
          <a:xfrm>
            <a:off x="7739704" y="4532282"/>
            <a:ext cx="134943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Variant calling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1BFBF949-AA1D-5213-1A5A-2512541966D2}"/>
              </a:ext>
            </a:extLst>
          </p:cNvPr>
          <p:cNvSpPr/>
          <p:nvPr/>
        </p:nvSpPr>
        <p:spPr>
          <a:xfrm>
            <a:off x="9623506" y="4532282"/>
            <a:ext cx="134943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Variant annotation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C08A53-2F65-3FFF-6076-97F957E8C3F7}"/>
              </a:ext>
            </a:extLst>
          </p:cNvPr>
          <p:cNvCxnSpPr>
            <a:cxnSpLocks/>
          </p:cNvCxnSpPr>
          <p:nvPr/>
        </p:nvCxnSpPr>
        <p:spPr>
          <a:xfrm flipH="1">
            <a:off x="1330036" y="3266208"/>
            <a:ext cx="5307678" cy="8901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571EA-EBCA-C4B3-DEDA-C6E0B9F6CBB3}"/>
              </a:ext>
            </a:extLst>
          </p:cNvPr>
          <p:cNvCxnSpPr>
            <a:cxnSpLocks/>
          </p:cNvCxnSpPr>
          <p:nvPr/>
        </p:nvCxnSpPr>
        <p:spPr>
          <a:xfrm flipH="1" flipV="1">
            <a:off x="10224655" y="3259281"/>
            <a:ext cx="976745" cy="8970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3855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05B87-6461-844C-B8B5-40C406C56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Khái</a:t>
            </a:r>
            <a:r>
              <a:rPr lang="en-US" dirty="0"/>
              <a:t> </a:t>
            </a:r>
            <a:r>
              <a:rPr lang="en-US" dirty="0" err="1"/>
              <a:t>niệm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90E401-F14C-1F2A-B23F-42EB4C4C1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01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60B80-4879-7AB7-A1CE-2795C042A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Variant calling workflow</a:t>
            </a:r>
          </a:p>
        </p:txBody>
      </p:sp>
      <p:pic>
        <p:nvPicPr>
          <p:cNvPr id="4098" name="Picture 2" descr="workflow">
            <a:extLst>
              <a:ext uri="{FF2B5EF4-FFF2-40B4-BE49-F238E27FC236}">
                <a16:creationId xmlns:a16="http://schemas.microsoft.com/office/drawing/2014/main" id="{83FE25F9-0F19-F642-B962-6EA031821F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148080"/>
            <a:ext cx="3840440" cy="532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GATK">
            <a:extLst>
              <a:ext uri="{FF2B5EF4-FFF2-40B4-BE49-F238E27FC236}">
                <a16:creationId xmlns:a16="http://schemas.microsoft.com/office/drawing/2014/main" id="{1DD063C9-394E-A27C-0B1B-D01882D27C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08"/>
          <a:stretch/>
        </p:blipFill>
        <p:spPr bwMode="auto">
          <a:xfrm>
            <a:off x="838200" y="1148077"/>
            <a:ext cx="11237042" cy="532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84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60B80-4879-7AB7-A1CE-2795C042A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Genome, reference genome, read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05F6C-B0C3-958C-E949-4C2164DBC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1480"/>
            <a:ext cx="4087091" cy="422055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dirty="0"/>
              <a:t>Genome: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di </a:t>
            </a:r>
            <a:r>
              <a:rPr lang="en-US" dirty="0" err="1"/>
              <a:t>truyền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Reference genome</a:t>
            </a:r>
            <a:r>
              <a:rPr lang="en-US" dirty="0"/>
              <a:t>: </a:t>
            </a:r>
            <a:r>
              <a:rPr lang="en-US" dirty="0" err="1"/>
              <a:t>Hệ</a:t>
            </a:r>
            <a:r>
              <a:rPr lang="en-US" dirty="0"/>
              <a:t> gen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chiếu</a:t>
            </a:r>
            <a:r>
              <a:rPr lang="en-US" dirty="0"/>
              <a:t>, so </a:t>
            </a:r>
            <a:r>
              <a:rPr lang="en-US" dirty="0" err="1"/>
              <a:t>sánh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Read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, </a:t>
            </a:r>
            <a:r>
              <a:rPr lang="en-US" dirty="0" err="1"/>
              <a:t>thường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FastQ</a:t>
            </a:r>
            <a:endParaRPr lang="en-US" dirty="0"/>
          </a:p>
        </p:txBody>
      </p:sp>
      <p:pic>
        <p:nvPicPr>
          <p:cNvPr id="6146" name="Picture 2" descr="Piecing together the genome: the long and short of it all – HudsonAlpha  Institute for Biotechnology">
            <a:extLst>
              <a:ext uri="{FF2B5EF4-FFF2-40B4-BE49-F238E27FC236}">
                <a16:creationId xmlns:a16="http://schemas.microsoft.com/office/drawing/2014/main" id="{E31FACCB-1B04-6D8E-100D-CBC9E359F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6900" y="1681480"/>
            <a:ext cx="7022322" cy="3825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4792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720D3-9FF6-7E20-5595-C7FE87BD4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FASTQ</a:t>
            </a:r>
          </a:p>
        </p:txBody>
      </p:sp>
      <p:pic>
        <p:nvPicPr>
          <p:cNvPr id="2050" name="Picture 2" descr="FASTQ format">
            <a:extLst>
              <a:ext uri="{FF2B5EF4-FFF2-40B4-BE49-F238E27FC236}">
                <a16:creationId xmlns:a16="http://schemas.microsoft.com/office/drawing/2014/main" id="{1BFC4989-83E0-B4AF-424E-BDD84A92F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118" y="1250585"/>
            <a:ext cx="5829764" cy="34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0C4CF7-237E-BC4E-FE93-16AB51B17A63}"/>
              </a:ext>
            </a:extLst>
          </p:cNvPr>
          <p:cNvSpPr txBox="1"/>
          <p:nvPr/>
        </p:nvSpPr>
        <p:spPr>
          <a:xfrm>
            <a:off x="6486861" y="1935940"/>
            <a:ext cx="52784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 dirty="0"/>
              <a:t>Phred quality score</a:t>
            </a:r>
            <a:r>
              <a:rPr lang="vi-VN" dirty="0"/>
              <a:t> là thang điểm dùng để biểu diễn độ tin cậy của một base được gọi sau bước </a:t>
            </a:r>
            <a:r>
              <a:rPr lang="vi-VN" b="1" dirty="0"/>
              <a:t>basecalling</a:t>
            </a:r>
            <a:r>
              <a:rPr lang="vi-VN" dirty="0"/>
              <a:t>.</a:t>
            </a:r>
            <a:endParaRPr lang="en-US" dirty="0"/>
          </a:p>
        </p:txBody>
      </p:sp>
      <p:pic>
        <p:nvPicPr>
          <p:cNvPr id="2052" name="Picture 4" descr="Formula showing conversion between Phred quality scores and error probabilities">
            <a:extLst>
              <a:ext uri="{FF2B5EF4-FFF2-40B4-BE49-F238E27FC236}">
                <a16:creationId xmlns:a16="http://schemas.microsoft.com/office/drawing/2014/main" id="{7D4F700E-FD18-D5FA-A820-DE9A143D1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964" y="2898299"/>
            <a:ext cx="4219239" cy="106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76BC0C6-53D1-F47C-29F2-CEAAFD580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557381"/>
              </p:ext>
            </p:extLst>
          </p:nvPr>
        </p:nvGraphicFramePr>
        <p:xfrm>
          <a:off x="2223247" y="5009515"/>
          <a:ext cx="9487736" cy="14630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1934">
                  <a:extLst>
                    <a:ext uri="{9D8B030D-6E8A-4147-A177-3AD203B41FA5}">
                      <a16:colId xmlns:a16="http://schemas.microsoft.com/office/drawing/2014/main" val="3174961255"/>
                    </a:ext>
                  </a:extLst>
                </a:gridCol>
                <a:gridCol w="2371934">
                  <a:extLst>
                    <a:ext uri="{9D8B030D-6E8A-4147-A177-3AD203B41FA5}">
                      <a16:colId xmlns:a16="http://schemas.microsoft.com/office/drawing/2014/main" val="152326062"/>
                    </a:ext>
                  </a:extLst>
                </a:gridCol>
                <a:gridCol w="2371934">
                  <a:extLst>
                    <a:ext uri="{9D8B030D-6E8A-4147-A177-3AD203B41FA5}">
                      <a16:colId xmlns:a16="http://schemas.microsoft.com/office/drawing/2014/main" val="2885595394"/>
                    </a:ext>
                  </a:extLst>
                </a:gridCol>
                <a:gridCol w="2371934">
                  <a:extLst>
                    <a:ext uri="{9D8B030D-6E8A-4147-A177-3AD203B41FA5}">
                      <a16:colId xmlns:a16="http://schemas.microsoft.com/office/drawing/2014/main" val="7350753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Phred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Cách tính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Xác suất sai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Độ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chính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xác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xấp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xỉ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9026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Q10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10^(-10/10) = 10^-1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0.1 = 10%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90%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665372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Q20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10^(-20/10) = 10^-2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0.01 = 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99%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4297662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Q30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10^(-30/10) = 10^-3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0.001 = 0.1%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99.9%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8787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1847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720D3-9FF6-7E20-5595-C7FE87BD4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FASTQ</a:t>
            </a:r>
          </a:p>
        </p:txBody>
      </p:sp>
      <p:pic>
        <p:nvPicPr>
          <p:cNvPr id="2050" name="Picture 2" descr="FASTQ format">
            <a:extLst>
              <a:ext uri="{FF2B5EF4-FFF2-40B4-BE49-F238E27FC236}">
                <a16:creationId xmlns:a16="http://schemas.microsoft.com/office/drawing/2014/main" id="{1BFC4989-83E0-B4AF-424E-BDD84A92F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01" y="1148080"/>
            <a:ext cx="4395395" cy="263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0C4CF7-237E-BC4E-FE93-16AB51B17A63}"/>
              </a:ext>
            </a:extLst>
          </p:cNvPr>
          <p:cNvSpPr txBox="1"/>
          <p:nvPr/>
        </p:nvSpPr>
        <p:spPr>
          <a:xfrm>
            <a:off x="590202" y="4079206"/>
            <a:ext cx="40355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 dirty="0"/>
              <a:t>Phred quality score</a:t>
            </a:r>
            <a:r>
              <a:rPr lang="vi-VN" dirty="0"/>
              <a:t> là thang điểm dùng để biểu diễn độ tin cậy của một base được gọi sau bước </a:t>
            </a:r>
            <a:r>
              <a:rPr lang="vi-VN" b="1" dirty="0"/>
              <a:t>basecalling</a:t>
            </a:r>
            <a:r>
              <a:rPr lang="vi-VN" dirty="0"/>
              <a:t>.</a:t>
            </a:r>
            <a:endParaRPr lang="en-US" dirty="0"/>
          </a:p>
        </p:txBody>
      </p:sp>
      <p:pic>
        <p:nvPicPr>
          <p:cNvPr id="2052" name="Picture 4" descr="Formula showing conversion between Phred quality scores and error probabilities">
            <a:extLst>
              <a:ext uri="{FF2B5EF4-FFF2-40B4-BE49-F238E27FC236}">
                <a16:creationId xmlns:a16="http://schemas.microsoft.com/office/drawing/2014/main" id="{7D4F700E-FD18-D5FA-A820-DE9A143D1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01" y="5411153"/>
            <a:ext cx="3397776" cy="106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605CA8-438A-7E91-78D7-0D229FC573B7}"/>
              </a:ext>
            </a:extLst>
          </p:cNvPr>
          <p:cNvSpPr txBox="1"/>
          <p:nvPr/>
        </p:nvSpPr>
        <p:spPr>
          <a:xfrm>
            <a:off x="5958975" y="1339552"/>
            <a:ext cx="1517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ASCII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1660D-969D-267A-3F68-8D2616D9C465}"/>
              </a:ext>
            </a:extLst>
          </p:cNvPr>
          <p:cNvSpPr txBox="1"/>
          <p:nvPr/>
        </p:nvSpPr>
        <p:spPr>
          <a:xfrm>
            <a:off x="3005701" y="458986"/>
            <a:ext cx="8941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Phred</a:t>
            </a:r>
            <a:r>
              <a:rPr lang="en-US" sz="2800" b="1" dirty="0"/>
              <a:t> score </a:t>
            </a:r>
            <a:r>
              <a:rPr lang="en-US" sz="2800" b="1" dirty="0" err="1"/>
              <a:t>được</a:t>
            </a:r>
            <a:r>
              <a:rPr lang="en-US" sz="2800" b="1" dirty="0"/>
              <a:t> </a:t>
            </a:r>
            <a:r>
              <a:rPr lang="en-US" sz="2800" b="1" dirty="0" err="1"/>
              <a:t>biểu</a:t>
            </a:r>
            <a:r>
              <a:rPr lang="en-US" sz="2800" b="1" dirty="0"/>
              <a:t> </a:t>
            </a:r>
            <a:r>
              <a:rPr lang="en-US" sz="2800" b="1" dirty="0" err="1"/>
              <a:t>diễn</a:t>
            </a:r>
            <a:r>
              <a:rPr lang="en-US" sz="2800" b="1" dirty="0"/>
              <a:t> </a:t>
            </a:r>
            <a:r>
              <a:rPr lang="en-US" sz="2800" b="1" dirty="0" err="1"/>
              <a:t>như</a:t>
            </a:r>
            <a:r>
              <a:rPr lang="en-US" sz="2800" b="1" dirty="0"/>
              <a:t> </a:t>
            </a:r>
            <a:r>
              <a:rPr lang="en-US" sz="2800" b="1" dirty="0" err="1"/>
              <a:t>thế</a:t>
            </a:r>
            <a:r>
              <a:rPr lang="en-US" sz="2800" b="1" dirty="0"/>
              <a:t> </a:t>
            </a:r>
            <a:r>
              <a:rPr lang="en-US" sz="2800" b="1" dirty="0" err="1"/>
              <a:t>nào</a:t>
            </a:r>
            <a:r>
              <a:rPr lang="en-US" sz="2800" b="1" dirty="0"/>
              <a:t> </a:t>
            </a:r>
            <a:r>
              <a:rPr lang="en-US" sz="2800" b="1" dirty="0" err="1"/>
              <a:t>trong</a:t>
            </a:r>
            <a:r>
              <a:rPr lang="en-US" sz="2800" b="1" dirty="0"/>
              <a:t> </a:t>
            </a:r>
            <a:r>
              <a:rPr lang="en-US" sz="2800" b="1" dirty="0" err="1"/>
              <a:t>FastQ</a:t>
            </a:r>
            <a:r>
              <a:rPr lang="en-US" sz="2800" b="1" dirty="0"/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D44BEF-3CC1-5E56-C3C2-F15F3CB9B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5596" y="1708884"/>
            <a:ext cx="3046780" cy="48406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7325D6-63B5-8D51-3FC3-E90C09EFEE5E}"/>
              </a:ext>
            </a:extLst>
          </p:cNvPr>
          <p:cNvSpPr txBox="1"/>
          <p:nvPr/>
        </p:nvSpPr>
        <p:spPr>
          <a:xfrm>
            <a:off x="8392184" y="1786192"/>
            <a:ext cx="33153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Phred+33 (</a:t>
            </a:r>
            <a:r>
              <a:rPr lang="en-US" sz="2400" b="1" dirty="0" err="1"/>
              <a:t>hiện</a:t>
            </a:r>
            <a:r>
              <a:rPr lang="en-US" sz="2400" b="1" dirty="0"/>
              <a:t> </a:t>
            </a:r>
            <a:r>
              <a:rPr lang="en-US" sz="2400" b="1" dirty="0" err="1"/>
              <a:t>tại</a:t>
            </a:r>
            <a:r>
              <a:rPr lang="en-US" sz="24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 err="1"/>
              <a:t>Phred</a:t>
            </a:r>
            <a:r>
              <a:rPr lang="en-US" sz="2400" b="1" dirty="0"/>
              <a:t> score + 33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ONT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/>
              <a:t>Illumina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50000"/>
                  </a:schemeClr>
                </a:solidFill>
              </a:rPr>
              <a:t>Phred+64 (</a:t>
            </a:r>
            <a:r>
              <a:rPr lang="en-US" sz="2400" b="1" dirty="0" err="1">
                <a:solidFill>
                  <a:schemeClr val="bg2">
                    <a:lumMod val="50000"/>
                  </a:schemeClr>
                </a:solidFill>
              </a:rPr>
              <a:t>cũ</a:t>
            </a:r>
            <a:r>
              <a:rPr lang="en-US" sz="2400" b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bg2">
                    <a:lumMod val="50000"/>
                  </a:schemeClr>
                </a:solidFill>
              </a:rPr>
              <a:t>hơn</a:t>
            </a:r>
            <a:r>
              <a:rPr lang="en-US" sz="2400" b="1" dirty="0">
                <a:solidFill>
                  <a:schemeClr val="bg2">
                    <a:lumMod val="50000"/>
                  </a:schemeClr>
                </a:solidFill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2">
                    <a:lumMod val="50000"/>
                  </a:schemeClr>
                </a:solidFill>
              </a:rPr>
              <a:t>Phred</a:t>
            </a:r>
            <a:r>
              <a:rPr lang="en-US" sz="2400" b="1" dirty="0">
                <a:solidFill>
                  <a:schemeClr val="bg2">
                    <a:lumMod val="50000"/>
                  </a:schemeClr>
                </a:solidFill>
              </a:rPr>
              <a:t> score +64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F92EE2-55D1-E291-7699-A55EA7B2C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487" y="4833180"/>
            <a:ext cx="4853770" cy="119949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400F1D3-C366-E6ED-A425-202EBD2FBEC9}"/>
              </a:ext>
            </a:extLst>
          </p:cNvPr>
          <p:cNvSpPr txBox="1"/>
          <p:nvPr/>
        </p:nvSpPr>
        <p:spPr>
          <a:xfrm>
            <a:off x="4984376" y="6455654"/>
            <a:ext cx="3046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www.asciitable.com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8397579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E3DB9-C2E0-047C-1DC6-CF28B04B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486E5-70AC-233A-F543-A01790627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FASTA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chứa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,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quality.</a:t>
            </a:r>
          </a:p>
          <a:p>
            <a:r>
              <a:rPr lang="en-US" dirty="0" err="1"/>
              <a:t>Gồm</a:t>
            </a:r>
            <a:r>
              <a:rPr lang="en-US" dirty="0"/>
              <a:t> 2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chính</a:t>
            </a:r>
            <a:endParaRPr lang="en-US" dirty="0"/>
          </a:p>
          <a:p>
            <a:pPr lvl="1"/>
            <a:r>
              <a:rPr lang="en-US" dirty="0" err="1"/>
              <a:t>Dòng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: </a:t>
            </a:r>
            <a:r>
              <a:rPr lang="en-US" dirty="0" err="1"/>
              <a:t>luôn</a:t>
            </a:r>
            <a:r>
              <a:rPr lang="en-US" dirty="0"/>
              <a:t> </a:t>
            </a:r>
            <a:r>
              <a:rPr lang="en-US" dirty="0" err="1"/>
              <a:t>bắt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“&gt;”</a:t>
            </a:r>
          </a:p>
          <a:p>
            <a:pPr lvl="1"/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: Nucleotide, amino acid</a:t>
            </a:r>
          </a:p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endParaRPr lang="en-US" dirty="0"/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&gt;chr1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ACGTACGTACGTACGTACGT</a:t>
            </a:r>
          </a:p>
          <a:p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Reference genome</a:t>
            </a:r>
          </a:p>
          <a:p>
            <a:pPr lvl="1"/>
            <a:r>
              <a:rPr lang="en-US" dirty="0"/>
              <a:t>Gene/protein sequence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306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43603-729D-96FA-FC15-572E02AC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- BAM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82AE4E-781A-3EC0-F90C-5AE4739B5790}"/>
              </a:ext>
            </a:extLst>
          </p:cNvPr>
          <p:cNvSpPr txBox="1"/>
          <p:nvPr/>
        </p:nvSpPr>
        <p:spPr>
          <a:xfrm>
            <a:off x="838200" y="1314334"/>
            <a:ext cx="10515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SAM: Sequence Alignment Map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 err="1"/>
              <a:t>Cấu</a:t>
            </a:r>
            <a:r>
              <a:rPr lang="en-US" sz="2400" dirty="0"/>
              <a:t> </a:t>
            </a:r>
            <a:r>
              <a:rPr lang="en-US" sz="2400" dirty="0" err="1"/>
              <a:t>trúc</a:t>
            </a:r>
            <a:r>
              <a:rPr lang="en-US" sz="2400" dirty="0"/>
              <a:t> </a:t>
            </a:r>
            <a:r>
              <a:rPr lang="en-US" sz="2400" dirty="0" err="1"/>
              <a:t>quan</a:t>
            </a:r>
            <a:r>
              <a:rPr lang="en-US" sz="2400" dirty="0"/>
              <a:t> </a:t>
            </a:r>
            <a:r>
              <a:rPr lang="en-US" sz="2400" dirty="0" err="1"/>
              <a:t>trọng</a:t>
            </a:r>
            <a:r>
              <a:rPr lang="en-US" sz="2400" dirty="0"/>
              <a:t> </a:t>
            </a:r>
            <a:r>
              <a:rPr lang="en-US" sz="2400" dirty="0" err="1"/>
              <a:t>chứa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mapping </a:t>
            </a:r>
            <a:r>
              <a:rPr lang="en-US" sz="2400" dirty="0" err="1"/>
              <a:t>của</a:t>
            </a:r>
            <a:r>
              <a:rPr lang="en-US" sz="2400" dirty="0"/>
              <a:t> reads </a:t>
            </a:r>
            <a:r>
              <a:rPr lang="en-US" sz="2400" dirty="0" err="1"/>
              <a:t>với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gen </a:t>
            </a:r>
            <a:r>
              <a:rPr lang="en-US" sz="2400" dirty="0" err="1"/>
              <a:t>tham</a:t>
            </a:r>
            <a:r>
              <a:rPr lang="en-US" sz="2400" dirty="0"/>
              <a:t> </a:t>
            </a:r>
            <a:r>
              <a:rPr lang="en-US" sz="2400" dirty="0" err="1"/>
              <a:t>chiếu</a:t>
            </a:r>
            <a:r>
              <a:rPr lang="en-US" sz="2400" dirty="0"/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Bao </a:t>
            </a:r>
            <a:r>
              <a:rPr lang="en-US" sz="2400" dirty="0" err="1"/>
              <a:t>gồm</a:t>
            </a:r>
            <a:r>
              <a:rPr lang="en-US" sz="2400" dirty="0"/>
              <a:t> 11 </a:t>
            </a:r>
            <a:r>
              <a:rPr lang="en-US" sz="2400" dirty="0" err="1"/>
              <a:t>trường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bắt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endParaRPr lang="en-US" sz="2400" dirty="0"/>
          </a:p>
          <a:p>
            <a:r>
              <a:rPr lang="en-US" sz="2400" b="1" dirty="0"/>
              <a:t>BAM: Binary Alignment Map: </a:t>
            </a:r>
            <a:r>
              <a:rPr lang="en-US" sz="2400" b="1" dirty="0" err="1"/>
              <a:t>Là</a:t>
            </a:r>
            <a:r>
              <a:rPr lang="en-US" sz="2400" b="1" dirty="0"/>
              <a:t> file </a:t>
            </a:r>
            <a:r>
              <a:rPr lang="en-US" sz="2400" b="1" dirty="0" err="1"/>
              <a:t>nén</a:t>
            </a:r>
            <a:r>
              <a:rPr lang="en-US" sz="2400" b="1" dirty="0"/>
              <a:t> </a:t>
            </a:r>
            <a:r>
              <a:rPr lang="en-US" sz="2400" b="1" dirty="0" err="1"/>
              <a:t>của</a:t>
            </a:r>
            <a:r>
              <a:rPr lang="en-US" sz="2400" b="1" dirty="0"/>
              <a:t> SAM</a:t>
            </a:r>
          </a:p>
        </p:txBody>
      </p:sp>
      <p:pic>
        <p:nvPicPr>
          <p:cNvPr id="7170" name="Picture 2" descr="sam_bam1">
            <a:extLst>
              <a:ext uri="{FF2B5EF4-FFF2-40B4-BE49-F238E27FC236}">
                <a16:creationId xmlns:a16="http://schemas.microsoft.com/office/drawing/2014/main" id="{741AA793-0085-39AD-18F7-4381E0C04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2191" y="3419580"/>
            <a:ext cx="6227618" cy="1548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am_bam2">
            <a:extLst>
              <a:ext uri="{FF2B5EF4-FFF2-40B4-BE49-F238E27FC236}">
                <a16:creationId xmlns:a16="http://schemas.microsoft.com/office/drawing/2014/main" id="{00BA95BF-0208-39DD-AAAF-9444DBD95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2191" y="5133992"/>
            <a:ext cx="6313875" cy="1548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3DC1B6-0EAB-4FAA-B376-8C82D85922F5}"/>
              </a:ext>
            </a:extLst>
          </p:cNvPr>
          <p:cNvSpPr txBox="1"/>
          <p:nvPr/>
        </p:nvSpPr>
        <p:spPr>
          <a:xfrm>
            <a:off x="6894368" y="6463136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samtools.github.io</a:t>
            </a:r>
            <a:r>
              <a:rPr lang="en-US" dirty="0"/>
              <a:t>/</a:t>
            </a:r>
            <a:r>
              <a:rPr lang="en-US" dirty="0" err="1"/>
              <a:t>hts</a:t>
            </a:r>
            <a:r>
              <a:rPr lang="en-US" dirty="0"/>
              <a:t>-specs/SAMv1.pdf</a:t>
            </a:r>
          </a:p>
        </p:txBody>
      </p:sp>
    </p:spTree>
    <p:extLst>
      <p:ext uri="{BB962C8B-B14F-4D97-AF65-F5344CB8AC3E}">
        <p14:creationId xmlns:p14="http://schemas.microsoft.com/office/powerpoint/2010/main" val="2016031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43603-729D-96FA-FC15-572E02AC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- BAM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7B4514-CFFB-B84D-2519-50720F8541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489054"/>
              </p:ext>
            </p:extLst>
          </p:nvPr>
        </p:nvGraphicFramePr>
        <p:xfrm>
          <a:off x="914400" y="1453115"/>
          <a:ext cx="10363200" cy="4615176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1061451">
                  <a:extLst>
                    <a:ext uri="{9D8B030D-6E8A-4147-A177-3AD203B41FA5}">
                      <a16:colId xmlns:a16="http://schemas.microsoft.com/office/drawing/2014/main" val="1814490171"/>
                    </a:ext>
                  </a:extLst>
                </a:gridCol>
                <a:gridCol w="1080125">
                  <a:extLst>
                    <a:ext uri="{9D8B030D-6E8A-4147-A177-3AD203B41FA5}">
                      <a16:colId xmlns:a16="http://schemas.microsoft.com/office/drawing/2014/main" val="3195634975"/>
                    </a:ext>
                  </a:extLst>
                </a:gridCol>
                <a:gridCol w="4958879">
                  <a:extLst>
                    <a:ext uri="{9D8B030D-6E8A-4147-A177-3AD203B41FA5}">
                      <a16:colId xmlns:a16="http://schemas.microsoft.com/office/drawing/2014/main" val="1761058565"/>
                    </a:ext>
                  </a:extLst>
                </a:gridCol>
                <a:gridCol w="3262745">
                  <a:extLst>
                    <a:ext uri="{9D8B030D-6E8A-4147-A177-3AD203B41FA5}">
                      <a16:colId xmlns:a16="http://schemas.microsoft.com/office/drawing/2014/main" val="2611174171"/>
                    </a:ext>
                  </a:extLst>
                </a:gridCol>
              </a:tblGrid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/>
                        <a:t>Thứ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tự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Ý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nghĩa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Ví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dụ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6017189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QNAME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Tên</a:t>
                      </a:r>
                      <a:r>
                        <a:rPr lang="en-US" sz="1800" dirty="0"/>
                        <a:t> read / query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QNAME = read_001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9662482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FLAG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Mã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số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mô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tả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trạng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thái</a:t>
                      </a:r>
                      <a:r>
                        <a:rPr lang="en-US" sz="1800" dirty="0"/>
                        <a:t> alignment </a:t>
                      </a:r>
                      <a:r>
                        <a:rPr lang="en-US" sz="1800" dirty="0" err="1"/>
                        <a:t>của</a:t>
                      </a:r>
                      <a:r>
                        <a:rPr lang="en-US" sz="1800" dirty="0"/>
                        <a:t> 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FLAG  = 0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8440405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vi-VN" sz="1800" dirty="0"/>
                        <a:t>Tên reference/chromosome nơi read map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RNAME = chr1</a:t>
                      </a:r>
                      <a:endParaRPr lang="vi-VN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460343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Vị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trí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bắt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đầu</a:t>
                      </a:r>
                      <a:r>
                        <a:rPr lang="en-US" sz="1800" dirty="0"/>
                        <a:t> alignment </a:t>
                      </a:r>
                      <a:r>
                        <a:rPr lang="en-US" sz="1800" dirty="0" err="1"/>
                        <a:t>trên</a:t>
                      </a:r>
                      <a:r>
                        <a:rPr lang="en-US" sz="1800" dirty="0"/>
                        <a:t> reference, 1-based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POS   = 10001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3514062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MAPQ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Mapping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MAPQ  = 60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2148475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CIGAR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Cách</a:t>
                      </a:r>
                      <a:r>
                        <a:rPr lang="en-US" sz="1800" dirty="0"/>
                        <a:t> read align </a:t>
                      </a:r>
                      <a:r>
                        <a:rPr lang="en-US" sz="1800" dirty="0" err="1"/>
                        <a:t>với</a:t>
                      </a:r>
                      <a:r>
                        <a:rPr lang="en-US" sz="1800" dirty="0"/>
                        <a:t> reference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CIGAR = 100M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8089679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RNEXT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Reference/chromosome </a:t>
                      </a:r>
                      <a:r>
                        <a:rPr lang="en-US" sz="1800" dirty="0" err="1"/>
                        <a:t>của</a:t>
                      </a:r>
                      <a:r>
                        <a:rPr lang="en-US" sz="1800" dirty="0"/>
                        <a:t> mate 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RNEXT = *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785584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PNEXT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Vị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trí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của</a:t>
                      </a:r>
                      <a:r>
                        <a:rPr lang="en-US" sz="1800" dirty="0"/>
                        <a:t> mate 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PNEXT = 0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4330705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TLEN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Template length / insert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TLEN  = 0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7106006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SEQ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Sequence </a:t>
                      </a:r>
                      <a:r>
                        <a:rPr lang="en-US" sz="1800" dirty="0" err="1"/>
                        <a:t>của</a:t>
                      </a:r>
                      <a:r>
                        <a:rPr lang="en-US" sz="1800" dirty="0"/>
                        <a:t> 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SEQ   = ACGTACGT...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506373"/>
                  </a:ext>
                </a:extLst>
              </a:tr>
              <a:tr h="384598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QUAL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Base quality 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QUAL  = IIIIIIII...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21670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CC5E27-5169-25B5-EF4F-E8E05343BA17}"/>
              </a:ext>
            </a:extLst>
          </p:cNvPr>
          <p:cNvSpPr txBox="1"/>
          <p:nvPr/>
        </p:nvSpPr>
        <p:spPr>
          <a:xfrm>
            <a:off x="6301740" y="6373326"/>
            <a:ext cx="54635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https://</a:t>
            </a:r>
            <a:r>
              <a:rPr lang="en-US" dirty="0" err="1"/>
              <a:t>samtools.github.io</a:t>
            </a:r>
            <a:r>
              <a:rPr lang="en-US" dirty="0"/>
              <a:t>/</a:t>
            </a:r>
            <a:r>
              <a:rPr lang="en-US" dirty="0" err="1"/>
              <a:t>hts</a:t>
            </a:r>
            <a:r>
              <a:rPr lang="en-US" dirty="0"/>
              <a:t>-specs/SAMv1.pdf</a:t>
            </a:r>
          </a:p>
        </p:txBody>
      </p:sp>
    </p:spTree>
    <p:extLst>
      <p:ext uri="{BB962C8B-B14F-4D97-AF65-F5344CB8AC3E}">
        <p14:creationId xmlns:p14="http://schemas.microsoft.com/office/powerpoint/2010/main" val="20183818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A19A6-3C28-BA9A-F44F-EF27F7C3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FLAG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3103EC-2E9B-50F9-EF16-7DA15FE9A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68" y="1521246"/>
            <a:ext cx="9295625" cy="3815508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451DA1E-AF08-4AE8-E9F1-54574C6461B1}"/>
              </a:ext>
            </a:extLst>
          </p:cNvPr>
          <p:cNvSpPr/>
          <p:nvPr/>
        </p:nvSpPr>
        <p:spPr>
          <a:xfrm>
            <a:off x="1487277" y="2456761"/>
            <a:ext cx="3503364" cy="275422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930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A19A6-3C28-BA9A-F44F-EF27F7C3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CIGAR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F62813-B374-6A95-64B8-40A638402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425994"/>
              </p:ext>
            </p:extLst>
          </p:nvPr>
        </p:nvGraphicFramePr>
        <p:xfrm>
          <a:off x="838200" y="1303070"/>
          <a:ext cx="7248182" cy="4744420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708715">
                  <a:extLst>
                    <a:ext uri="{9D8B030D-6E8A-4147-A177-3AD203B41FA5}">
                      <a16:colId xmlns:a16="http://schemas.microsoft.com/office/drawing/2014/main" val="380373249"/>
                    </a:ext>
                  </a:extLst>
                </a:gridCol>
                <a:gridCol w="6539467">
                  <a:extLst>
                    <a:ext uri="{9D8B030D-6E8A-4147-A177-3AD203B41FA5}">
                      <a16:colId xmlns:a16="http://schemas.microsoft.com/office/drawing/2014/main" val="3903944822"/>
                    </a:ext>
                  </a:extLst>
                </a:gridCol>
              </a:tblGrid>
              <a:tr h="2820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CIGAR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Chú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giải</a:t>
                      </a:r>
                      <a:endParaRPr lang="en-US" sz="1400" dirty="0"/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690772605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/>
                        <a:t>Base của read được align với reference, nhưng có thể là </a:t>
                      </a:r>
                      <a:r>
                        <a:rPr lang="vi-VN" sz="1400" b="1"/>
                        <a:t>match hoặc mismatch</a:t>
                      </a:r>
                      <a:r>
                        <a:rPr lang="vi-VN" sz="1400"/>
                        <a:t>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575303585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 b="1"/>
                        <a:t>Insertion</a:t>
                      </a:r>
                      <a:r>
                        <a:rPr lang="vi-VN" sz="1400"/>
                        <a:t>: có base trong read nhưng không có base tương ứng trên reference.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2886707687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 b="1" dirty="0"/>
                        <a:t>Deletion</a:t>
                      </a:r>
                      <a:r>
                        <a:rPr lang="vi-VN" sz="1400" dirty="0"/>
                        <a:t>: có base trên reference nhưng read bị thiếu base đó.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59779138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 b="1" dirty="0"/>
                        <a:t>Skipped region</a:t>
                      </a:r>
                      <a:r>
                        <a:rPr lang="vi-VN" sz="1400" dirty="0"/>
                        <a:t>: bỏ qua một đoạn dài trên reference, thường gặp trong RNA-seq/splicing.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843257892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 b="1"/>
                        <a:t>Soft clipping</a:t>
                      </a:r>
                      <a:r>
                        <a:rPr lang="vi-VN" sz="1400"/>
                        <a:t>: base vẫn có trong read sequence nhưng không được align vào reference.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526099180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Hard clipping</a:t>
                      </a:r>
                      <a:r>
                        <a:rPr lang="en-US" sz="1400"/>
                        <a:t>: base bị loại khỏi read sequence trong SAM/BAM, không còn thấy trong cột SEQ.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3007511380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vi-VN" sz="1400" b="1"/>
                        <a:t>Padding</a:t>
                      </a:r>
                      <a:r>
                        <a:rPr lang="vi-VN" sz="1400"/>
                        <a:t>: ký hiệu đệm trong multiple alignment, rất ít gặp trong phân tích thông thường.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2277050107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=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Exact match</a:t>
                      </a:r>
                      <a:r>
                        <a:rPr lang="en-US" sz="1400"/>
                        <a:t>: base của read giống chính xác với base trên reference.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54172108"/>
                  </a:ext>
                </a:extLst>
              </a:tr>
              <a:tr h="49359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X</a:t>
                      </a:r>
                    </a:p>
                  </a:txBody>
                  <a:tcPr marL="70513" marR="70513" marT="35257" marB="35257" anchor="ctr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Mismatch</a:t>
                      </a:r>
                      <a:r>
                        <a:rPr lang="en-US" sz="1400" dirty="0"/>
                        <a:t>: base </a:t>
                      </a:r>
                      <a:r>
                        <a:rPr lang="en-US" sz="1400" dirty="0" err="1"/>
                        <a:t>của</a:t>
                      </a:r>
                      <a:r>
                        <a:rPr lang="en-US" sz="1400" dirty="0"/>
                        <a:t> read </a:t>
                      </a:r>
                      <a:r>
                        <a:rPr lang="en-US" sz="1400" dirty="0" err="1"/>
                        <a:t>khác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với</a:t>
                      </a:r>
                      <a:r>
                        <a:rPr lang="en-US" sz="1400" dirty="0"/>
                        <a:t> base </a:t>
                      </a:r>
                      <a:r>
                        <a:rPr lang="en-US" sz="1400" dirty="0" err="1"/>
                        <a:t>trên</a:t>
                      </a:r>
                      <a:r>
                        <a:rPr lang="en-US" sz="1400" dirty="0"/>
                        <a:t> reference.</a:t>
                      </a:r>
                    </a:p>
                  </a:txBody>
                  <a:tcPr marL="70513" marR="70513" marT="35257" marB="35257" anchor="ctr"/>
                </a:tc>
                <a:extLst>
                  <a:ext uri="{0D108BD9-81ED-4DB2-BD59-A6C34878D82A}">
                    <a16:rowId xmlns:a16="http://schemas.microsoft.com/office/drawing/2014/main" val="155554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F147A58-B584-8B56-7034-DFFAC9A05164}"/>
              </a:ext>
            </a:extLst>
          </p:cNvPr>
          <p:cNvSpPr txBox="1"/>
          <p:nvPr/>
        </p:nvSpPr>
        <p:spPr>
          <a:xfrm>
            <a:off x="8563778" y="1770828"/>
            <a:ext cx="235393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50M5I45M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 bases align,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 bases insertion </a:t>
            </a:r>
            <a:r>
              <a:rPr lang="en-US" dirty="0" err="1"/>
              <a:t>trong</a:t>
            </a:r>
            <a:r>
              <a:rPr lang="en-US" dirty="0"/>
              <a:t> read,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45 bases align </a:t>
            </a:r>
            <a:r>
              <a:rPr lang="en-US" dirty="0" err="1"/>
              <a:t>tiếp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05930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46CCC-5AC4-6DBC-9D73-D5ACB26EC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VCF – Variant Calling Format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2AC156-C364-3249-D5F1-6F5E09C3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219199"/>
            <a:ext cx="9209183" cy="31481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52E34A-B500-7E93-D031-2B481CFBBD70}"/>
              </a:ext>
            </a:extLst>
          </p:cNvPr>
          <p:cNvSpPr txBox="1"/>
          <p:nvPr/>
        </p:nvSpPr>
        <p:spPr>
          <a:xfrm>
            <a:off x="599502" y="6303278"/>
            <a:ext cx="11592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https://</a:t>
            </a:r>
            <a:r>
              <a:rPr lang="en-US" sz="1600" dirty="0" err="1"/>
              <a:t>training.galaxyproject.org</a:t>
            </a:r>
            <a:r>
              <a:rPr lang="en-US" sz="1600" dirty="0"/>
              <a:t>/training-material/topics/data-science/tutorials/online-resources-gene/slides-</a:t>
            </a:r>
            <a:r>
              <a:rPr lang="en-US" sz="1600" dirty="0" err="1"/>
              <a:t>plain.html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06078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11E7-0E5A-EDC6-1561-93B8240B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2DB425-B31D-A68F-43EE-DC1D8E2276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78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4B312-4AEF-23A1-0604-517E3FE7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command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80007D-3701-29BE-7347-25F43C7656B8}"/>
              </a:ext>
            </a:extLst>
          </p:cNvPr>
          <p:cNvSpPr txBox="1"/>
          <p:nvPr/>
        </p:nvSpPr>
        <p:spPr>
          <a:xfrm>
            <a:off x="838200" y="2241908"/>
            <a:ext cx="756399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 dirty="0">
                <a:latin typeface="Consolas" panose="020B0609020204030204" pitchFamily="49" charset="0"/>
                <a:cs typeface="Consolas" panose="020B0609020204030204" pitchFamily="49" charset="0"/>
              </a:rPr>
              <a:t># Navigation</a:t>
            </a:r>
          </a:p>
          <a:p>
            <a:endParaRPr lang="vi-V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pwd                 # xem thư mục hiện tại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ls                  # liệt kê file/folder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ls -lh              # liệt kê kèm size dễ đọc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cd folder_name      # đi vào thư mục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cd ..               # quay lại thư mục cha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mkdir folder_name   # tạo thư mục mới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cp file1 file2      # copy file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cp -r dir1 dir2     # copy thư mục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mv old new          # đổi tên hoặc di chuyển file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rm file             # xóa file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rm -r folder        # xóa thư mục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2D3B1-C1BB-3DD8-CAEE-35439A5D933C}"/>
              </a:ext>
            </a:extLst>
          </p:cNvPr>
          <p:cNvSpPr txBox="1"/>
          <p:nvPr/>
        </p:nvSpPr>
        <p:spPr>
          <a:xfrm>
            <a:off x="838200" y="1510328"/>
            <a:ext cx="2064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Công</a:t>
            </a:r>
            <a:r>
              <a:rPr lang="en-US" b="1" dirty="0"/>
              <a:t> </a:t>
            </a:r>
            <a:r>
              <a:rPr lang="en-US" b="1" dirty="0" err="1"/>
              <a:t>cụ</a:t>
            </a:r>
            <a:r>
              <a:rPr lang="en-US" b="1" dirty="0"/>
              <a:t>: Terminal</a:t>
            </a:r>
          </a:p>
        </p:txBody>
      </p:sp>
    </p:spTree>
    <p:extLst>
      <p:ext uri="{BB962C8B-B14F-4D97-AF65-F5344CB8AC3E}">
        <p14:creationId xmlns:p14="http://schemas.microsoft.com/office/powerpoint/2010/main" val="19397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4B312-4AEF-23A1-0604-517E3FE7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command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80007D-3701-29BE-7347-25F43C7656B8}"/>
              </a:ext>
            </a:extLst>
          </p:cNvPr>
          <p:cNvSpPr txBox="1"/>
          <p:nvPr/>
        </p:nvSpPr>
        <p:spPr>
          <a:xfrm>
            <a:off x="952041" y="1291790"/>
            <a:ext cx="904025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1" dirty="0">
                <a:latin typeface="Consolas" panose="020B0609020204030204" pitchFamily="49" charset="0"/>
                <a:cs typeface="Consolas" panose="020B0609020204030204" pitchFamily="49" charset="0"/>
              </a:rPr>
              <a:t># Working with file</a:t>
            </a:r>
            <a:endParaRPr lang="vi-V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head file.txt       # xem vài dòng đầu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tail file.txt       # xem vài dòng cuối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less file.txt       # xem file dài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cat file.txt        # in toàn bộ nội dung file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wc -l file.txt      # đếm số dòng</a:t>
            </a:r>
          </a:p>
          <a:p>
            <a:r>
              <a:rPr lang="vi-VN" dirty="0">
                <a:latin typeface="Consolas" panose="020B0609020204030204" pitchFamily="49" charset="0"/>
                <a:cs typeface="Consolas" panose="020B0609020204030204" pitchFamily="49" charset="0"/>
              </a:rPr>
              <a:t>grep "text" file    # tìm dòng chứa text</a:t>
            </a:r>
          </a:p>
          <a:p>
            <a:endParaRPr lang="vi-V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vi-VN" b="1" dirty="0">
                <a:latin typeface="Consolas" panose="020B0609020204030204" pitchFamily="49" charset="0"/>
                <a:cs typeface="Consolas" panose="020B0609020204030204" pitchFamily="49" charset="0"/>
              </a:rPr>
              <a:t># Gzip file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zcat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reads.fastq.gz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| head      #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xem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file 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gz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gunzip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file.gz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#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giải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nén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gz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tar -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xzvf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file.tar.gz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#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giải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nén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tar.gz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unzip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file.zip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#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giải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nén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zip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# Working with sever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file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user@server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:/path/     # upload file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lên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server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user@server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:/path/file .     # download file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về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laptop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rsync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-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avh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--progress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user@server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:/path/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84406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C8F6-2E77-5476-6BFE-D03F0678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Login to sever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FE92CF-F0C3-B196-0591-D105D4E51D25}"/>
              </a:ext>
            </a:extLst>
          </p:cNvPr>
          <p:cNvSpPr txBox="1"/>
          <p:nvPr/>
        </p:nvSpPr>
        <p:spPr>
          <a:xfrm>
            <a:off x="838200" y="1608463"/>
            <a:ext cx="3513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ssh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ont_bio@3.20.225.243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Password: ont2026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4DEE8F-1E86-681C-FD71-92208178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35160"/>
            <a:ext cx="5992045" cy="24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4081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C8F6-2E77-5476-6BFE-D03F0678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Transfer file between local &lt;-&gt; sever using </a:t>
            </a:r>
            <a:r>
              <a:rPr lang="en-US" dirty="0" err="1"/>
              <a:t>Filezilla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4253CC-8602-9016-5703-5CA127531ACD}"/>
              </a:ext>
            </a:extLst>
          </p:cNvPr>
          <p:cNvSpPr txBox="1"/>
          <p:nvPr/>
        </p:nvSpPr>
        <p:spPr>
          <a:xfrm>
            <a:off x="838200" y="1477277"/>
            <a:ext cx="1969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Công</a:t>
            </a:r>
            <a:r>
              <a:rPr lang="en-US" b="1" dirty="0"/>
              <a:t> </a:t>
            </a:r>
            <a:r>
              <a:rPr lang="en-US" b="1" dirty="0" err="1"/>
              <a:t>cụ</a:t>
            </a:r>
            <a:r>
              <a:rPr lang="en-US" b="1" dirty="0"/>
              <a:t>: </a:t>
            </a:r>
            <a:r>
              <a:rPr lang="en-US" b="1" dirty="0" err="1"/>
              <a:t>Filezilla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F8439-E445-9F4B-259D-A09F67738C61}"/>
              </a:ext>
            </a:extLst>
          </p:cNvPr>
          <p:cNvSpPr txBox="1"/>
          <p:nvPr/>
        </p:nvSpPr>
        <p:spPr>
          <a:xfrm>
            <a:off x="838200" y="2175806"/>
            <a:ext cx="3477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#installation</a:t>
            </a:r>
          </a:p>
          <a:p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apt install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filezilla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7399E5-7DA4-7839-3966-407407E48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87284"/>
            <a:ext cx="7303265" cy="3637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92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C8F6-2E77-5476-6BFE-D03F0678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Conda</a:t>
            </a:r>
            <a:r>
              <a:rPr lang="en-US" dirty="0"/>
              <a:t> environment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831536-BBD4-0EDC-9C7D-0B2837D0CA70}"/>
              </a:ext>
            </a:extLst>
          </p:cNvPr>
          <p:cNvSpPr txBox="1"/>
          <p:nvPr/>
        </p:nvSpPr>
        <p:spPr>
          <a:xfrm>
            <a:off x="838200" y="1477277"/>
            <a:ext cx="2212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Công</a:t>
            </a:r>
            <a:r>
              <a:rPr lang="en-US" b="1" dirty="0"/>
              <a:t> </a:t>
            </a:r>
            <a:r>
              <a:rPr lang="en-US" b="1" dirty="0" err="1"/>
              <a:t>cụ</a:t>
            </a:r>
            <a:r>
              <a:rPr lang="en-US" b="1" dirty="0"/>
              <a:t>: Anaconda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E84320-0D14-6A56-69F9-D5F678BF4CF7}"/>
              </a:ext>
            </a:extLst>
          </p:cNvPr>
          <p:cNvSpPr txBox="1"/>
          <p:nvPr/>
        </p:nvSpPr>
        <p:spPr>
          <a:xfrm>
            <a:off x="838200" y="2087671"/>
            <a:ext cx="109270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#installation</a:t>
            </a:r>
          </a:p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-p ~/miniconda3</a:t>
            </a:r>
          </a:p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wget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https://repo.anaconda.com/miniconda/Miniconda3-latest-Linux-x86_64.sh -O ~/miniconda3/miniconda.sh</a:t>
            </a: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# create environment</a:t>
            </a:r>
          </a:p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conda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env create –f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ont.yml</a:t>
            </a:r>
            <a:endParaRPr lang="en-US" sz="1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D7E88-2C6D-AC16-DE55-71051586DE45}"/>
              </a:ext>
            </a:extLst>
          </p:cNvPr>
          <p:cNvSpPr txBox="1"/>
          <p:nvPr/>
        </p:nvSpPr>
        <p:spPr>
          <a:xfrm>
            <a:off x="5004135" y="2887890"/>
            <a:ext cx="23969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name: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ont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channels: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conda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-forge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bioconda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defaults</a:t>
            </a:r>
          </a:p>
          <a:p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dependencies: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python=3.10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wget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curl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unzip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gzip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tree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seqkit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nanoplot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minimap2</a:t>
            </a: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bcftools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htslib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tabix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9961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8F9D3-C956-9708-E613-04D48A62F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with </a:t>
            </a:r>
            <a:r>
              <a:rPr lang="en-US" dirty="0" err="1"/>
              <a:t>Samtools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17CEE-0BA5-2DFD-E4A7-B7434D75794C}"/>
              </a:ext>
            </a:extLst>
          </p:cNvPr>
          <p:cNvSpPr txBox="1"/>
          <p:nvPr/>
        </p:nvSpPr>
        <p:spPr>
          <a:xfrm>
            <a:off x="838200" y="1443841"/>
            <a:ext cx="700581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View first alignments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view 03_bam/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DEMO.subset.bam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| head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View BAM with header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view -h 03_bam/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DEMO.subset.bam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| head -n 30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View header only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view -H 03_bam/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DEMO.subset.bam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Count alignments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view -c 03_bam/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DEMO.subset.bam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Mapping summary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samtools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flagstat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03_bam/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DEMO.subset.bam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0427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FEE6-B98B-AF6C-D4C6-9D3DE8AB2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BD838-2502-6741-788E-A2ADFC2A2D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Bioinformatics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variant calling.</a:t>
            </a:r>
          </a:p>
          <a:p>
            <a:r>
              <a:rPr lang="en-US" dirty="0" err="1"/>
              <a:t>Khái</a:t>
            </a:r>
            <a:r>
              <a:rPr lang="en-US" dirty="0"/>
              <a:t> </a:t>
            </a:r>
            <a:r>
              <a:rPr lang="en-US" dirty="0" err="1"/>
              <a:t>niệm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nền</a:t>
            </a:r>
            <a:r>
              <a:rPr lang="en-US" dirty="0"/>
              <a:t> </a:t>
            </a:r>
            <a:r>
              <a:rPr lang="en-US" dirty="0" err="1"/>
              <a:t>tảng</a:t>
            </a:r>
            <a:r>
              <a:rPr lang="en-US" dirty="0"/>
              <a:t>.</a:t>
            </a:r>
          </a:p>
          <a:p>
            <a:r>
              <a:rPr lang="en-US" dirty="0" err="1"/>
              <a:t>Các</a:t>
            </a:r>
            <a:r>
              <a:rPr lang="en-US" dirty="0"/>
              <a:t> login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sever</a:t>
            </a:r>
          </a:p>
          <a:p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quen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môi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command line (</a:t>
            </a:r>
            <a:r>
              <a:rPr lang="en-US" dirty="0" err="1"/>
              <a:t>unix</a:t>
            </a:r>
            <a:r>
              <a:rPr lang="en-US" dirty="0"/>
              <a:t>)</a:t>
            </a:r>
          </a:p>
          <a:p>
            <a:r>
              <a:rPr lang="en-US" dirty="0"/>
              <a:t>Setup </a:t>
            </a:r>
            <a:r>
              <a:rPr lang="en-US" dirty="0" err="1"/>
              <a:t>môi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dung anaconda.</a:t>
            </a:r>
          </a:p>
        </p:txBody>
      </p:sp>
    </p:spTree>
    <p:extLst>
      <p:ext uri="{BB962C8B-B14F-4D97-AF65-F5344CB8AC3E}">
        <p14:creationId xmlns:p14="http://schemas.microsoft.com/office/powerpoint/2010/main" val="3471955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5106</TotalTime>
  <Words>1531</Words>
  <Application>Microsoft Macintosh PowerPoint</Application>
  <PresentationFormat>Widescreen</PresentationFormat>
  <Paragraphs>290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Consolas</vt:lpstr>
      <vt:lpstr>Office Theme</vt:lpstr>
      <vt:lpstr>Introduction to Bioinformatics with Offord Nanopore Sequencing</vt:lpstr>
      <vt:lpstr>Mục tiêu chung</vt:lpstr>
      <vt:lpstr>Bioinformatics là gì?</vt:lpstr>
      <vt:lpstr>Tại sao Bioinformatics?</vt:lpstr>
      <vt:lpstr>Từ mẫu thực nghiệm đến tin sinh học</vt:lpstr>
      <vt:lpstr>Khái niệm cơ bản</vt:lpstr>
      <vt:lpstr>Variant calling workflow</vt:lpstr>
      <vt:lpstr>Genome, reference genome, read</vt:lpstr>
      <vt:lpstr>FASTQ</vt:lpstr>
      <vt:lpstr>FASTQ</vt:lpstr>
      <vt:lpstr>FASTA</vt:lpstr>
      <vt:lpstr>SAM - BAM</vt:lpstr>
      <vt:lpstr>SAM - BAM</vt:lpstr>
      <vt:lpstr>SAM FLAG</vt:lpstr>
      <vt:lpstr>SAM CIGAR</vt:lpstr>
      <vt:lpstr>VCF – Variant Calling Format</vt:lpstr>
      <vt:lpstr>Practice</vt:lpstr>
      <vt:lpstr>Practice command lines</vt:lpstr>
      <vt:lpstr>Practice command lines</vt:lpstr>
      <vt:lpstr>Demo Login to sever</vt:lpstr>
      <vt:lpstr>Transfer file between local &lt;-&gt; sever using Filezilla</vt:lpstr>
      <vt:lpstr>Conda environment</vt:lpstr>
      <vt:lpstr>Practice with Samtools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Bioinformatics with Offord Nanopore Sequencing</dc:title>
  <dc:creator>Van Lam Nguyen</dc:creator>
  <cp:lastModifiedBy>Van Lam Nguyen</cp:lastModifiedBy>
  <cp:revision>7</cp:revision>
  <dcterms:created xsi:type="dcterms:W3CDTF">2026-08-31T02:15:13Z</dcterms:created>
  <dcterms:modified xsi:type="dcterms:W3CDTF">2026-09-03T15:21:35Z</dcterms:modified>
</cp:coreProperties>
</file>