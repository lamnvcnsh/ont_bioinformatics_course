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7" r:id="rId13"/>
    <p:sldId id="268" r:id="rId14"/>
    <p:sldId id="269" r:id="rId15"/>
    <p:sldId id="271" r:id="rId16"/>
    <p:sldId id="288" r:id="rId17"/>
    <p:sldId id="289" r:id="rId18"/>
    <p:sldId id="273" r:id="rId19"/>
    <p:sldId id="270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309"/>
    <p:restoredTop sz="94643"/>
  </p:normalViewPr>
  <p:slideViewPr>
    <p:cSldViewPr snapToGrid="0">
      <p:cViewPr>
        <p:scale>
          <a:sx n="110" d="100"/>
          <a:sy n="110" d="100"/>
        </p:scale>
        <p:origin x="1816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ASCII converter: https://</a:t>
            </a:r>
            <a:r>
              <a:rPr lang="en-US" dirty="0" err="1"/>
              <a:t>jamiemcgowan.ie</a:t>
            </a:r>
            <a:r>
              <a:rPr lang="en-US" dirty="0"/>
              <a:t>/</a:t>
            </a:r>
            <a:r>
              <a:rPr lang="en-US" dirty="0" err="1"/>
              <a:t>bioinf</a:t>
            </a:r>
            <a:r>
              <a:rPr lang="en-US" dirty="0"/>
              <a:t>/</a:t>
            </a:r>
            <a:r>
              <a:rPr lang="en-US" dirty="0" err="1"/>
              <a:t>phred.html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60FE58-CBDE-0A4A-BBEA-D4F5C203AD7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866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https://commons.wikimedia.org/wiki/File:Mapping_Reads.png (image; Suspencewl; CC0 1.0)</a:t>
            </a:r>
          </a:p>
          <a:p>
            <a:r>
              <a:t>- https://www.genome.gov/10001456/2000-release-highdensity-snp-map (definition of depth of coverage)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726459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1">
                <a:latin typeface="Consolas"/>
                <a:ea typeface="Consolas"/>
                <a:cs typeface="Consolas"/>
              </a:rPr>
              <a:t>name: ont</a:t>
            </a:r>
          </a:p>
          <a:p>
            <a:r>
              <a:rPr sz="1200" b="1">
                <a:latin typeface="Consolas"/>
                <a:ea typeface="Consolas"/>
                <a:cs typeface="Consolas"/>
              </a:rPr>
              <a:t>channels:</a:t>
            </a:r>
          </a:p>
          <a:p>
            <a:r>
              <a:rPr sz="1200" b="1">
                <a:latin typeface="Consolas"/>
                <a:ea typeface="Consolas"/>
                <a:cs typeface="Consolas"/>
              </a:rPr>
              <a:t>  - conda-forge</a:t>
            </a:r>
          </a:p>
          <a:p>
            <a:r>
              <a:rPr sz="1200" b="1">
                <a:latin typeface="Consolas"/>
                <a:ea typeface="Consolas"/>
                <a:cs typeface="Consolas"/>
              </a:rPr>
              <a:t>  - bioconda</a:t>
            </a:r>
          </a:p>
          <a:p>
            <a:r>
              <a:rPr sz="1200" b="1">
                <a:latin typeface="Consolas"/>
                <a:ea typeface="Consolas"/>
                <a:cs typeface="Consolas"/>
              </a:rPr>
              <a:t>  - defaults</a:t>
            </a:r>
          </a:p>
          <a:p>
            <a:endParaRPr sz="1200" b="1">
              <a:latin typeface="Consolas"/>
              <a:ea typeface="Consolas"/>
              <a:cs typeface="Consolas"/>
            </a:endParaRPr>
          </a:p>
          <a:p>
            <a:r>
              <a:rPr sz="1200" b="1">
                <a:latin typeface="Consolas"/>
                <a:ea typeface="Consolas"/>
                <a:cs typeface="Consolas"/>
              </a:rPr>
              <a:t>dependencies:</a:t>
            </a:r>
          </a:p>
          <a:p>
            <a:r>
              <a:rPr sz="1200" b="1">
                <a:latin typeface="Consolas"/>
                <a:ea typeface="Consolas"/>
                <a:cs typeface="Consolas"/>
              </a:rPr>
              <a:t>  - python=3.10</a:t>
            </a:r>
          </a:p>
          <a:p>
            <a:r>
              <a:rPr sz="1200" b="1">
                <a:latin typeface="Consolas"/>
                <a:ea typeface="Consolas"/>
                <a:cs typeface="Consolas"/>
              </a:rPr>
              <a:t>  - wget</a:t>
            </a:r>
          </a:p>
          <a:p>
            <a:r>
              <a:rPr sz="1200" b="1">
                <a:latin typeface="Consolas"/>
                <a:ea typeface="Consolas"/>
                <a:cs typeface="Consolas"/>
              </a:rPr>
              <a:t>  - curl</a:t>
            </a:r>
          </a:p>
          <a:p>
            <a:r>
              <a:rPr sz="1200" b="1">
                <a:latin typeface="Consolas"/>
                <a:ea typeface="Consolas"/>
                <a:cs typeface="Consolas"/>
              </a:rPr>
              <a:t>  - unzip</a:t>
            </a:r>
          </a:p>
          <a:p>
            <a:r>
              <a:rPr sz="1200" b="1">
                <a:latin typeface="Consolas"/>
                <a:ea typeface="Consolas"/>
                <a:cs typeface="Consolas"/>
              </a:rPr>
              <a:t>  - gzip</a:t>
            </a:r>
          </a:p>
          <a:p>
            <a:r>
              <a:rPr sz="1200" b="1">
                <a:latin typeface="Consolas"/>
                <a:ea typeface="Consolas"/>
                <a:cs typeface="Consolas"/>
              </a:rPr>
              <a:t>  - tree</a:t>
            </a:r>
          </a:p>
          <a:p>
            <a:r>
              <a:rPr sz="1200" b="1">
                <a:latin typeface="Consolas"/>
                <a:ea typeface="Consolas"/>
                <a:cs typeface="Consolas"/>
              </a:rPr>
              <a:t>  - seqkit</a:t>
            </a:r>
          </a:p>
          <a:p>
            <a:r>
              <a:rPr sz="1200" b="1">
                <a:latin typeface="Consolas"/>
                <a:ea typeface="Consolas"/>
                <a:cs typeface="Consolas"/>
              </a:rPr>
              <a:t>  - nanoplot</a:t>
            </a:r>
          </a:p>
          <a:p>
            <a:r>
              <a:rPr sz="1200" b="1">
                <a:latin typeface="Consolas"/>
                <a:ea typeface="Consolas"/>
                <a:cs typeface="Consolas"/>
              </a:rPr>
              <a:t>  - minimap2</a:t>
            </a:r>
          </a:p>
          <a:p>
            <a:r>
              <a:rPr sz="1200" b="1">
                <a:latin typeface="Consolas"/>
                <a:ea typeface="Consolas"/>
                <a:cs typeface="Consolas"/>
              </a:rPr>
              <a:t>  - samtools</a:t>
            </a:r>
          </a:p>
          <a:p>
            <a:r>
              <a:rPr sz="1200" b="1">
                <a:latin typeface="Consolas"/>
                <a:ea typeface="Consolas"/>
                <a:cs typeface="Consolas"/>
              </a:rPr>
              <a:t>  - bcftools</a:t>
            </a:r>
          </a:p>
          <a:p>
            <a:r>
              <a:rPr sz="1200" b="1">
                <a:latin typeface="Consolas"/>
                <a:ea typeface="Consolas"/>
                <a:cs typeface="Consolas"/>
              </a:rPr>
              <a:t>  - htslib</a:t>
            </a:r>
          </a:p>
          <a:p>
            <a:r>
              <a:rPr sz="1200" b="1">
                <a:latin typeface="Consolas"/>
                <a:ea typeface="Consolas"/>
                <a:cs typeface="Consolas"/>
              </a:rPr>
              <a:t>  - tabix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FA5B9-5BF1-B50D-5BAE-A229DB179A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>
            <a:lvl1pPr algn="ctr">
              <a:buNone/>
              <a:defRPr sz="44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C9FDA5-592A-666B-0E30-0DAF4C6ED5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1CC01-1E7C-A6DA-AB33-747E67C16AE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C0787A1-AE21-7749-8ABB-48F5E74FF1F8}" type="datetimeFigureOut">
              <a:t>9/3/26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72309-7945-8334-4676-2816A957C92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ECEAB-C954-5C57-9F0C-27C1A133B5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CA5B4E-8CC0-F641-B9F8-098110D0683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B50CE-DDB2-C6F1-0E2C-84A0F1DB1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6A5FE-BD29-2F87-99B6-55296C460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96091-9086-BFB4-7FCF-91E23027429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C0787A1-AE21-7749-8ABB-48F5E74FF1F8}" type="datetimeFigureOut">
              <a:t>9/3/26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02AE4-41F8-9235-E8FF-3C140FABB09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C6C11-AC07-6FDD-17F6-0E5CA622B9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CA5B4E-8CC0-F641-B9F8-098110D0683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F5952-5104-0DF1-3298-CA011779F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8B6440-01AD-17D8-7E7F-286B2B8CB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AF8C8-2AB4-8ECE-C678-F984BF8F262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C0787A1-AE21-7749-8ABB-48F5E74FF1F8}" type="datetimeFigureOut">
              <a:t>9/3/26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21C71-EFDB-3129-1C22-8FAC7CECB37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240E1-3242-8309-7049-4C7A847D39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CA5B4E-8CC0-F641-B9F8-098110D0683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F2A21-0332-077B-CA9E-5970E9B66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F7E85-DACB-435E-388E-84AAF9586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2720"/>
            <a:ext cx="5593080" cy="4734243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8CE932-5AED-44C1-F416-1D183178E16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442720"/>
            <a:ext cx="5593080" cy="4734243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908CA-FE11-58FA-E118-FE91E475D9E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C0787A1-AE21-7749-8ABB-48F5E74FF1F8}" type="datetimeFigureOut">
              <a:t>9/3/26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9C0CC-C9AF-2B0E-5E94-5CB8CE88EA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61A17-A87A-B91C-AD00-52C6B78244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CA5B4E-8CC0-F641-B9F8-098110D0683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187F8-CB13-D112-46A0-1400F47D4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0CCC29-0D4A-7CDA-DAD6-404AF832B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33EF4-BB80-C262-BF5F-067AA647012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ACD9EE-6F9C-56C2-42A4-82213E42C13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DA4CFD-4534-94A3-A3F5-CD5051A8F426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5A5184-F97A-0CBC-E93D-29B1111145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C0787A1-AE21-7749-8ABB-48F5E74FF1F8}" type="datetimeFigureOut">
              <a:t>9/3/26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D1F077-C773-D89A-6AA9-5A858ED89C9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4FDD54-F56C-492B-F7E5-29D11549E0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CA5B4E-8CC0-F641-B9F8-098110D0683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3AD75-1680-56E2-667D-5144DF927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78F568-954E-8FF2-5958-8228CD34AFE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C0787A1-AE21-7749-8ABB-48F5E74FF1F8}" type="datetimeFigureOut">
              <a:t>9/3/26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82F8CA-F620-9E78-6620-EF2CBD3799E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A6A3AD-D7AD-35AB-503C-D6436AC842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CA5B4E-8CC0-F641-B9F8-098110D0683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349316-7366-3468-D447-649179C4020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C0787A1-AE21-7749-8ABB-48F5E74FF1F8}" type="datetimeFigureOut">
              <a:t>9/3/26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ACD0CB-9158-B544-BD49-1225FD48EBE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E35E4-BCCB-9AD3-31CE-2DE2B5BB6D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CA5B4E-8CC0-F641-B9F8-098110D0683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5BE80-F870-6D36-6659-6988EB273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B156F-BFA8-4422-F223-ECAEC21FF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D96322-989C-AE62-067E-5B895570EC2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936132-FE35-22C4-77F0-58AC584C11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C0787A1-AE21-7749-8ABB-48F5E74FF1F8}" type="datetimeFigureOut">
              <a:t>9/3/26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DF304A-6356-6D0B-9DE7-917E760D241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81F05-5586-65FE-5B58-2295B5C135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CA5B4E-8CC0-F641-B9F8-098110D0683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AB09D-500F-21E5-8DF2-45A61C65E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6804B4-2BDB-3D16-81E6-BD74D5AC98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2C85A4-F192-22FF-AA65-0E7267B564A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A8991F-DC65-C6BB-C072-DC0DF37F2F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C0787A1-AE21-7749-8ABB-48F5E74FF1F8}" type="datetimeFigureOut">
              <a:t>9/3/26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9D41F-7E1D-6A98-80A7-94D88B21FBC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2F0CE-9A9C-5344-ADC2-02C0565588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CA5B4E-8CC0-F641-B9F8-098110D0683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231B8-A32C-CC33-7C44-215DE8E22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93B4F-B7F5-E429-ED3A-E17BBCCBE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19601-F4EC-FF07-39CA-A1486100145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C0787A1-AE21-7749-8ABB-48F5E74FF1F8}" type="datetimeFigureOut">
              <a:t>9/3/26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A81E5-BA5B-667E-5CDE-1433663E913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37CFC-4829-5A90-BB3A-B5F4DBE4BF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CA5B4E-8CC0-F641-B9F8-098110D0683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DE8C9B-9793-D24F-7241-A81B371E8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8AE245-6978-06B4-A190-BEA41E8E2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EA965-2C36-2350-D378-6343CDE975E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C0787A1-AE21-7749-8ABB-48F5E74FF1F8}" type="datetimeFigureOut">
              <a:t>9/3/26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7F304-BD5C-7217-D643-8365F8FBAA5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70655-B8E5-060B-A958-91459C404C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CA5B4E-8CC0-F641-B9F8-098110D0683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D3A113-5CD4-608F-1763-2E2D9BFCD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5445"/>
            <a:ext cx="10927080" cy="76263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5C8F8-FCCA-98FF-2CD0-27F37B899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52880"/>
            <a:ext cx="10927080" cy="472408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A2CB3-C046-2323-3DD0-A66E320D24F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0787A1-AE21-7749-8ABB-48F5E74FF1F8}" type="datetimeFigureOut">
              <a:t>9/3/26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A3F5D-5345-0645-671D-8B1DACFB444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D6E75-5765-D15A-4066-A80F58F3ADC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315468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A5B4E-8CC0-F641-B9F8-098110D0683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000" b="1" kern="1200">
          <a:solidFill>
            <a:schemeClr val="accent4">
              <a:lumMod val="75000"/>
            </a:schemeClr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mailto:ont_bio@3.20.225.243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repo.anaconda.com/miniconda/Miniconda3-latest-Linux-x86_64.sh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D0565-21D1-05B5-3C3F-CF2149F748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139" y="1206796"/>
            <a:ext cx="10685721" cy="2387600"/>
          </a:xfrm>
        </p:spPr>
        <p:txBody>
          <a:bodyPr>
            <a:normAutofit/>
          </a:bodyPr>
          <a:lstStyle/>
          <a:p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4800">
                <a:latin typeface="Arial"/>
                <a:ea typeface="Arial"/>
                <a:cs typeface="Arial"/>
              </a:rPr>
              <a:t>Introduction to Bioinformatics</a:t>
            </a:r>
            <a:br/>
            <a:r>
              <a:rPr sz="4000">
                <a:latin typeface="Arial"/>
                <a:ea typeface="Arial"/>
                <a:cs typeface="Arial"/>
              </a:rPr>
              <a:t>with Oxford Nanopore Sequencing</a:t>
            </a:r>
            <a:endParaRPr sz="4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E18202-4EC3-B023-7471-C380673FEC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95442"/>
            <a:ext cx="9144000" cy="1655762"/>
          </a:xfrm>
        </p:spPr>
        <p:txBody>
          <a:bodyPr>
            <a:normAutofit fontScale="75015" lnSpcReduction="20000"/>
          </a:bodyPr>
          <a:lstStyle/>
          <a:p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u="sng" dirty="0">
                <a:latin typeface="Arial"/>
                <a:ea typeface="Arial"/>
                <a:cs typeface="Arial"/>
              </a:rPr>
              <a:t>Van Lam Nguyen</a:t>
            </a:r>
          </a:p>
          <a:p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dirty="0">
                <a:latin typeface="Arial"/>
                <a:ea typeface="Arial"/>
                <a:cs typeface="Arial"/>
              </a:rPr>
              <a:t>Bioinformatics Research Scientist</a:t>
            </a:r>
          </a:p>
          <a:p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dirty="0">
                <a:latin typeface="Arial"/>
                <a:ea typeface="Arial"/>
                <a:cs typeface="Arial"/>
              </a:rPr>
              <a:t>Department of Computational Biology</a:t>
            </a:r>
          </a:p>
          <a:p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dirty="0">
                <a:latin typeface="Arial"/>
                <a:ea typeface="Arial"/>
                <a:cs typeface="Arial"/>
              </a:rPr>
              <a:t>St. Jude Children’s Research Hospital</a:t>
            </a:r>
          </a:p>
          <a:p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dirty="0">
                <a:latin typeface="Arial"/>
                <a:ea typeface="Arial"/>
                <a:cs typeface="Arial"/>
              </a:rPr>
              <a:t>Memphis, TN, USA</a:t>
            </a:r>
          </a:p>
        </p:txBody>
      </p:sp>
    </p:spTree>
    <p:extLst>
      <p:ext uri="{BB962C8B-B14F-4D97-AF65-F5344CB8AC3E}">
        <p14:creationId xmlns:p14="http://schemas.microsoft.com/office/powerpoint/2010/main" val="3866947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40151264-67EC-4835-A6B9-F9565AA0B907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84AA"/>
                </a:solidFill>
                <a:latin typeface="Arial"/>
                <a:ea typeface="Arial"/>
                <a:cs typeface="Arial"/>
              </a:rPr>
              <a:t>Mục tiêu chung của khóa học</a:t>
            </a: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324AE569-EAD1-4B28-BA32-902A10D3D2C2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Course lead">
            <a:extLst>
              <a:ext uri="{FF2B5EF4-FFF2-40B4-BE49-F238E27FC236}">
                <a16:creationId xmlns:a16="http://schemas.microsoft.com/office/drawing/2014/main" id="{B5C59158-86B6-420B-9510-AF7006583FE5}"/>
              </a:ext>
            </a:extLst>
          </p:cNvPr>
          <p:cNvSpPr>
            <a:spLocks noGrp="1"/>
          </p:cNvSpPr>
          <p:nvPr/>
        </p:nvSpPr>
        <p:spPr>
          <a:xfrm>
            <a:off x="876300" y="1381125"/>
            <a:ext cx="10287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75" b="1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A33"/>
                </a:solidFill>
                <a:latin typeface="Arial"/>
                <a:ea typeface="Arial"/>
                <a:cs typeface="Arial"/>
              </a:rPr>
              <a:t>Sau khóa học, học viên có thể theo dõi dữ liệu ONT từ raw signal đến variant annotation.</a:t>
            </a:r>
          </a:p>
        </p:txBody>
      </p:sp>
      <p:sp>
        <p:nvSpPr>
          <p:cNvPr id="4" name="Goal number 01">
            <a:extLst>
              <a:ext uri="{FF2B5EF4-FFF2-40B4-BE49-F238E27FC236}">
                <a16:creationId xmlns:a16="http://schemas.microsoft.com/office/drawing/2014/main" id="{2715DCE4-2B50-413D-BD20-D4299CF5340B}"/>
              </a:ext>
            </a:extLst>
          </p:cNvPr>
          <p:cNvSpPr>
            <a:spLocks noGrp="1"/>
          </p:cNvSpPr>
          <p:nvPr/>
        </p:nvSpPr>
        <p:spPr>
          <a:xfrm>
            <a:off x="952500" y="2333625"/>
            <a:ext cx="666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84A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Goal heading 01">
            <a:extLst>
              <a:ext uri="{FF2B5EF4-FFF2-40B4-BE49-F238E27FC236}">
                <a16:creationId xmlns:a16="http://schemas.microsoft.com/office/drawing/2014/main" id="{77EC6742-1193-4754-9E4F-8AFB64EC0728}"/>
              </a:ext>
            </a:extLst>
          </p:cNvPr>
          <p:cNvSpPr>
            <a:spLocks noGrp="1"/>
          </p:cNvSpPr>
          <p:nvPr/>
        </p:nvSpPr>
        <p:spPr>
          <a:xfrm>
            <a:off x="1905000" y="2333625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A33"/>
                </a:solidFill>
                <a:latin typeface="Arial"/>
                <a:ea typeface="Arial"/>
                <a:cs typeface="Arial"/>
              </a:rPr>
              <a:t>Hiểu workflow</a:t>
            </a:r>
          </a:p>
        </p:txBody>
      </p:sp>
      <p:sp>
        <p:nvSpPr>
          <p:cNvPr id="6" name="Goal detail 01">
            <a:extLst>
              <a:ext uri="{FF2B5EF4-FFF2-40B4-BE49-F238E27FC236}">
                <a16:creationId xmlns:a16="http://schemas.microsoft.com/office/drawing/2014/main" id="{215EC9FA-B7E0-422C-A464-D2BA4228FD24}"/>
              </a:ext>
            </a:extLst>
          </p:cNvPr>
          <p:cNvSpPr>
            <a:spLocks noGrp="1"/>
          </p:cNvSpPr>
          <p:nvPr/>
        </p:nvSpPr>
        <p:spPr>
          <a:xfrm>
            <a:off x="4476750" y="2333625"/>
            <a:ext cx="657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16B"/>
                </a:solidFill>
                <a:latin typeface="Arial"/>
                <a:ea typeface="Arial"/>
                <a:cs typeface="Arial"/>
              </a:rPr>
              <a:t>POD5 → FASTQ → QC → alignment → variant → annotation</a:t>
            </a:r>
          </a:p>
        </p:txBody>
      </p:sp>
      <p:sp>
        <p:nvSpPr>
          <p:cNvPr id="7" name="Goal number 02">
            <a:extLst>
              <a:ext uri="{FF2B5EF4-FFF2-40B4-BE49-F238E27FC236}">
                <a16:creationId xmlns:a16="http://schemas.microsoft.com/office/drawing/2014/main" id="{FB59AF98-4C4F-46CE-AD98-10A88F47FBEB}"/>
              </a:ext>
            </a:extLst>
          </p:cNvPr>
          <p:cNvSpPr>
            <a:spLocks noGrp="1"/>
          </p:cNvSpPr>
          <p:nvPr/>
        </p:nvSpPr>
        <p:spPr>
          <a:xfrm>
            <a:off x="952500" y="3209925"/>
            <a:ext cx="666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971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Goal heading 02">
            <a:extLst>
              <a:ext uri="{FF2B5EF4-FFF2-40B4-BE49-F238E27FC236}">
                <a16:creationId xmlns:a16="http://schemas.microsoft.com/office/drawing/2014/main" id="{4B6E58ED-B013-49C2-A5BA-47011F96F829}"/>
              </a:ext>
            </a:extLst>
          </p:cNvPr>
          <p:cNvSpPr>
            <a:spLocks noGrp="1"/>
          </p:cNvSpPr>
          <p:nvPr/>
        </p:nvSpPr>
        <p:spPr>
          <a:xfrm>
            <a:off x="1905000" y="3209925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A33"/>
                </a:solidFill>
                <a:latin typeface="Arial"/>
                <a:ea typeface="Arial"/>
                <a:cs typeface="Arial"/>
              </a:rPr>
              <a:t>Đọc dữ liệu</a:t>
            </a:r>
          </a:p>
        </p:txBody>
      </p:sp>
      <p:sp>
        <p:nvSpPr>
          <p:cNvPr id="9" name="Goal detail 02">
            <a:extLst>
              <a:ext uri="{FF2B5EF4-FFF2-40B4-BE49-F238E27FC236}">
                <a16:creationId xmlns:a16="http://schemas.microsoft.com/office/drawing/2014/main" id="{9B103DE5-18EF-478A-AB28-059CB4F004CE}"/>
              </a:ext>
            </a:extLst>
          </p:cNvPr>
          <p:cNvSpPr>
            <a:spLocks noGrp="1"/>
          </p:cNvSpPr>
          <p:nvPr/>
        </p:nvSpPr>
        <p:spPr>
          <a:xfrm>
            <a:off x="4476750" y="3209925"/>
            <a:ext cx="657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16B"/>
                </a:solidFill>
                <a:latin typeface="Arial"/>
                <a:ea typeface="Arial"/>
                <a:cs typeface="Arial"/>
              </a:rPr>
              <a:t>Nhận biết và kiểm tra các file FASTA, FASTQ, BAM, VCF và BED</a:t>
            </a:r>
          </a:p>
        </p:txBody>
      </p:sp>
      <p:sp>
        <p:nvSpPr>
          <p:cNvPr id="10" name="Goal number 03">
            <a:extLst>
              <a:ext uri="{FF2B5EF4-FFF2-40B4-BE49-F238E27FC236}">
                <a16:creationId xmlns:a16="http://schemas.microsoft.com/office/drawing/2014/main" id="{2F990375-75C7-41D9-B877-2C55BF63CF87}"/>
              </a:ext>
            </a:extLst>
          </p:cNvPr>
          <p:cNvSpPr>
            <a:spLocks noGrp="1"/>
          </p:cNvSpPr>
          <p:nvPr/>
        </p:nvSpPr>
        <p:spPr>
          <a:xfrm>
            <a:off x="952500" y="4086225"/>
            <a:ext cx="666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2E8B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E8B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Goal heading 03">
            <a:extLst>
              <a:ext uri="{FF2B5EF4-FFF2-40B4-BE49-F238E27FC236}">
                <a16:creationId xmlns:a16="http://schemas.microsoft.com/office/drawing/2014/main" id="{265EDA63-5561-48C9-82BA-82789291C54C}"/>
              </a:ext>
            </a:extLst>
          </p:cNvPr>
          <p:cNvSpPr>
            <a:spLocks noGrp="1"/>
          </p:cNvSpPr>
          <p:nvPr/>
        </p:nvSpPr>
        <p:spPr>
          <a:xfrm>
            <a:off x="1905000" y="4086225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A33"/>
                </a:solidFill>
                <a:latin typeface="Arial"/>
                <a:ea typeface="Arial"/>
                <a:cs typeface="Arial"/>
              </a:rPr>
              <a:t>Đánh giá kết quả</a:t>
            </a:r>
          </a:p>
        </p:txBody>
      </p:sp>
      <p:sp>
        <p:nvSpPr>
          <p:cNvPr id="12" name="Goal detail 03">
            <a:extLst>
              <a:ext uri="{FF2B5EF4-FFF2-40B4-BE49-F238E27FC236}">
                <a16:creationId xmlns:a16="http://schemas.microsoft.com/office/drawing/2014/main" id="{8C63D0DA-21DB-4724-A76F-1DEE2A4AA56E}"/>
              </a:ext>
            </a:extLst>
          </p:cNvPr>
          <p:cNvSpPr>
            <a:spLocks noGrp="1"/>
          </p:cNvSpPr>
          <p:nvPr/>
        </p:nvSpPr>
        <p:spPr>
          <a:xfrm>
            <a:off x="4476750" y="4086225"/>
            <a:ext cx="657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16B"/>
                </a:solidFill>
                <a:latin typeface="Arial"/>
                <a:ea typeface="Arial"/>
                <a:cs typeface="Arial"/>
              </a:rPr>
              <a:t>Đọc QC report, xem alignment và nhận biết variant calls</a:t>
            </a:r>
          </a:p>
        </p:txBody>
      </p:sp>
      <p:sp>
        <p:nvSpPr>
          <p:cNvPr id="13" name="Goal number 04">
            <a:extLst>
              <a:ext uri="{FF2B5EF4-FFF2-40B4-BE49-F238E27FC236}">
                <a16:creationId xmlns:a16="http://schemas.microsoft.com/office/drawing/2014/main" id="{F5AC4F46-81CF-445A-B363-15BC2B263359}"/>
              </a:ext>
            </a:extLst>
          </p:cNvPr>
          <p:cNvSpPr>
            <a:spLocks noGrp="1"/>
          </p:cNvSpPr>
          <p:nvPr/>
        </p:nvSpPr>
        <p:spPr>
          <a:xfrm>
            <a:off x="952500" y="4962525"/>
            <a:ext cx="666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7B61A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B61A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Goal heading 04">
            <a:extLst>
              <a:ext uri="{FF2B5EF4-FFF2-40B4-BE49-F238E27FC236}">
                <a16:creationId xmlns:a16="http://schemas.microsoft.com/office/drawing/2014/main" id="{AAAA1540-C16C-4A82-AF65-8446C57E619E}"/>
              </a:ext>
            </a:extLst>
          </p:cNvPr>
          <p:cNvSpPr>
            <a:spLocks noGrp="1"/>
          </p:cNvSpPr>
          <p:nvPr/>
        </p:nvSpPr>
        <p:spPr>
          <a:xfrm>
            <a:off x="1905000" y="4962525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Thực hành độc lập</a:t>
            </a:r>
          </a:p>
        </p:txBody>
      </p:sp>
      <p:sp>
        <p:nvSpPr>
          <p:cNvPr id="15" name="Goal detail 04">
            <a:extLst>
              <a:ext uri="{FF2B5EF4-FFF2-40B4-BE49-F238E27FC236}">
                <a16:creationId xmlns:a16="http://schemas.microsoft.com/office/drawing/2014/main" id="{44FA52DE-258F-4622-945C-D5B0282F48A3}"/>
              </a:ext>
            </a:extLst>
          </p:cNvPr>
          <p:cNvSpPr>
            <a:spLocks noGrp="1"/>
          </p:cNvSpPr>
          <p:nvPr/>
        </p:nvSpPr>
        <p:spPr>
          <a:xfrm>
            <a:off x="4476750" y="4962525"/>
            <a:ext cx="657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16B"/>
                </a:solidFill>
                <a:latin typeface="Arial"/>
                <a:ea typeface="Arial"/>
                <a:cs typeface="Arial"/>
              </a:rPr>
              <a:t>Sử dụng command line, server và môi trường Conda</a:t>
            </a:r>
          </a:p>
        </p:txBody>
      </p:sp>
    </p:spTree>
    <p:extLst>
      <p:ext uri="{BB962C8B-B14F-4D97-AF65-F5344CB8AC3E}">
        <p14:creationId xmlns:p14="http://schemas.microsoft.com/office/powerpoint/2010/main" val="3471955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170F1794-ABC6-4F4F-B25B-B4207C0AE80F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84AA"/>
                </a:solidFill>
                <a:latin typeface="Arial"/>
                <a:ea typeface="Arial"/>
                <a:cs typeface="Arial"/>
              </a:rPr>
              <a:t>Mục tiêu Buổi 1</a:t>
            </a: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58E7F87B-A124-4D9F-9089-3FEBEC8D4BA1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 1">
            <a:extLst>
              <a:ext uri="{FF2B5EF4-FFF2-40B4-BE49-F238E27FC236}">
                <a16:creationId xmlns:a16="http://schemas.microsoft.com/office/drawing/2014/main" id="{7A57AB93-9B69-47D2-AC3A-441702AA5232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66675" cy="495300"/>
          </a:xfrm>
          <a:prstGeom prst="rect">
            <a:avLst/>
          </a:prstGeom>
          <a:solidFill>
            <a:srgbClr val="0F84A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oint 1">
            <a:extLst>
              <a:ext uri="{FF2B5EF4-FFF2-40B4-BE49-F238E27FC236}">
                <a16:creationId xmlns:a16="http://schemas.microsoft.com/office/drawing/2014/main" id="{203E6D8C-EA2A-427C-934B-F2CA39872A39}"/>
              </a:ext>
            </a:extLst>
          </p:cNvPr>
          <p:cNvSpPr>
            <a:spLocks noGrp="1"/>
          </p:cNvSpPr>
          <p:nvPr/>
        </p:nvSpPr>
        <p:spPr>
          <a:xfrm>
            <a:off x="1104900" y="1352550"/>
            <a:ext cx="101536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2A33"/>
                </a:solidFill>
                <a:latin typeface="Arial"/>
                <a:ea typeface="Arial"/>
                <a:cs typeface="Arial"/>
              </a:rPr>
              <a:t>Mô tả được vai trò của bioinformatics trong quy trình giải trình tự.</a:t>
            </a:r>
          </a:p>
        </p:txBody>
      </p:sp>
      <p:sp>
        <p:nvSpPr>
          <p:cNvPr id="5" name="Accent 2">
            <a:extLst>
              <a:ext uri="{FF2B5EF4-FFF2-40B4-BE49-F238E27FC236}">
                <a16:creationId xmlns:a16="http://schemas.microsoft.com/office/drawing/2014/main" id="{098089F5-5036-457B-A67F-F0CD9DB01969}"/>
              </a:ext>
            </a:extLst>
          </p:cNvPr>
          <p:cNvSpPr>
            <a:spLocks noGrp="1"/>
          </p:cNvSpPr>
          <p:nvPr/>
        </p:nvSpPr>
        <p:spPr>
          <a:xfrm>
            <a:off x="876300" y="2076450"/>
            <a:ext cx="66675" cy="49530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Point 2">
            <a:extLst>
              <a:ext uri="{FF2B5EF4-FFF2-40B4-BE49-F238E27FC236}">
                <a16:creationId xmlns:a16="http://schemas.microsoft.com/office/drawing/2014/main" id="{F4558CF9-C949-4289-874D-C62831AF7622}"/>
              </a:ext>
            </a:extLst>
          </p:cNvPr>
          <p:cNvSpPr>
            <a:spLocks noGrp="1"/>
          </p:cNvSpPr>
          <p:nvPr/>
        </p:nvSpPr>
        <p:spPr>
          <a:xfrm>
            <a:off x="1104900" y="2038350"/>
            <a:ext cx="101536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2A33"/>
                </a:solidFill>
                <a:latin typeface="Arial"/>
                <a:ea typeface="Arial"/>
                <a:cs typeface="Arial"/>
              </a:rPr>
              <a:t>Phân biệt genome, reference genome, read, variant và coverage.</a:t>
            </a:r>
          </a:p>
        </p:txBody>
      </p:sp>
      <p:sp>
        <p:nvSpPr>
          <p:cNvPr id="7" name="Accent 3">
            <a:extLst>
              <a:ext uri="{FF2B5EF4-FFF2-40B4-BE49-F238E27FC236}">
                <a16:creationId xmlns:a16="http://schemas.microsoft.com/office/drawing/2014/main" id="{42BE9690-A84C-49EF-AC01-DF11D2970AAD}"/>
              </a:ext>
            </a:extLst>
          </p:cNvPr>
          <p:cNvSpPr>
            <a:spLocks noGrp="1"/>
          </p:cNvSpPr>
          <p:nvPr/>
        </p:nvSpPr>
        <p:spPr>
          <a:xfrm>
            <a:off x="876300" y="2762250"/>
            <a:ext cx="66675" cy="495300"/>
          </a:xfrm>
          <a:prstGeom prst="rect">
            <a:avLst/>
          </a:prstGeom>
          <a:solidFill>
            <a:srgbClr val="2E8B7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Point 3">
            <a:extLst>
              <a:ext uri="{FF2B5EF4-FFF2-40B4-BE49-F238E27FC236}">
                <a16:creationId xmlns:a16="http://schemas.microsoft.com/office/drawing/2014/main" id="{C54FE448-0403-4745-BA24-7EFECF353A07}"/>
              </a:ext>
            </a:extLst>
          </p:cNvPr>
          <p:cNvSpPr>
            <a:spLocks noGrp="1"/>
          </p:cNvSpPr>
          <p:nvPr/>
        </p:nvSpPr>
        <p:spPr>
          <a:xfrm>
            <a:off x="1104900" y="2724150"/>
            <a:ext cx="101536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2A33"/>
                </a:solidFill>
                <a:latin typeface="Arial"/>
                <a:ea typeface="Arial"/>
                <a:cs typeface="Arial"/>
              </a:rPr>
              <a:t>Nhận biết FASTA, FASTQ, SAM/BAM, VCF và BED.</a:t>
            </a:r>
          </a:p>
        </p:txBody>
      </p:sp>
      <p:sp>
        <p:nvSpPr>
          <p:cNvPr id="9" name="Accent 4">
            <a:extLst>
              <a:ext uri="{FF2B5EF4-FFF2-40B4-BE49-F238E27FC236}">
                <a16:creationId xmlns:a16="http://schemas.microsoft.com/office/drawing/2014/main" id="{B526ED1B-4EDF-4561-A3C6-E76268B35E19}"/>
              </a:ext>
            </a:extLst>
          </p:cNvPr>
          <p:cNvSpPr>
            <a:spLocks noGrp="1"/>
          </p:cNvSpPr>
          <p:nvPr/>
        </p:nvSpPr>
        <p:spPr>
          <a:xfrm>
            <a:off x="876300" y="3448050"/>
            <a:ext cx="66675" cy="495300"/>
          </a:xfrm>
          <a:prstGeom prst="rect">
            <a:avLst/>
          </a:prstGeom>
          <a:solidFill>
            <a:srgbClr val="7B61A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Point 4">
            <a:extLst>
              <a:ext uri="{FF2B5EF4-FFF2-40B4-BE49-F238E27FC236}">
                <a16:creationId xmlns:a16="http://schemas.microsoft.com/office/drawing/2014/main" id="{FB9F9ADA-41A8-49C7-83CA-0F65CA57F3A1}"/>
              </a:ext>
            </a:extLst>
          </p:cNvPr>
          <p:cNvSpPr>
            <a:spLocks noGrp="1"/>
          </p:cNvSpPr>
          <p:nvPr/>
        </p:nvSpPr>
        <p:spPr>
          <a:xfrm>
            <a:off x="1104900" y="3409950"/>
            <a:ext cx="101536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2A33"/>
                </a:solidFill>
                <a:latin typeface="Arial"/>
                <a:ea typeface="Arial"/>
                <a:cs typeface="Arial"/>
              </a:rPr>
              <a:t>Thực hiện các lệnh Unix cơ bản và truy cập server an toàn.</a:t>
            </a:r>
          </a:p>
        </p:txBody>
      </p:sp>
      <p:sp>
        <p:nvSpPr>
          <p:cNvPr id="11" name="Accent 5">
            <a:extLst>
              <a:ext uri="{FF2B5EF4-FFF2-40B4-BE49-F238E27FC236}">
                <a16:creationId xmlns:a16="http://schemas.microsoft.com/office/drawing/2014/main" id="{5311D711-A5D9-405C-BAF9-2A313225B52D}"/>
              </a:ext>
            </a:extLst>
          </p:cNvPr>
          <p:cNvSpPr>
            <a:spLocks noGrp="1"/>
          </p:cNvSpPr>
          <p:nvPr/>
        </p:nvSpPr>
        <p:spPr>
          <a:xfrm>
            <a:off x="876300" y="4133850"/>
            <a:ext cx="66675" cy="495300"/>
          </a:xfrm>
          <a:prstGeom prst="rect">
            <a:avLst/>
          </a:prstGeom>
          <a:solidFill>
            <a:srgbClr val="D49A2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Point 5">
            <a:extLst>
              <a:ext uri="{FF2B5EF4-FFF2-40B4-BE49-F238E27FC236}">
                <a16:creationId xmlns:a16="http://schemas.microsoft.com/office/drawing/2014/main" id="{43C38B1F-04D8-4960-8CA1-1A8C3CD34BEE}"/>
              </a:ext>
            </a:extLst>
          </p:cNvPr>
          <p:cNvSpPr>
            <a:spLocks noGrp="1"/>
          </p:cNvSpPr>
          <p:nvPr/>
        </p:nvSpPr>
        <p:spPr>
          <a:xfrm>
            <a:off x="1104900" y="4095750"/>
            <a:ext cx="101536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2A33"/>
                </a:solidFill>
                <a:latin typeface="Arial"/>
                <a:ea typeface="Arial"/>
                <a:cs typeface="Arial"/>
              </a:rPr>
              <a:t>Tạo và kích hoạt môi trường Conda từ file YAML.</a:t>
            </a:r>
          </a:p>
        </p:txBody>
      </p:sp>
    </p:spTree>
    <p:extLst>
      <p:ext uri="{BB962C8B-B14F-4D97-AF65-F5344CB8AC3E}">
        <p14:creationId xmlns:p14="http://schemas.microsoft.com/office/powerpoint/2010/main" val="941537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>
            <a:extLst>
              <a:ext uri="{FF2B5EF4-FFF2-40B4-BE49-F238E27FC236}">
                <a16:creationId xmlns:a16="http://schemas.microsoft.com/office/drawing/2014/main" id="{A4D3F1FC-CD70-42F5-8114-9B2235C01CF5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84AA"/>
                </a:solidFill>
                <a:latin typeface="Arial"/>
                <a:ea typeface="Arial"/>
                <a:cs typeface="Arial"/>
              </a:rPr>
              <a:t>Chuẩn bị phần mềm trước phần thực hành</a:t>
            </a: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E414D783-B887-4552-B6E7-CBEC10B21C9D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ool bar 1">
            <a:extLst>
              <a:ext uri="{FF2B5EF4-FFF2-40B4-BE49-F238E27FC236}">
                <a16:creationId xmlns:a16="http://schemas.microsoft.com/office/drawing/2014/main" id="{63E8BA1A-77C8-4D41-9CA2-EDE1089A0375}"/>
              </a:ext>
            </a:extLst>
          </p:cNvPr>
          <p:cNvSpPr>
            <a:spLocks noGrp="1"/>
          </p:cNvSpPr>
          <p:nvPr/>
        </p:nvSpPr>
        <p:spPr>
          <a:xfrm>
            <a:off x="876300" y="1476375"/>
            <a:ext cx="114300" cy="685800"/>
          </a:xfrm>
          <a:prstGeom prst="rect">
            <a:avLst/>
          </a:prstGeom>
          <a:solidFill>
            <a:srgbClr val="0F84A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ool 1">
            <a:extLst>
              <a:ext uri="{FF2B5EF4-FFF2-40B4-BE49-F238E27FC236}">
                <a16:creationId xmlns:a16="http://schemas.microsoft.com/office/drawing/2014/main" id="{29639867-1CFC-4282-A6B7-8CCFE6A81C7E}"/>
              </a:ext>
            </a:extLst>
          </p:cNvPr>
          <p:cNvSpPr>
            <a:spLocks noGrp="1"/>
          </p:cNvSpPr>
          <p:nvPr/>
        </p:nvSpPr>
        <p:spPr>
          <a:xfrm>
            <a:off x="1238250" y="1476375"/>
            <a:ext cx="266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Terminal / WSL2</a:t>
            </a:r>
          </a:p>
        </p:txBody>
      </p:sp>
      <p:sp>
        <p:nvSpPr>
          <p:cNvPr id="5" name="Purpose 1">
            <a:extLst>
              <a:ext uri="{FF2B5EF4-FFF2-40B4-BE49-F238E27FC236}">
                <a16:creationId xmlns:a16="http://schemas.microsoft.com/office/drawing/2014/main" id="{764E2E7D-7FCB-4E6E-9511-741347162E65}"/>
              </a:ext>
            </a:extLst>
          </p:cNvPr>
          <p:cNvSpPr>
            <a:spLocks noGrp="1"/>
          </p:cNvSpPr>
          <p:nvPr/>
        </p:nvSpPr>
        <p:spPr>
          <a:xfrm>
            <a:off x="4095750" y="1476375"/>
            <a:ext cx="333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16B"/>
                </a:solidFill>
                <a:latin typeface="Arial"/>
                <a:ea typeface="Arial"/>
                <a:cs typeface="Arial"/>
              </a:rPr>
              <a:t>Chạy command line</a:t>
            </a:r>
          </a:p>
        </p:txBody>
      </p:sp>
      <p:sp>
        <p:nvSpPr>
          <p:cNvPr id="6" name="Check 1">
            <a:extLst>
              <a:ext uri="{FF2B5EF4-FFF2-40B4-BE49-F238E27FC236}">
                <a16:creationId xmlns:a16="http://schemas.microsoft.com/office/drawing/2014/main" id="{E78BB67D-655B-40A0-9C4E-1DFE0A2088F0}"/>
              </a:ext>
            </a:extLst>
          </p:cNvPr>
          <p:cNvSpPr>
            <a:spLocks noGrp="1"/>
          </p:cNvSpPr>
          <p:nvPr/>
        </p:nvSpPr>
        <p:spPr>
          <a:xfrm>
            <a:off x="7620000" y="1476375"/>
            <a:ext cx="3476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F84AA"/>
                </a:solidFill>
                <a:latin typeface="Arial"/>
                <a:ea typeface="Arial"/>
                <a:cs typeface="Arial"/>
              </a:rPr>
              <a:t>pwd hoặc wsl --status</a:t>
            </a:r>
          </a:p>
        </p:txBody>
      </p:sp>
      <p:sp>
        <p:nvSpPr>
          <p:cNvPr id="7" name="Tool bar 2">
            <a:extLst>
              <a:ext uri="{FF2B5EF4-FFF2-40B4-BE49-F238E27FC236}">
                <a16:creationId xmlns:a16="http://schemas.microsoft.com/office/drawing/2014/main" id="{5A532800-C51D-429A-8063-E1EEBF28C630}"/>
              </a:ext>
            </a:extLst>
          </p:cNvPr>
          <p:cNvSpPr>
            <a:spLocks noGrp="1"/>
          </p:cNvSpPr>
          <p:nvPr/>
        </p:nvSpPr>
        <p:spPr>
          <a:xfrm>
            <a:off x="876300" y="2505075"/>
            <a:ext cx="114300" cy="68580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ool 2">
            <a:extLst>
              <a:ext uri="{FF2B5EF4-FFF2-40B4-BE49-F238E27FC236}">
                <a16:creationId xmlns:a16="http://schemas.microsoft.com/office/drawing/2014/main" id="{00ACE51B-F7AD-41B2-9943-F867AD531F3A}"/>
              </a:ext>
            </a:extLst>
          </p:cNvPr>
          <p:cNvSpPr>
            <a:spLocks noGrp="1"/>
          </p:cNvSpPr>
          <p:nvPr/>
        </p:nvSpPr>
        <p:spPr>
          <a:xfrm>
            <a:off x="1238250" y="2505075"/>
            <a:ext cx="266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A33"/>
                </a:solidFill>
                <a:latin typeface="Arial"/>
                <a:ea typeface="Arial"/>
                <a:cs typeface="Arial"/>
              </a:rPr>
              <a:t>FileZilla Client</a:t>
            </a:r>
          </a:p>
        </p:txBody>
      </p:sp>
      <p:sp>
        <p:nvSpPr>
          <p:cNvPr id="9" name="Purpose 2">
            <a:extLst>
              <a:ext uri="{FF2B5EF4-FFF2-40B4-BE49-F238E27FC236}">
                <a16:creationId xmlns:a16="http://schemas.microsoft.com/office/drawing/2014/main" id="{C798F2ED-191B-4D42-88D4-1361F2867C61}"/>
              </a:ext>
            </a:extLst>
          </p:cNvPr>
          <p:cNvSpPr>
            <a:spLocks noGrp="1"/>
          </p:cNvSpPr>
          <p:nvPr/>
        </p:nvSpPr>
        <p:spPr>
          <a:xfrm>
            <a:off x="4095750" y="2505075"/>
            <a:ext cx="333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16B"/>
                </a:solidFill>
                <a:latin typeface="Arial"/>
                <a:ea typeface="Arial"/>
                <a:cs typeface="Arial"/>
              </a:rPr>
              <a:t>Truyền file qua SFTP</a:t>
            </a:r>
          </a:p>
        </p:txBody>
      </p:sp>
      <p:sp>
        <p:nvSpPr>
          <p:cNvPr id="10" name="Check 2">
            <a:extLst>
              <a:ext uri="{FF2B5EF4-FFF2-40B4-BE49-F238E27FC236}">
                <a16:creationId xmlns:a16="http://schemas.microsoft.com/office/drawing/2014/main" id="{5A397546-357D-46E4-A6AE-EB367C84C53F}"/>
              </a:ext>
            </a:extLst>
          </p:cNvPr>
          <p:cNvSpPr>
            <a:spLocks noGrp="1"/>
          </p:cNvSpPr>
          <p:nvPr/>
        </p:nvSpPr>
        <p:spPr>
          <a:xfrm>
            <a:off x="7620000" y="2505075"/>
            <a:ext cx="3476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E97132"/>
                </a:solidFill>
                <a:latin typeface="Arial"/>
                <a:ea typeface="Arial"/>
                <a:cs typeface="Arial"/>
              </a:rPr>
              <a:t>Mở ứng dụng và chọn SFTP</a:t>
            </a:r>
          </a:p>
        </p:txBody>
      </p:sp>
      <p:sp>
        <p:nvSpPr>
          <p:cNvPr id="11" name="Tool bar 3">
            <a:extLst>
              <a:ext uri="{FF2B5EF4-FFF2-40B4-BE49-F238E27FC236}">
                <a16:creationId xmlns:a16="http://schemas.microsoft.com/office/drawing/2014/main" id="{1C1FAEE0-2A2A-4BA2-AEFB-8A97982893D4}"/>
              </a:ext>
            </a:extLst>
          </p:cNvPr>
          <p:cNvSpPr>
            <a:spLocks noGrp="1"/>
          </p:cNvSpPr>
          <p:nvPr/>
        </p:nvSpPr>
        <p:spPr>
          <a:xfrm>
            <a:off x="876300" y="3533775"/>
            <a:ext cx="114300" cy="685800"/>
          </a:xfrm>
          <a:prstGeom prst="rect">
            <a:avLst/>
          </a:prstGeom>
          <a:solidFill>
            <a:srgbClr val="2E8B7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ool 3">
            <a:extLst>
              <a:ext uri="{FF2B5EF4-FFF2-40B4-BE49-F238E27FC236}">
                <a16:creationId xmlns:a16="http://schemas.microsoft.com/office/drawing/2014/main" id="{C266CCD5-EDDA-49B8-BAC4-3D3FAC0D12F4}"/>
              </a:ext>
            </a:extLst>
          </p:cNvPr>
          <p:cNvSpPr>
            <a:spLocks noGrp="1"/>
          </p:cNvSpPr>
          <p:nvPr/>
        </p:nvSpPr>
        <p:spPr>
          <a:xfrm>
            <a:off x="1238250" y="3533775"/>
            <a:ext cx="266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650" b="1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Conda</a:t>
            </a:r>
            <a:endParaRPr sz="1650" b="1" dirty="0">
              <a:solidFill>
                <a:srgbClr val="202A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Purpose 3">
            <a:extLst>
              <a:ext uri="{FF2B5EF4-FFF2-40B4-BE49-F238E27FC236}">
                <a16:creationId xmlns:a16="http://schemas.microsoft.com/office/drawing/2014/main" id="{27D811F8-840A-49F5-8F6C-91DA4AED1260}"/>
              </a:ext>
            </a:extLst>
          </p:cNvPr>
          <p:cNvSpPr>
            <a:spLocks noGrp="1"/>
          </p:cNvSpPr>
          <p:nvPr/>
        </p:nvSpPr>
        <p:spPr>
          <a:xfrm>
            <a:off x="4095750" y="3533775"/>
            <a:ext cx="333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16B"/>
                </a:solidFill>
                <a:latin typeface="Arial"/>
                <a:ea typeface="Arial"/>
                <a:cs typeface="Arial"/>
              </a:rPr>
              <a:t>Quản lý môi trường</a:t>
            </a:r>
          </a:p>
        </p:txBody>
      </p:sp>
      <p:sp>
        <p:nvSpPr>
          <p:cNvPr id="14" name="Check 3">
            <a:extLst>
              <a:ext uri="{FF2B5EF4-FFF2-40B4-BE49-F238E27FC236}">
                <a16:creationId xmlns:a16="http://schemas.microsoft.com/office/drawing/2014/main" id="{63C075B0-17C9-45FB-A253-49DDE8BBD97F}"/>
              </a:ext>
            </a:extLst>
          </p:cNvPr>
          <p:cNvSpPr>
            <a:spLocks noGrp="1"/>
          </p:cNvSpPr>
          <p:nvPr/>
        </p:nvSpPr>
        <p:spPr>
          <a:xfrm>
            <a:off x="7620000" y="3533775"/>
            <a:ext cx="3476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2E8B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E8B78"/>
                </a:solidFill>
                <a:latin typeface="Arial"/>
                <a:ea typeface="Arial"/>
                <a:cs typeface="Arial"/>
              </a:rPr>
              <a:t>conda --version</a:t>
            </a:r>
          </a:p>
        </p:txBody>
      </p:sp>
      <p:sp>
        <p:nvSpPr>
          <p:cNvPr id="15" name="Tool bar 4">
            <a:extLst>
              <a:ext uri="{FF2B5EF4-FFF2-40B4-BE49-F238E27FC236}">
                <a16:creationId xmlns:a16="http://schemas.microsoft.com/office/drawing/2014/main" id="{35A4F28C-3599-47D2-95A2-072DE4BBDCB4}"/>
              </a:ext>
            </a:extLst>
          </p:cNvPr>
          <p:cNvSpPr>
            <a:spLocks noGrp="1"/>
          </p:cNvSpPr>
          <p:nvPr/>
        </p:nvSpPr>
        <p:spPr>
          <a:xfrm>
            <a:off x="876300" y="4562475"/>
            <a:ext cx="114300" cy="685800"/>
          </a:xfrm>
          <a:prstGeom prst="rect">
            <a:avLst/>
          </a:prstGeom>
          <a:solidFill>
            <a:srgbClr val="7B61A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ool 4">
            <a:extLst>
              <a:ext uri="{FF2B5EF4-FFF2-40B4-BE49-F238E27FC236}">
                <a16:creationId xmlns:a16="http://schemas.microsoft.com/office/drawing/2014/main" id="{20C0A1BE-D167-4173-8D4D-102D70C783BF}"/>
              </a:ext>
            </a:extLst>
          </p:cNvPr>
          <p:cNvSpPr>
            <a:spLocks noGrp="1"/>
          </p:cNvSpPr>
          <p:nvPr/>
        </p:nvSpPr>
        <p:spPr>
          <a:xfrm>
            <a:off x="1238250" y="4562475"/>
            <a:ext cx="266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A33"/>
                </a:solidFill>
                <a:latin typeface="Arial"/>
                <a:ea typeface="Arial"/>
                <a:cs typeface="Arial"/>
              </a:rPr>
              <a:t>IGV Desktop</a:t>
            </a:r>
          </a:p>
        </p:txBody>
      </p:sp>
      <p:sp>
        <p:nvSpPr>
          <p:cNvPr id="17" name="Purpose 4">
            <a:extLst>
              <a:ext uri="{FF2B5EF4-FFF2-40B4-BE49-F238E27FC236}">
                <a16:creationId xmlns:a16="http://schemas.microsoft.com/office/drawing/2014/main" id="{6F4A2340-4F19-4A26-9545-AC84EF6EA901}"/>
              </a:ext>
            </a:extLst>
          </p:cNvPr>
          <p:cNvSpPr>
            <a:spLocks noGrp="1"/>
          </p:cNvSpPr>
          <p:nvPr/>
        </p:nvSpPr>
        <p:spPr>
          <a:xfrm>
            <a:off x="4095750" y="4562475"/>
            <a:ext cx="333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16B"/>
                </a:solidFill>
                <a:latin typeface="Arial"/>
                <a:ea typeface="Arial"/>
                <a:cs typeface="Arial"/>
              </a:rPr>
              <a:t>Xem BAM và VCF</a:t>
            </a:r>
          </a:p>
        </p:txBody>
      </p:sp>
      <p:sp>
        <p:nvSpPr>
          <p:cNvPr id="18" name="Check 4">
            <a:extLst>
              <a:ext uri="{FF2B5EF4-FFF2-40B4-BE49-F238E27FC236}">
                <a16:creationId xmlns:a16="http://schemas.microsoft.com/office/drawing/2014/main" id="{B026A7D8-8D35-47C8-826D-EBA8ADDD13B1}"/>
              </a:ext>
            </a:extLst>
          </p:cNvPr>
          <p:cNvSpPr>
            <a:spLocks noGrp="1"/>
          </p:cNvSpPr>
          <p:nvPr/>
        </p:nvSpPr>
        <p:spPr>
          <a:xfrm>
            <a:off x="7620000" y="4562475"/>
            <a:ext cx="3476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7B61A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7B61A8"/>
                </a:solidFill>
                <a:latin typeface="Arial"/>
                <a:ea typeface="Arial"/>
                <a:cs typeface="Arial"/>
              </a:rPr>
              <a:t>Mở IGV và chọn genome</a:t>
            </a:r>
          </a:p>
        </p:txBody>
      </p:sp>
      <p:sp>
        <p:nvSpPr>
          <p:cNvPr id="19" name="Prep note">
            <a:extLst>
              <a:ext uri="{FF2B5EF4-FFF2-40B4-BE49-F238E27FC236}">
                <a16:creationId xmlns:a16="http://schemas.microsoft.com/office/drawing/2014/main" id="{01836FA9-191D-44A7-BE6E-1B21D8A8CF34}"/>
              </a:ext>
            </a:extLst>
          </p:cNvPr>
          <p:cNvSpPr>
            <a:spLocks noGrp="1"/>
          </p:cNvSpPr>
          <p:nvPr/>
        </p:nvSpPr>
        <p:spPr>
          <a:xfrm>
            <a:off x="876300" y="5715000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97132"/>
                </a:solidFill>
                <a:latin typeface="Arial"/>
                <a:ea typeface="Arial"/>
                <a:cs typeface="Arial"/>
              </a:rPr>
              <a:t>Nếu chưa cài được, học viên vẫn có thể sử dụng output được chuẩn bị sẵn.</a:t>
            </a:r>
          </a:p>
        </p:txBody>
      </p:sp>
    </p:spTree>
    <p:extLst>
      <p:ext uri="{BB962C8B-B14F-4D97-AF65-F5344CB8AC3E}">
        <p14:creationId xmlns:p14="http://schemas.microsoft.com/office/powerpoint/2010/main" val="3471955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DAFEDC7E-94C4-4651-821E-832FA4ABD534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84AA"/>
                </a:solidFill>
                <a:latin typeface="Arial"/>
                <a:ea typeface="Arial"/>
                <a:cs typeface="Arial"/>
              </a:rPr>
              <a:t>Bioinformatics là gì?</a:t>
            </a: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4358BBF9-2471-4297-A5EF-65400D1EDA36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Definition">
            <a:extLst>
              <a:ext uri="{FF2B5EF4-FFF2-40B4-BE49-F238E27FC236}">
                <a16:creationId xmlns:a16="http://schemas.microsoft.com/office/drawing/2014/main" id="{C4CDACB6-4951-48D4-A117-0D716E4B3F77}"/>
              </a:ext>
            </a:extLst>
          </p:cNvPr>
          <p:cNvSpPr>
            <a:spLocks noGrp="1"/>
          </p:cNvSpPr>
          <p:nvPr/>
        </p:nvSpPr>
        <p:spPr>
          <a:xfrm>
            <a:off x="876300" y="1214437"/>
            <a:ext cx="10287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75" b="1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Bioinformatics </a:t>
            </a:r>
            <a:r>
              <a:rPr sz="1875" b="1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là</a:t>
            </a:r>
            <a:r>
              <a:rPr sz="1875" b="1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lĩnh</a:t>
            </a:r>
            <a:r>
              <a:rPr sz="1875" b="1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vực</a:t>
            </a:r>
            <a:r>
              <a:rPr sz="1875" b="1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liên</a:t>
            </a:r>
            <a:r>
              <a:rPr sz="1875" b="1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ngành</a:t>
            </a:r>
            <a:r>
              <a:rPr sz="1875" b="1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kết</a:t>
            </a:r>
            <a:r>
              <a:rPr sz="1875" b="1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hợp</a:t>
            </a:r>
            <a:r>
              <a:rPr sz="1875" b="1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sinh</a:t>
            </a:r>
            <a:r>
              <a:rPr sz="1875" b="1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học</a:t>
            </a:r>
            <a:r>
              <a:rPr sz="1875" b="1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, khoa </a:t>
            </a:r>
            <a:r>
              <a:rPr sz="1875" b="1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học</a:t>
            </a:r>
            <a:r>
              <a:rPr sz="1875" b="1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máy</a:t>
            </a:r>
            <a:r>
              <a:rPr sz="1875" b="1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tính</a:t>
            </a:r>
            <a:r>
              <a:rPr sz="1875" b="1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và</a:t>
            </a:r>
            <a:r>
              <a:rPr sz="1875" b="1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thống</a:t>
            </a:r>
            <a:r>
              <a:rPr sz="1875" b="1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kê</a:t>
            </a:r>
            <a:r>
              <a:rPr sz="1875" b="1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để</a:t>
            </a:r>
            <a:r>
              <a:rPr sz="1875" b="1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thu</a:t>
            </a:r>
            <a:r>
              <a:rPr sz="1875" b="1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thập</a:t>
            </a:r>
            <a:r>
              <a:rPr sz="1875" b="1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, </a:t>
            </a:r>
            <a:r>
              <a:rPr sz="1875" b="1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xử</a:t>
            </a:r>
            <a:r>
              <a:rPr sz="1875" b="1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lý</a:t>
            </a:r>
            <a:r>
              <a:rPr sz="1875" b="1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, </a:t>
            </a:r>
            <a:r>
              <a:rPr sz="1875" b="1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phân</a:t>
            </a:r>
            <a:r>
              <a:rPr sz="1875" b="1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tích</a:t>
            </a:r>
            <a:r>
              <a:rPr sz="1875" b="1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và</a:t>
            </a:r>
            <a:r>
              <a:rPr sz="1875" b="1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diễn</a:t>
            </a:r>
            <a:r>
              <a:rPr sz="1875" b="1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giải</a:t>
            </a:r>
            <a:r>
              <a:rPr sz="1875" b="1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dữ</a:t>
            </a:r>
            <a:r>
              <a:rPr sz="1875" b="1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liệu</a:t>
            </a:r>
            <a:r>
              <a:rPr sz="1875" b="1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sinh</a:t>
            </a:r>
            <a:r>
              <a:rPr sz="1875" b="1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học</a:t>
            </a:r>
            <a:r>
              <a:rPr sz="1875" b="1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4" name="Bridge">
            <a:extLst>
              <a:ext uri="{FF2B5EF4-FFF2-40B4-BE49-F238E27FC236}">
                <a16:creationId xmlns:a16="http://schemas.microsoft.com/office/drawing/2014/main" id="{9CEA5619-45ED-456D-94FB-560B9995F341}"/>
              </a:ext>
            </a:extLst>
          </p:cNvPr>
          <p:cNvSpPr>
            <a:spLocks noGrp="1"/>
          </p:cNvSpPr>
          <p:nvPr/>
        </p:nvSpPr>
        <p:spPr>
          <a:xfrm>
            <a:off x="876300" y="2095500"/>
            <a:ext cx="10287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vi-VN" sz="1800" dirty="0"/>
              <a:t>Đóng vai trò như cầu nối giữa </a:t>
            </a:r>
            <a:r>
              <a:rPr lang="vi-VN" sz="1800" b="1" dirty="0"/>
              <a:t>Sinh học</a:t>
            </a:r>
            <a:r>
              <a:rPr lang="vi-VN" sz="1800" dirty="0"/>
              <a:t> và </a:t>
            </a:r>
            <a:r>
              <a:rPr lang="vi-VN" sz="1800" b="1" dirty="0"/>
              <a:t>công nghệ</a:t>
            </a:r>
            <a:r>
              <a:rPr lang="vi-VN" sz="1800" dirty="0"/>
              <a:t>, giúp biến dữ liệu sinh học phức tạp thành thông tin có thể hiểu và sử dụng được.</a:t>
            </a:r>
          </a:p>
        </p:txBody>
      </p:sp>
      <p:sp>
        <p:nvSpPr>
          <p:cNvPr id="5" name="Three">
            <a:extLst>
              <a:ext uri="{FF2B5EF4-FFF2-40B4-BE49-F238E27FC236}">
                <a16:creationId xmlns:a16="http://schemas.microsoft.com/office/drawing/2014/main" id="{DA800FF9-DF6B-408F-9046-66918C872E11}"/>
              </a:ext>
            </a:extLst>
          </p:cNvPr>
          <p:cNvSpPr>
            <a:spLocks noGrp="1"/>
          </p:cNvSpPr>
          <p:nvPr/>
        </p:nvSpPr>
        <p:spPr>
          <a:xfrm>
            <a:off x="663649" y="5336659"/>
            <a:ext cx="1028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97132"/>
                </a:solidFill>
                <a:latin typeface="Arial"/>
                <a:ea typeface="Arial"/>
                <a:cs typeface="Arial"/>
              </a:rPr>
              <a:t>Dữ liệu  →  Thông tin  →  Diễn giải</a:t>
            </a:r>
          </a:p>
        </p:txBody>
      </p:sp>
      <p:pic>
        <p:nvPicPr>
          <p:cNvPr id="7" name="Picture 2" descr="What is Bioinformatics?">
            <a:extLst>
              <a:ext uri="{FF2B5EF4-FFF2-40B4-BE49-F238E27FC236}">
                <a16:creationId xmlns:a16="http://schemas.microsoft.com/office/drawing/2014/main" id="{65BAD62F-A1BD-EC51-4ACB-C25D9C052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3496" y="2873671"/>
            <a:ext cx="6907306" cy="3885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1463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481D43A5-92F1-4FE7-AB78-F5AF6C2A519B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84AA"/>
                </a:solidFill>
                <a:latin typeface="Arial"/>
                <a:ea typeface="Arial"/>
                <a:cs typeface="Arial"/>
              </a:rPr>
              <a:t>Tại sao cần bioinformatics?</a:t>
            </a: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F627F728-CFE8-4816-BA8F-E9CA04E656B9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Lead">
            <a:extLst>
              <a:ext uri="{FF2B5EF4-FFF2-40B4-BE49-F238E27FC236}">
                <a16:creationId xmlns:a16="http://schemas.microsoft.com/office/drawing/2014/main" id="{E0B72CCD-5569-4B2B-9ECC-19BFF7DE1AF7}"/>
              </a:ext>
            </a:extLst>
          </p:cNvPr>
          <p:cNvSpPr>
            <a:spLocks noGrp="1"/>
          </p:cNvSpPr>
          <p:nvPr/>
        </p:nvSpPr>
        <p:spPr>
          <a:xfrm>
            <a:off x="876300" y="1285875"/>
            <a:ext cx="1028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725" b="1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A33"/>
                </a:solidFill>
                <a:latin typeface="Arial"/>
                <a:ea typeface="Arial"/>
                <a:cs typeface="Arial"/>
              </a:rPr>
              <a:t>Bioinformatics biến dữ liệu giải trình tự thành thông tin có thể kiểm tra và diễn giải.</a:t>
            </a:r>
          </a:p>
        </p:txBody>
      </p:sp>
      <p:sp>
        <p:nvSpPr>
          <p:cNvPr id="4" name="Accent 1">
            <a:extLst>
              <a:ext uri="{FF2B5EF4-FFF2-40B4-BE49-F238E27FC236}">
                <a16:creationId xmlns:a16="http://schemas.microsoft.com/office/drawing/2014/main" id="{DACE5213-B300-4C4D-9B65-04FCFD6A1EEA}"/>
              </a:ext>
            </a:extLst>
          </p:cNvPr>
          <p:cNvSpPr>
            <a:spLocks noGrp="1"/>
          </p:cNvSpPr>
          <p:nvPr/>
        </p:nvSpPr>
        <p:spPr>
          <a:xfrm>
            <a:off x="876300" y="2133600"/>
            <a:ext cx="66675" cy="419100"/>
          </a:xfrm>
          <a:prstGeom prst="rect">
            <a:avLst/>
          </a:prstGeom>
          <a:solidFill>
            <a:srgbClr val="0F84A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Point 1">
            <a:extLst>
              <a:ext uri="{FF2B5EF4-FFF2-40B4-BE49-F238E27FC236}">
                <a16:creationId xmlns:a16="http://schemas.microsoft.com/office/drawing/2014/main" id="{84A3A118-54EB-448B-8A63-AFA3F35F4DA1}"/>
              </a:ext>
            </a:extLst>
          </p:cNvPr>
          <p:cNvSpPr>
            <a:spLocks noGrp="1"/>
          </p:cNvSpPr>
          <p:nvPr/>
        </p:nvSpPr>
        <p:spPr>
          <a:xfrm>
            <a:off x="1104900" y="2095500"/>
            <a:ext cx="1015365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2A33"/>
                </a:solidFill>
                <a:latin typeface="Arial"/>
                <a:ea typeface="Arial"/>
                <a:cs typeface="Arial"/>
              </a:rPr>
              <a:t>Dữ liệu giải trình tự có đạt chất lượng không?</a:t>
            </a:r>
          </a:p>
        </p:txBody>
      </p:sp>
      <p:sp>
        <p:nvSpPr>
          <p:cNvPr id="6" name="Accent 2">
            <a:extLst>
              <a:ext uri="{FF2B5EF4-FFF2-40B4-BE49-F238E27FC236}">
                <a16:creationId xmlns:a16="http://schemas.microsoft.com/office/drawing/2014/main" id="{E5268712-AAE8-4067-A1B3-CBCE24084847}"/>
              </a:ext>
            </a:extLst>
          </p:cNvPr>
          <p:cNvSpPr>
            <a:spLocks noGrp="1"/>
          </p:cNvSpPr>
          <p:nvPr/>
        </p:nvSpPr>
        <p:spPr>
          <a:xfrm>
            <a:off x="876300" y="2743200"/>
            <a:ext cx="66675" cy="41910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Point 2">
            <a:extLst>
              <a:ext uri="{FF2B5EF4-FFF2-40B4-BE49-F238E27FC236}">
                <a16:creationId xmlns:a16="http://schemas.microsoft.com/office/drawing/2014/main" id="{22657288-F54C-40D6-804B-2A366F91B74E}"/>
              </a:ext>
            </a:extLst>
          </p:cNvPr>
          <p:cNvSpPr>
            <a:spLocks noGrp="1"/>
          </p:cNvSpPr>
          <p:nvPr/>
        </p:nvSpPr>
        <p:spPr>
          <a:xfrm>
            <a:off x="1104900" y="2705100"/>
            <a:ext cx="1015365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2A33"/>
                </a:solidFill>
                <a:latin typeface="Arial"/>
                <a:ea typeface="Arial"/>
                <a:cs typeface="Arial"/>
              </a:rPr>
              <a:t>Read được ánh xạ tới vị trí nào trên reference genome?</a:t>
            </a:r>
          </a:p>
        </p:txBody>
      </p:sp>
      <p:sp>
        <p:nvSpPr>
          <p:cNvPr id="8" name="Accent 3">
            <a:extLst>
              <a:ext uri="{FF2B5EF4-FFF2-40B4-BE49-F238E27FC236}">
                <a16:creationId xmlns:a16="http://schemas.microsoft.com/office/drawing/2014/main" id="{BB5AB3EA-2E44-4E87-9AAC-70E48561FA24}"/>
              </a:ext>
            </a:extLst>
          </p:cNvPr>
          <p:cNvSpPr>
            <a:spLocks noGrp="1"/>
          </p:cNvSpPr>
          <p:nvPr/>
        </p:nvSpPr>
        <p:spPr>
          <a:xfrm>
            <a:off x="876300" y="3352800"/>
            <a:ext cx="66675" cy="419100"/>
          </a:xfrm>
          <a:prstGeom prst="rect">
            <a:avLst/>
          </a:prstGeom>
          <a:solidFill>
            <a:srgbClr val="2E8B7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Point 3">
            <a:extLst>
              <a:ext uri="{FF2B5EF4-FFF2-40B4-BE49-F238E27FC236}">
                <a16:creationId xmlns:a16="http://schemas.microsoft.com/office/drawing/2014/main" id="{AD79E748-6238-4D60-857B-16B3F9BB6980}"/>
              </a:ext>
            </a:extLst>
          </p:cNvPr>
          <p:cNvSpPr>
            <a:spLocks noGrp="1"/>
          </p:cNvSpPr>
          <p:nvPr/>
        </p:nvSpPr>
        <p:spPr>
          <a:xfrm>
            <a:off x="1104900" y="3314700"/>
            <a:ext cx="1015365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2A33"/>
                </a:solidFill>
                <a:latin typeface="Arial"/>
                <a:ea typeface="Arial"/>
                <a:cs typeface="Arial"/>
              </a:rPr>
              <a:t>Mẫu có variant nào và variant đó có đáng tin cậy không?</a:t>
            </a:r>
          </a:p>
        </p:txBody>
      </p:sp>
      <p:sp>
        <p:nvSpPr>
          <p:cNvPr id="10" name="Accent 4">
            <a:extLst>
              <a:ext uri="{FF2B5EF4-FFF2-40B4-BE49-F238E27FC236}">
                <a16:creationId xmlns:a16="http://schemas.microsoft.com/office/drawing/2014/main" id="{94D28705-DBC5-4B32-BB68-82267E0C0DD1}"/>
              </a:ext>
            </a:extLst>
          </p:cNvPr>
          <p:cNvSpPr>
            <a:spLocks noGrp="1"/>
          </p:cNvSpPr>
          <p:nvPr/>
        </p:nvSpPr>
        <p:spPr>
          <a:xfrm>
            <a:off x="876300" y="3962400"/>
            <a:ext cx="66675" cy="419100"/>
          </a:xfrm>
          <a:prstGeom prst="rect">
            <a:avLst/>
          </a:prstGeom>
          <a:solidFill>
            <a:srgbClr val="7B61A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oint 4">
            <a:extLst>
              <a:ext uri="{FF2B5EF4-FFF2-40B4-BE49-F238E27FC236}">
                <a16:creationId xmlns:a16="http://schemas.microsoft.com/office/drawing/2014/main" id="{19A968FB-1F71-46C2-AA36-DE2253A8623E}"/>
              </a:ext>
            </a:extLst>
          </p:cNvPr>
          <p:cNvSpPr>
            <a:spLocks noGrp="1"/>
          </p:cNvSpPr>
          <p:nvPr/>
        </p:nvSpPr>
        <p:spPr>
          <a:xfrm>
            <a:off x="1104900" y="3924300"/>
            <a:ext cx="1015365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2A33"/>
                </a:solidFill>
                <a:latin typeface="Arial"/>
                <a:ea typeface="Arial"/>
                <a:cs typeface="Arial"/>
              </a:rPr>
              <a:t>Variant nằm trong gene/vùng chức năng nào?</a:t>
            </a:r>
          </a:p>
        </p:txBody>
      </p:sp>
      <p:sp>
        <p:nvSpPr>
          <p:cNvPr id="12" name="Accent 5">
            <a:extLst>
              <a:ext uri="{FF2B5EF4-FFF2-40B4-BE49-F238E27FC236}">
                <a16:creationId xmlns:a16="http://schemas.microsoft.com/office/drawing/2014/main" id="{909DC32B-7D02-4168-8D1E-E1B16585C8D2}"/>
              </a:ext>
            </a:extLst>
          </p:cNvPr>
          <p:cNvSpPr>
            <a:spLocks noGrp="1"/>
          </p:cNvSpPr>
          <p:nvPr/>
        </p:nvSpPr>
        <p:spPr>
          <a:xfrm>
            <a:off x="876300" y="4572000"/>
            <a:ext cx="66675" cy="419100"/>
          </a:xfrm>
          <a:prstGeom prst="rect">
            <a:avLst/>
          </a:prstGeom>
          <a:solidFill>
            <a:srgbClr val="D49A2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oint 5">
            <a:extLst>
              <a:ext uri="{FF2B5EF4-FFF2-40B4-BE49-F238E27FC236}">
                <a16:creationId xmlns:a16="http://schemas.microsoft.com/office/drawing/2014/main" id="{636E8B53-43A7-4BC5-A2E1-372D5B586E86}"/>
              </a:ext>
            </a:extLst>
          </p:cNvPr>
          <p:cNvSpPr>
            <a:spLocks noGrp="1"/>
          </p:cNvSpPr>
          <p:nvPr/>
        </p:nvSpPr>
        <p:spPr>
          <a:xfrm>
            <a:off x="1104900" y="4533900"/>
            <a:ext cx="1015365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2A33"/>
                </a:solidFill>
                <a:latin typeface="Arial"/>
                <a:ea typeface="Arial"/>
                <a:cs typeface="Arial"/>
              </a:rPr>
              <a:t>Bằng chứng hiện có nói gì về tác động của variant?</a:t>
            </a:r>
          </a:p>
        </p:txBody>
      </p:sp>
    </p:spTree>
    <p:extLst>
      <p:ext uri="{BB962C8B-B14F-4D97-AF65-F5344CB8AC3E}">
        <p14:creationId xmlns:p14="http://schemas.microsoft.com/office/powerpoint/2010/main" val="1522134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">
            <a:extLst>
              <a:ext uri="{FF2B5EF4-FFF2-40B4-BE49-F238E27FC236}">
                <a16:creationId xmlns:a16="http://schemas.microsoft.com/office/drawing/2014/main" id="{66A7BC88-87E7-4AD0-ADE9-6613E80A9497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84AA"/>
                </a:solidFill>
                <a:latin typeface="Arial"/>
                <a:ea typeface="Arial"/>
                <a:cs typeface="Arial"/>
              </a:rPr>
              <a:t>Từ mẫu thực nghiệm đến kết quả sinh học</a:t>
            </a: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D0180254-E062-4442-BD78-524A57C76AD4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448C66-2131-9C75-D513-F6A3BB53FC86}"/>
              </a:ext>
            </a:extLst>
          </p:cNvPr>
          <p:cNvSpPr/>
          <p:nvPr/>
        </p:nvSpPr>
        <p:spPr>
          <a:xfrm>
            <a:off x="1330036" y="4156364"/>
            <a:ext cx="9871364" cy="1662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70ABE6F-4D0E-29E2-B1B7-2DF8AB1FDA82}"/>
              </a:ext>
            </a:extLst>
          </p:cNvPr>
          <p:cNvCxnSpPr>
            <a:cxnSpLocks/>
            <a:stCxn id="32" idx="3"/>
            <a:endCxn id="37" idx="1"/>
          </p:cNvCxnSpPr>
          <p:nvPr/>
        </p:nvCxnSpPr>
        <p:spPr>
          <a:xfrm>
            <a:off x="2423991" y="4989482"/>
            <a:ext cx="71995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ADCF896-5CF6-52A4-E666-C4896B5F40FA}"/>
              </a:ext>
            </a:extLst>
          </p:cNvPr>
          <p:cNvSpPr/>
          <p:nvPr/>
        </p:nvSpPr>
        <p:spPr>
          <a:xfrm>
            <a:off x="838200" y="2154381"/>
            <a:ext cx="1579418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Biological sample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96B7901-3705-EB0D-A2D4-D7970B1B0806}"/>
              </a:ext>
            </a:extLst>
          </p:cNvPr>
          <p:cNvSpPr/>
          <p:nvPr/>
        </p:nvSpPr>
        <p:spPr>
          <a:xfrm>
            <a:off x="2827713" y="2154381"/>
            <a:ext cx="1579418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Library Preparation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4EFF014-57F3-0829-4A1C-44F32021CEEB}"/>
              </a:ext>
            </a:extLst>
          </p:cNvPr>
          <p:cNvSpPr/>
          <p:nvPr/>
        </p:nvSpPr>
        <p:spPr>
          <a:xfrm>
            <a:off x="4817226" y="2154381"/>
            <a:ext cx="1579418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Sequencing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D005C50-CF6D-5BD3-79DE-F9101F2399B6}"/>
              </a:ext>
            </a:extLst>
          </p:cNvPr>
          <p:cNvSpPr/>
          <p:nvPr/>
        </p:nvSpPr>
        <p:spPr>
          <a:xfrm>
            <a:off x="6806739" y="2154381"/>
            <a:ext cx="103216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Reads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83A8DBB-BCDF-9CE0-C5C2-09AB629F2F00}"/>
              </a:ext>
            </a:extLst>
          </p:cNvPr>
          <p:cNvSpPr/>
          <p:nvPr/>
        </p:nvSpPr>
        <p:spPr>
          <a:xfrm>
            <a:off x="8248997" y="2154381"/>
            <a:ext cx="1766454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Bioinformatics Analysis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2C68C28-6B83-4667-1359-0923974BB905}"/>
              </a:ext>
            </a:extLst>
          </p:cNvPr>
          <p:cNvSpPr/>
          <p:nvPr/>
        </p:nvSpPr>
        <p:spPr>
          <a:xfrm>
            <a:off x="10425546" y="2154381"/>
            <a:ext cx="1339734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Report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523EDE-A364-9EE6-9A2F-D3A7E94FA8EE}"/>
              </a:ext>
            </a:extLst>
          </p:cNvPr>
          <p:cNvSpPr/>
          <p:nvPr/>
        </p:nvSpPr>
        <p:spPr>
          <a:xfrm>
            <a:off x="6583680" y="1950026"/>
            <a:ext cx="3640975" cy="130925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9B4F729-85C0-2775-3EDA-741212C0BD39}"/>
              </a:ext>
            </a:extLst>
          </p:cNvPr>
          <p:cNvCxnSpPr>
            <a:cxnSpLocks/>
          </p:cNvCxnSpPr>
          <p:nvPr/>
        </p:nvCxnSpPr>
        <p:spPr>
          <a:xfrm>
            <a:off x="2417618" y="2611581"/>
            <a:ext cx="4100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1B32464-972C-3EDB-0A3A-0CBC328A57C5}"/>
              </a:ext>
            </a:extLst>
          </p:cNvPr>
          <p:cNvCxnSpPr>
            <a:cxnSpLocks/>
          </p:cNvCxnSpPr>
          <p:nvPr/>
        </p:nvCxnSpPr>
        <p:spPr>
          <a:xfrm flipV="1">
            <a:off x="4407131" y="2611581"/>
            <a:ext cx="410095" cy="6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6FAFBAE-2BE2-9CB4-DD7B-F2F57E586224}"/>
              </a:ext>
            </a:extLst>
          </p:cNvPr>
          <p:cNvCxnSpPr>
            <a:cxnSpLocks/>
          </p:cNvCxnSpPr>
          <p:nvPr/>
        </p:nvCxnSpPr>
        <p:spPr>
          <a:xfrm>
            <a:off x="6138949" y="2611581"/>
            <a:ext cx="667790" cy="6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D9DB63F-32F3-0C0F-BAC2-8E48030A41AF}"/>
              </a:ext>
            </a:extLst>
          </p:cNvPr>
          <p:cNvCxnSpPr>
            <a:cxnSpLocks/>
          </p:cNvCxnSpPr>
          <p:nvPr/>
        </p:nvCxnSpPr>
        <p:spPr>
          <a:xfrm>
            <a:off x="7838902" y="2611581"/>
            <a:ext cx="4100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C383E11-E270-BCD6-C28A-B75A6E67C305}"/>
              </a:ext>
            </a:extLst>
          </p:cNvPr>
          <p:cNvCxnSpPr>
            <a:cxnSpLocks/>
          </p:cNvCxnSpPr>
          <p:nvPr/>
        </p:nvCxnSpPr>
        <p:spPr>
          <a:xfrm>
            <a:off x="10015451" y="2611581"/>
            <a:ext cx="4100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F12BC6CC-9E6A-C1F0-2AF7-52908B57498A}"/>
              </a:ext>
            </a:extLst>
          </p:cNvPr>
          <p:cNvSpPr/>
          <p:nvPr/>
        </p:nvSpPr>
        <p:spPr>
          <a:xfrm>
            <a:off x="1509591" y="4532282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POD5 signal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61C513EB-CCA2-A883-DCB0-0AF75B50E611}"/>
              </a:ext>
            </a:extLst>
          </p:cNvPr>
          <p:cNvSpPr/>
          <p:nvPr/>
        </p:nvSpPr>
        <p:spPr>
          <a:xfrm>
            <a:off x="2958361" y="4532282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FastQ</a:t>
            </a:r>
            <a:endParaRPr lang="en-US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87DE5ED-CEF3-14D1-C6B7-9BB1CF29D6FA}"/>
              </a:ext>
            </a:extLst>
          </p:cNvPr>
          <p:cNvSpPr/>
          <p:nvPr/>
        </p:nvSpPr>
        <p:spPr>
          <a:xfrm>
            <a:off x="4407131" y="4532282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QC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F75622F-2D1E-27D1-DAA7-9811A592F525}"/>
              </a:ext>
            </a:extLst>
          </p:cNvPr>
          <p:cNvSpPr/>
          <p:nvPr/>
        </p:nvSpPr>
        <p:spPr>
          <a:xfrm>
            <a:off x="5855901" y="4532282"/>
            <a:ext cx="134943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Alignment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478C1EA1-07E1-E48A-D40D-6FD3B3C74B47}"/>
              </a:ext>
            </a:extLst>
          </p:cNvPr>
          <p:cNvSpPr/>
          <p:nvPr/>
        </p:nvSpPr>
        <p:spPr>
          <a:xfrm>
            <a:off x="7739704" y="4532282"/>
            <a:ext cx="134943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Variant calling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6845B81-2E2D-E531-C4FC-75AA69CF352A}"/>
              </a:ext>
            </a:extLst>
          </p:cNvPr>
          <p:cNvSpPr/>
          <p:nvPr/>
        </p:nvSpPr>
        <p:spPr>
          <a:xfrm>
            <a:off x="9623506" y="4532282"/>
            <a:ext cx="134943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Variant annotation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E483099-C251-CD84-796D-83C217723D83}"/>
              </a:ext>
            </a:extLst>
          </p:cNvPr>
          <p:cNvCxnSpPr>
            <a:cxnSpLocks/>
          </p:cNvCxnSpPr>
          <p:nvPr/>
        </p:nvCxnSpPr>
        <p:spPr>
          <a:xfrm flipH="1">
            <a:off x="1330036" y="3266208"/>
            <a:ext cx="5307678" cy="8901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72C8F30-017E-400E-35BA-561F05441E80}"/>
              </a:ext>
            </a:extLst>
          </p:cNvPr>
          <p:cNvCxnSpPr>
            <a:cxnSpLocks/>
          </p:cNvCxnSpPr>
          <p:nvPr/>
        </p:nvCxnSpPr>
        <p:spPr>
          <a:xfrm flipH="1" flipV="1">
            <a:off x="10224655" y="3259281"/>
            <a:ext cx="976745" cy="8970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855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5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 kicker">
            <a:extLst>
              <a:ext uri="{FF2B5EF4-FFF2-40B4-BE49-F238E27FC236}">
                <a16:creationId xmlns:a16="http://schemas.microsoft.com/office/drawing/2014/main" id="{27F39FD5-FDE7-4B61-88E8-3F701F8D89B5}"/>
              </a:ext>
            </a:extLst>
          </p:cNvPr>
          <p:cNvSpPr>
            <a:spLocks noGrp="1"/>
          </p:cNvSpPr>
          <p:nvPr/>
        </p:nvSpPr>
        <p:spPr>
          <a:xfrm>
            <a:off x="876300" y="176212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8FD5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5E8"/>
                </a:solidFill>
                <a:latin typeface="Arial"/>
                <a:ea typeface="Arial"/>
                <a:cs typeface="Arial"/>
              </a:rPr>
              <a:t>PHẦN 1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35624B14-3F9B-4FEE-BDDC-97BD9ECC2B46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9620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Các</a:t>
            </a:r>
            <a:r>
              <a:rPr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khái</a:t>
            </a:r>
            <a:r>
              <a:rPr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niệm</a:t>
            </a:r>
            <a:r>
              <a:rPr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và</a:t>
            </a:r>
            <a:r>
              <a:rPr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định</a:t>
            </a:r>
            <a:r>
              <a:rPr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dạng</a:t>
            </a:r>
            <a:r>
              <a:rPr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file </a:t>
            </a:r>
            <a:r>
              <a:rPr lang="vi-VN"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cơ bản</a:t>
            </a:r>
            <a:endParaRPr sz="36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ection accent">
            <a:extLst>
              <a:ext uri="{FF2B5EF4-FFF2-40B4-BE49-F238E27FC236}">
                <a16:creationId xmlns:a16="http://schemas.microsoft.com/office/drawing/2014/main" id="{2258A04C-A57F-4D19-B998-FAAA073306E2}"/>
              </a:ext>
            </a:extLst>
          </p:cNvPr>
          <p:cNvSpPr>
            <a:spLocks noGrp="1"/>
          </p:cNvSpPr>
          <p:nvPr/>
        </p:nvSpPr>
        <p:spPr>
          <a:xfrm>
            <a:off x="876300" y="3810000"/>
            <a:ext cx="2286000" cy="952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01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">
            <a:extLst>
              <a:ext uri="{FF2B5EF4-FFF2-40B4-BE49-F238E27FC236}">
                <a16:creationId xmlns:a16="http://schemas.microsoft.com/office/drawing/2014/main" id="{EF173B98-FB8F-4E8E-94AA-C2C9D3DE8294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lang="vi-VN"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Variant calling</a:t>
            </a:r>
            <a:endParaRPr sz="2550" b="1" dirty="0">
              <a:solidFill>
                <a:srgbClr val="0F84A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A1141568-4B46-442A-AD50-3122CA20CD05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2" descr="workflow">
            <a:extLst>
              <a:ext uri="{FF2B5EF4-FFF2-40B4-BE49-F238E27FC236}">
                <a16:creationId xmlns:a16="http://schemas.microsoft.com/office/drawing/2014/main" id="{F9A71C87-6AE5-BF94-8A21-5B585C56D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34" y="1483919"/>
            <a:ext cx="3296248" cy="4569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GATK">
            <a:extLst>
              <a:ext uri="{FF2B5EF4-FFF2-40B4-BE49-F238E27FC236}">
                <a16:creationId xmlns:a16="http://schemas.microsoft.com/office/drawing/2014/main" id="{EB5DA8F9-A082-0532-39FD-7AD49D7615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108"/>
          <a:stretch/>
        </p:blipFill>
        <p:spPr bwMode="auto">
          <a:xfrm>
            <a:off x="3950670" y="1776649"/>
            <a:ext cx="7829248" cy="3709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0849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C8983642-4FA3-41A9-A51C-8994BF24456C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84AA"/>
                </a:solidFill>
                <a:latin typeface="Arial"/>
                <a:ea typeface="Arial"/>
                <a:cs typeface="Arial"/>
              </a:rPr>
              <a:t>Genome, reference genome và read</a:t>
            </a: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75BDC5C0-A972-49E4-ABAC-6AF5718425EB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 1">
            <a:extLst>
              <a:ext uri="{FF2B5EF4-FFF2-40B4-BE49-F238E27FC236}">
                <a16:creationId xmlns:a16="http://schemas.microsoft.com/office/drawing/2014/main" id="{A5EB33A0-C03D-4BA4-A500-EAA96D73CC3F}"/>
              </a:ext>
            </a:extLst>
          </p:cNvPr>
          <p:cNvSpPr>
            <a:spLocks noGrp="1"/>
          </p:cNvSpPr>
          <p:nvPr/>
        </p:nvSpPr>
        <p:spPr>
          <a:xfrm>
            <a:off x="769973" y="1358749"/>
            <a:ext cx="53673" cy="647700"/>
          </a:xfrm>
          <a:prstGeom prst="rect">
            <a:avLst/>
          </a:prstGeom>
          <a:solidFill>
            <a:srgbClr val="0F84A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oint 1">
            <a:extLst>
              <a:ext uri="{FF2B5EF4-FFF2-40B4-BE49-F238E27FC236}">
                <a16:creationId xmlns:a16="http://schemas.microsoft.com/office/drawing/2014/main" id="{7189EF1E-124E-413C-BDC8-B2E6B0D110DB}"/>
              </a:ext>
            </a:extLst>
          </p:cNvPr>
          <p:cNvSpPr>
            <a:spLocks noGrp="1"/>
          </p:cNvSpPr>
          <p:nvPr/>
        </p:nvSpPr>
        <p:spPr>
          <a:xfrm>
            <a:off x="998573" y="1320649"/>
            <a:ext cx="4622631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Genome: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toàn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bộ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vật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liệu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di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truyền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của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một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sinh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vật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5" name="Accent 2">
            <a:extLst>
              <a:ext uri="{FF2B5EF4-FFF2-40B4-BE49-F238E27FC236}">
                <a16:creationId xmlns:a16="http://schemas.microsoft.com/office/drawing/2014/main" id="{5CE61F99-499B-41F8-AB31-3B3D86E6E6A1}"/>
              </a:ext>
            </a:extLst>
          </p:cNvPr>
          <p:cNvSpPr>
            <a:spLocks noGrp="1"/>
          </p:cNvSpPr>
          <p:nvPr/>
        </p:nvSpPr>
        <p:spPr>
          <a:xfrm>
            <a:off x="769973" y="2196949"/>
            <a:ext cx="53673" cy="64770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Point 2">
            <a:extLst>
              <a:ext uri="{FF2B5EF4-FFF2-40B4-BE49-F238E27FC236}">
                <a16:creationId xmlns:a16="http://schemas.microsoft.com/office/drawing/2014/main" id="{785927FE-43C6-4332-A2E8-84A03B49C5BE}"/>
              </a:ext>
            </a:extLst>
          </p:cNvPr>
          <p:cNvSpPr>
            <a:spLocks noGrp="1"/>
          </p:cNvSpPr>
          <p:nvPr/>
        </p:nvSpPr>
        <p:spPr>
          <a:xfrm>
            <a:off x="998573" y="2158849"/>
            <a:ext cx="4622631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Reference genome: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trình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tự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đại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diện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dùng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làm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hệ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tọa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độ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để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so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sánh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và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báo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cáo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kết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quả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7" name="Accent 3">
            <a:extLst>
              <a:ext uri="{FF2B5EF4-FFF2-40B4-BE49-F238E27FC236}">
                <a16:creationId xmlns:a16="http://schemas.microsoft.com/office/drawing/2014/main" id="{2EF7E37B-1132-41A9-90F2-668C0775FD1E}"/>
              </a:ext>
            </a:extLst>
          </p:cNvPr>
          <p:cNvSpPr>
            <a:spLocks noGrp="1"/>
          </p:cNvSpPr>
          <p:nvPr/>
        </p:nvSpPr>
        <p:spPr>
          <a:xfrm>
            <a:off x="769973" y="3035149"/>
            <a:ext cx="53673" cy="647700"/>
          </a:xfrm>
          <a:prstGeom prst="rect">
            <a:avLst/>
          </a:prstGeom>
          <a:solidFill>
            <a:srgbClr val="2E8B7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Point 3">
            <a:extLst>
              <a:ext uri="{FF2B5EF4-FFF2-40B4-BE49-F238E27FC236}">
                <a16:creationId xmlns:a16="http://schemas.microsoft.com/office/drawing/2014/main" id="{FA7AA78B-5A27-4EA2-ACAC-EC552206296B}"/>
              </a:ext>
            </a:extLst>
          </p:cNvPr>
          <p:cNvSpPr>
            <a:spLocks noGrp="1"/>
          </p:cNvSpPr>
          <p:nvPr/>
        </p:nvSpPr>
        <p:spPr>
          <a:xfrm>
            <a:off x="998573" y="2997049"/>
            <a:ext cx="4622631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Read: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chuỗi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nucleotide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được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máy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giải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trình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tự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ghi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nhận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;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sau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basecalling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thường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được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lưu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trong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FASTQ.</a:t>
            </a:r>
          </a:p>
        </p:txBody>
      </p:sp>
      <p:sp>
        <p:nvSpPr>
          <p:cNvPr id="9" name="Accent 4">
            <a:extLst>
              <a:ext uri="{FF2B5EF4-FFF2-40B4-BE49-F238E27FC236}">
                <a16:creationId xmlns:a16="http://schemas.microsoft.com/office/drawing/2014/main" id="{90DF1E11-8CD6-4486-AC35-33483F990FBF}"/>
              </a:ext>
            </a:extLst>
          </p:cNvPr>
          <p:cNvSpPr>
            <a:spLocks noGrp="1"/>
          </p:cNvSpPr>
          <p:nvPr/>
        </p:nvSpPr>
        <p:spPr>
          <a:xfrm>
            <a:off x="769973" y="3873349"/>
            <a:ext cx="53673" cy="647700"/>
          </a:xfrm>
          <a:prstGeom prst="rect">
            <a:avLst/>
          </a:prstGeom>
          <a:solidFill>
            <a:srgbClr val="7B61A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Point 4">
            <a:extLst>
              <a:ext uri="{FF2B5EF4-FFF2-40B4-BE49-F238E27FC236}">
                <a16:creationId xmlns:a16="http://schemas.microsoft.com/office/drawing/2014/main" id="{4934EF32-6DF5-476B-A746-CB1027067260}"/>
              </a:ext>
            </a:extLst>
          </p:cNvPr>
          <p:cNvSpPr>
            <a:spLocks noGrp="1"/>
          </p:cNvSpPr>
          <p:nvPr/>
        </p:nvSpPr>
        <p:spPr>
          <a:xfrm>
            <a:off x="998573" y="3835249"/>
            <a:ext cx="4622631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ONT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tạo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long reads: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mỗi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read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có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thể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dài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từ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hàng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nghìn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đến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hàng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chục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nghìn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base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hoặc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hơn</a:t>
            </a:r>
            <a:r>
              <a:rPr sz="165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2" name="Picture 2" descr="Piecing together the genome: the long and short of it all – HudsonAlpha  Institute for Biotechnology">
            <a:extLst>
              <a:ext uri="{FF2B5EF4-FFF2-40B4-BE49-F238E27FC236}">
                <a16:creationId xmlns:a16="http://schemas.microsoft.com/office/drawing/2014/main" id="{62E2D6CC-47EC-419F-CC60-CF4AEDECF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1204" y="1352981"/>
            <a:ext cx="6007513" cy="3272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4792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0A8B7DBD-C044-498E-8258-34D87068A904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0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FASTQ</a:t>
            </a: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E083471E-B856-4F90-808A-D70828DD2D29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2" descr="FASTQ format">
            <a:extLst>
              <a:ext uri="{FF2B5EF4-FFF2-40B4-BE49-F238E27FC236}">
                <a16:creationId xmlns:a16="http://schemas.microsoft.com/office/drawing/2014/main" id="{55B95CC6-758A-FB6D-C4D9-46C93833D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118" y="1250585"/>
            <a:ext cx="5829764" cy="3488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76BEAD6-B8D1-4A09-A76D-48B167C73F70}"/>
              </a:ext>
            </a:extLst>
          </p:cNvPr>
          <p:cNvSpPr txBox="1"/>
          <p:nvPr/>
        </p:nvSpPr>
        <p:spPr>
          <a:xfrm>
            <a:off x="6486861" y="1935940"/>
            <a:ext cx="52784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/>
              <a:t>Phred quality score</a:t>
            </a:r>
            <a:r>
              <a:rPr lang="vi-VN" dirty="0"/>
              <a:t> là thang điểm dùng để biểu diễn độ tin cậy của một base được gọi sau bước </a:t>
            </a:r>
            <a:r>
              <a:rPr lang="vi-VN" b="1" dirty="0"/>
              <a:t>basecalling</a:t>
            </a:r>
            <a:r>
              <a:rPr lang="vi-VN" dirty="0"/>
              <a:t>.</a:t>
            </a:r>
            <a:endParaRPr lang="en-US" dirty="0"/>
          </a:p>
        </p:txBody>
      </p:sp>
      <p:pic>
        <p:nvPicPr>
          <p:cNvPr id="16" name="Picture 4" descr="Formula showing conversion between Phred quality scores and error probabilities">
            <a:extLst>
              <a:ext uri="{FF2B5EF4-FFF2-40B4-BE49-F238E27FC236}">
                <a16:creationId xmlns:a16="http://schemas.microsoft.com/office/drawing/2014/main" id="{708D94E2-469C-B65B-17E4-FFF0FA71D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964" y="2898299"/>
            <a:ext cx="4219239" cy="1061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2BEBFFE-DFAD-2960-02F4-B7F8B76C5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060611"/>
              </p:ext>
            </p:extLst>
          </p:nvPr>
        </p:nvGraphicFramePr>
        <p:xfrm>
          <a:off x="1074931" y="4875895"/>
          <a:ext cx="9487736" cy="14630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1934">
                  <a:extLst>
                    <a:ext uri="{9D8B030D-6E8A-4147-A177-3AD203B41FA5}">
                      <a16:colId xmlns:a16="http://schemas.microsoft.com/office/drawing/2014/main" val="3174961255"/>
                    </a:ext>
                  </a:extLst>
                </a:gridCol>
                <a:gridCol w="2371934">
                  <a:extLst>
                    <a:ext uri="{9D8B030D-6E8A-4147-A177-3AD203B41FA5}">
                      <a16:colId xmlns:a16="http://schemas.microsoft.com/office/drawing/2014/main" val="152326062"/>
                    </a:ext>
                  </a:extLst>
                </a:gridCol>
                <a:gridCol w="2371934">
                  <a:extLst>
                    <a:ext uri="{9D8B030D-6E8A-4147-A177-3AD203B41FA5}">
                      <a16:colId xmlns:a16="http://schemas.microsoft.com/office/drawing/2014/main" val="2885595394"/>
                    </a:ext>
                  </a:extLst>
                </a:gridCol>
                <a:gridCol w="2371934">
                  <a:extLst>
                    <a:ext uri="{9D8B030D-6E8A-4147-A177-3AD203B41FA5}">
                      <a16:colId xmlns:a16="http://schemas.microsoft.com/office/drawing/2014/main" val="7350753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Phred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Cách tính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Xác suất sai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Độ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chính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xác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xấp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xỉ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790268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Q10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10^(-10/10) = 10^-1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0.1 = 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90%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653728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Q20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10^(-20/10) = 10^-2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0.01 = 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99%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297662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Q30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10^(-30/10) = 10^-3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0.001 = 0.1%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99.9%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878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6306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720D3-9FF6-7E20-5595-C7FE87BD4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79" y="385445"/>
            <a:ext cx="11021001" cy="762635"/>
          </a:xfrm>
        </p:spPr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Phred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Score: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cậy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basecalling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2050" name="Picture 2" descr="FASTQ format">
            <a:extLst>
              <a:ext uri="{FF2B5EF4-FFF2-40B4-BE49-F238E27FC236}">
                <a16:creationId xmlns:a16="http://schemas.microsoft.com/office/drawing/2014/main" id="{1BFC4989-83E0-B4AF-424E-BDD84A92F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201" y="1148080"/>
            <a:ext cx="4395395" cy="263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0C4CF7-237E-BC4E-FE93-16AB51B17A63}"/>
              </a:ext>
            </a:extLst>
          </p:cNvPr>
          <p:cNvSpPr txBox="1"/>
          <p:nvPr/>
        </p:nvSpPr>
        <p:spPr>
          <a:xfrm>
            <a:off x="590202" y="4079206"/>
            <a:ext cx="40355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Phred quality score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là thang điểm dùng để biểu diễn độ tin cậy của một base được gọi sau bước </a:t>
            </a:r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basecalling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2" name="Picture 4" descr="Formula showing conversion between Phred quality scores and error probabilities">
            <a:extLst>
              <a:ext uri="{FF2B5EF4-FFF2-40B4-BE49-F238E27FC236}">
                <a16:creationId xmlns:a16="http://schemas.microsoft.com/office/drawing/2014/main" id="{7D4F700E-FD18-D5FA-A820-DE9A143D1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201" y="5411153"/>
            <a:ext cx="3397776" cy="1061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605CA8-438A-7E91-78D7-0D229FC573B7}"/>
              </a:ext>
            </a:extLst>
          </p:cNvPr>
          <p:cNvSpPr txBox="1"/>
          <p:nvPr/>
        </p:nvSpPr>
        <p:spPr>
          <a:xfrm>
            <a:off x="5958975" y="1339552"/>
            <a:ext cx="1517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ASCII Table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D44BEF-3CC1-5E56-C3C2-F15F3CB9B9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5596" y="1708884"/>
            <a:ext cx="3046780" cy="48406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7325D6-63B5-8D51-3FC3-E90C09EFEE5E}"/>
              </a:ext>
            </a:extLst>
          </p:cNvPr>
          <p:cNvSpPr txBox="1"/>
          <p:nvPr/>
        </p:nvSpPr>
        <p:spPr>
          <a:xfrm>
            <a:off x="8392184" y="1576261"/>
            <a:ext cx="33153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Phred+33 (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Phred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score + 33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Illumina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Phred+64 (</a:t>
            </a:r>
            <a:r>
              <a:rPr lang="en-US" b="1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cũ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Phred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score +64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AF92EE2-55D1-E291-7699-A55EA7B2CF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487" y="4833180"/>
            <a:ext cx="4853770" cy="119949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400F1D3-C366-E6ED-A425-202EBD2FBEC9}"/>
              </a:ext>
            </a:extLst>
          </p:cNvPr>
          <p:cNvSpPr txBox="1"/>
          <p:nvPr/>
        </p:nvSpPr>
        <p:spPr>
          <a:xfrm>
            <a:off x="4984376" y="6455654"/>
            <a:ext cx="3046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www.asciitable.com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</a:p>
        </p:txBody>
      </p:sp>
      <p:sp>
        <p:nvSpPr>
          <p:cNvPr id="3" name="Title accent">
            <a:extLst>
              <a:ext uri="{FF2B5EF4-FFF2-40B4-BE49-F238E27FC236}">
                <a16:creationId xmlns:a16="http://schemas.microsoft.com/office/drawing/2014/main" id="{EA4EA1F3-05D3-D3AE-6576-02F98E2E623E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136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E7225191-E6E0-4F08-9355-646858574CBA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F84AA"/>
                </a:solidFill>
                <a:latin typeface="Arial"/>
                <a:ea typeface="Arial"/>
                <a:cs typeface="Arial"/>
              </a:rPr>
              <a:t>FASTA chỉ lưu trình tự</a:t>
            </a: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5C1DE275-5905-4B02-A404-49F191204DC4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Code block">
            <a:extLst>
              <a:ext uri="{FF2B5EF4-FFF2-40B4-BE49-F238E27FC236}">
                <a16:creationId xmlns:a16="http://schemas.microsoft.com/office/drawing/2014/main" id="{4DA96355-3897-474A-B55F-24FB1D238AAE}"/>
              </a:ext>
            </a:extLst>
          </p:cNvPr>
          <p:cNvSpPr>
            <a:spLocks noGrp="1"/>
          </p:cNvSpPr>
          <p:nvPr/>
        </p:nvSpPr>
        <p:spPr>
          <a:xfrm>
            <a:off x="876300" y="1571625"/>
            <a:ext cx="4953000" cy="1809750"/>
          </a:xfrm>
          <a:prstGeom prst="roundRect">
            <a:avLst>
              <a:gd name="adj" fmla="val 4211"/>
            </a:avLst>
          </a:prstGeom>
          <a:solidFill>
            <a:srgbClr val="F4F7F8"/>
          </a:solidFill>
          <a:ln w="9525">
            <a:solidFill>
              <a:srgbClr val="B8CDD5"/>
            </a:solidFill>
            <a:prstDash val="solid"/>
          </a:ln>
        </p:spPr>
        <p:txBody>
          <a:bodyPr/>
          <a:lstStyle/>
          <a:p>
            <a:pPr>
              <a:buNone/>
              <a:defRPr sz="172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&gt;chr20_demo_region</a:t>
            </a:r>
          </a:p>
          <a:p>
            <a:pPr>
              <a:buNone/>
              <a:defRPr sz="172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ACGTACGTACGTACGTACGT</a:t>
            </a:r>
          </a:p>
        </p:txBody>
      </p:sp>
      <p:sp>
        <p:nvSpPr>
          <p:cNvPr id="4" name="Accent 1">
            <a:extLst>
              <a:ext uri="{FF2B5EF4-FFF2-40B4-BE49-F238E27FC236}">
                <a16:creationId xmlns:a16="http://schemas.microsoft.com/office/drawing/2014/main" id="{CA2C5DAB-BBC0-4E10-94D6-EADD7DF41507}"/>
              </a:ext>
            </a:extLst>
          </p:cNvPr>
          <p:cNvSpPr>
            <a:spLocks noGrp="1"/>
          </p:cNvSpPr>
          <p:nvPr/>
        </p:nvSpPr>
        <p:spPr>
          <a:xfrm>
            <a:off x="6334125" y="1419225"/>
            <a:ext cx="66675" cy="590550"/>
          </a:xfrm>
          <a:prstGeom prst="rect">
            <a:avLst/>
          </a:prstGeom>
          <a:solidFill>
            <a:srgbClr val="0F84A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Point 1">
            <a:extLst>
              <a:ext uri="{FF2B5EF4-FFF2-40B4-BE49-F238E27FC236}">
                <a16:creationId xmlns:a16="http://schemas.microsoft.com/office/drawing/2014/main" id="{6C5C819A-7B04-4D29-9900-AE513624F93D}"/>
              </a:ext>
            </a:extLst>
          </p:cNvPr>
          <p:cNvSpPr>
            <a:spLocks noGrp="1"/>
          </p:cNvSpPr>
          <p:nvPr/>
        </p:nvSpPr>
        <p:spPr>
          <a:xfrm>
            <a:off x="6562725" y="1381125"/>
            <a:ext cx="453390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A33"/>
                </a:solidFill>
                <a:latin typeface="Arial"/>
                <a:ea typeface="Arial"/>
                <a:cs typeface="Arial"/>
              </a:rPr>
              <a:t>Dòng header bắt đầu bằng ký tự &gt;</a:t>
            </a:r>
          </a:p>
        </p:txBody>
      </p:sp>
      <p:sp>
        <p:nvSpPr>
          <p:cNvPr id="6" name="Accent 2">
            <a:extLst>
              <a:ext uri="{FF2B5EF4-FFF2-40B4-BE49-F238E27FC236}">
                <a16:creationId xmlns:a16="http://schemas.microsoft.com/office/drawing/2014/main" id="{0D520E19-541C-4E3B-9C9B-8A5C19452146}"/>
              </a:ext>
            </a:extLst>
          </p:cNvPr>
          <p:cNvSpPr>
            <a:spLocks noGrp="1"/>
          </p:cNvSpPr>
          <p:nvPr/>
        </p:nvSpPr>
        <p:spPr>
          <a:xfrm>
            <a:off x="6334125" y="2200275"/>
            <a:ext cx="66675" cy="5905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Point 2">
            <a:extLst>
              <a:ext uri="{FF2B5EF4-FFF2-40B4-BE49-F238E27FC236}">
                <a16:creationId xmlns:a16="http://schemas.microsoft.com/office/drawing/2014/main" id="{3686AAB0-0D6F-4A18-9AB4-0AA7E321663D}"/>
              </a:ext>
            </a:extLst>
          </p:cNvPr>
          <p:cNvSpPr>
            <a:spLocks noGrp="1"/>
          </p:cNvSpPr>
          <p:nvPr/>
        </p:nvSpPr>
        <p:spPr>
          <a:xfrm>
            <a:off x="6562725" y="2162175"/>
            <a:ext cx="453390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A33"/>
                </a:solidFill>
                <a:latin typeface="Arial"/>
                <a:ea typeface="Arial"/>
                <a:cs typeface="Arial"/>
              </a:rPr>
              <a:t>Các dòng tiếp theo chứa trình tự nucleotide hoặc protein</a:t>
            </a:r>
          </a:p>
        </p:txBody>
      </p:sp>
      <p:sp>
        <p:nvSpPr>
          <p:cNvPr id="8" name="Accent 3">
            <a:extLst>
              <a:ext uri="{FF2B5EF4-FFF2-40B4-BE49-F238E27FC236}">
                <a16:creationId xmlns:a16="http://schemas.microsoft.com/office/drawing/2014/main" id="{B1F6978E-6AEE-409C-A214-CD93016ECB16}"/>
              </a:ext>
            </a:extLst>
          </p:cNvPr>
          <p:cNvSpPr>
            <a:spLocks noGrp="1"/>
          </p:cNvSpPr>
          <p:nvPr/>
        </p:nvSpPr>
        <p:spPr>
          <a:xfrm>
            <a:off x="6334125" y="2981325"/>
            <a:ext cx="66675" cy="590550"/>
          </a:xfrm>
          <a:prstGeom prst="rect">
            <a:avLst/>
          </a:prstGeom>
          <a:solidFill>
            <a:srgbClr val="2E8B7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Point 3">
            <a:extLst>
              <a:ext uri="{FF2B5EF4-FFF2-40B4-BE49-F238E27FC236}">
                <a16:creationId xmlns:a16="http://schemas.microsoft.com/office/drawing/2014/main" id="{7203A9A9-F8EF-429C-9D2B-6F56FBF3B3CD}"/>
              </a:ext>
            </a:extLst>
          </p:cNvPr>
          <p:cNvSpPr>
            <a:spLocks noGrp="1"/>
          </p:cNvSpPr>
          <p:nvPr/>
        </p:nvSpPr>
        <p:spPr>
          <a:xfrm>
            <a:off x="6562725" y="2943225"/>
            <a:ext cx="453390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A33"/>
                </a:solidFill>
                <a:latin typeface="Arial"/>
                <a:ea typeface="Arial"/>
                <a:cs typeface="Arial"/>
              </a:rPr>
              <a:t>Không lưu base quality</a:t>
            </a:r>
          </a:p>
        </p:txBody>
      </p:sp>
      <p:sp>
        <p:nvSpPr>
          <p:cNvPr id="10" name="Accent 4">
            <a:extLst>
              <a:ext uri="{FF2B5EF4-FFF2-40B4-BE49-F238E27FC236}">
                <a16:creationId xmlns:a16="http://schemas.microsoft.com/office/drawing/2014/main" id="{9F01E2C3-F214-4D3F-9756-B9995B12E95E}"/>
              </a:ext>
            </a:extLst>
          </p:cNvPr>
          <p:cNvSpPr>
            <a:spLocks noGrp="1"/>
          </p:cNvSpPr>
          <p:nvPr/>
        </p:nvSpPr>
        <p:spPr>
          <a:xfrm>
            <a:off x="6334125" y="3762375"/>
            <a:ext cx="66675" cy="590550"/>
          </a:xfrm>
          <a:prstGeom prst="rect">
            <a:avLst/>
          </a:prstGeom>
          <a:solidFill>
            <a:srgbClr val="7B61A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oint 4">
            <a:extLst>
              <a:ext uri="{FF2B5EF4-FFF2-40B4-BE49-F238E27FC236}">
                <a16:creationId xmlns:a16="http://schemas.microsoft.com/office/drawing/2014/main" id="{6372D491-E57E-40B7-BE8C-CD0EAD41A84B}"/>
              </a:ext>
            </a:extLst>
          </p:cNvPr>
          <p:cNvSpPr>
            <a:spLocks noGrp="1"/>
          </p:cNvSpPr>
          <p:nvPr/>
        </p:nvSpPr>
        <p:spPr>
          <a:xfrm>
            <a:off x="6562725" y="3724275"/>
            <a:ext cx="453390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A33"/>
                </a:solidFill>
                <a:latin typeface="Arial"/>
                <a:ea typeface="Arial"/>
                <a:cs typeface="Arial"/>
              </a:rPr>
              <a:t>Thường dùng cho reference genome, gene hoặc protein sequence</a:t>
            </a:r>
          </a:p>
        </p:txBody>
      </p:sp>
    </p:spTree>
    <p:extLst>
      <p:ext uri="{BB962C8B-B14F-4D97-AF65-F5344CB8AC3E}">
        <p14:creationId xmlns:p14="http://schemas.microsoft.com/office/powerpoint/2010/main" val="2636306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10A900B0-14B0-437A-8F1A-B2F4835396CF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84AA"/>
                </a:solidFill>
                <a:latin typeface="Arial"/>
                <a:ea typeface="Arial"/>
                <a:cs typeface="Arial"/>
              </a:rPr>
              <a:t>SAM và BAM lưu kết quả alignment</a:t>
            </a: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21E0F5D0-AD72-45DD-93AC-7533A9F66317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 1">
            <a:extLst>
              <a:ext uri="{FF2B5EF4-FFF2-40B4-BE49-F238E27FC236}">
                <a16:creationId xmlns:a16="http://schemas.microsoft.com/office/drawing/2014/main" id="{1857D222-27C0-4421-852B-0792C01D081C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66675" cy="533400"/>
          </a:xfrm>
          <a:prstGeom prst="rect">
            <a:avLst/>
          </a:prstGeom>
          <a:solidFill>
            <a:srgbClr val="0F84A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oint 1">
            <a:extLst>
              <a:ext uri="{FF2B5EF4-FFF2-40B4-BE49-F238E27FC236}">
                <a16:creationId xmlns:a16="http://schemas.microsoft.com/office/drawing/2014/main" id="{5035F0E1-6DA2-4275-9A40-7F2B04271A6F}"/>
              </a:ext>
            </a:extLst>
          </p:cNvPr>
          <p:cNvSpPr>
            <a:spLocks noGrp="1"/>
          </p:cNvSpPr>
          <p:nvPr/>
        </p:nvSpPr>
        <p:spPr>
          <a:xfrm>
            <a:off x="1104900" y="1352550"/>
            <a:ext cx="5784998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SAM — Sequence Alignment/Map format: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dạng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text,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dễ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đọc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nhưng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dung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lượng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lớn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5" name="Accent 2">
            <a:extLst>
              <a:ext uri="{FF2B5EF4-FFF2-40B4-BE49-F238E27FC236}">
                <a16:creationId xmlns:a16="http://schemas.microsoft.com/office/drawing/2014/main" id="{F1625D75-FEEE-453C-8EB0-D52BAA338B0D}"/>
              </a:ext>
            </a:extLst>
          </p:cNvPr>
          <p:cNvSpPr>
            <a:spLocks noGrp="1"/>
          </p:cNvSpPr>
          <p:nvPr/>
        </p:nvSpPr>
        <p:spPr>
          <a:xfrm>
            <a:off x="876300" y="2114550"/>
            <a:ext cx="66675" cy="53340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Point 2">
            <a:extLst>
              <a:ext uri="{FF2B5EF4-FFF2-40B4-BE49-F238E27FC236}">
                <a16:creationId xmlns:a16="http://schemas.microsoft.com/office/drawing/2014/main" id="{C4CFE28C-522A-4C59-AE29-6E12C267BED9}"/>
              </a:ext>
            </a:extLst>
          </p:cNvPr>
          <p:cNvSpPr>
            <a:spLocks noGrp="1"/>
          </p:cNvSpPr>
          <p:nvPr/>
        </p:nvSpPr>
        <p:spPr>
          <a:xfrm>
            <a:off x="1104900" y="2076450"/>
            <a:ext cx="5784998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BAM — </a:t>
            </a:r>
            <a:r>
              <a:rPr lang="vi-VN"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dạng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nhị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phân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của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SAM: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gọn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hơn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và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xử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lý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nhanh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hơn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7" name="Accent 3">
            <a:extLst>
              <a:ext uri="{FF2B5EF4-FFF2-40B4-BE49-F238E27FC236}">
                <a16:creationId xmlns:a16="http://schemas.microsoft.com/office/drawing/2014/main" id="{5A268A8E-44D9-4F22-ACFD-3E702A4478FC}"/>
              </a:ext>
            </a:extLst>
          </p:cNvPr>
          <p:cNvSpPr>
            <a:spLocks noGrp="1"/>
          </p:cNvSpPr>
          <p:nvPr/>
        </p:nvSpPr>
        <p:spPr>
          <a:xfrm>
            <a:off x="876300" y="2838450"/>
            <a:ext cx="66675" cy="533400"/>
          </a:xfrm>
          <a:prstGeom prst="rect">
            <a:avLst/>
          </a:prstGeom>
          <a:solidFill>
            <a:srgbClr val="2E8B7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Point 3">
            <a:extLst>
              <a:ext uri="{FF2B5EF4-FFF2-40B4-BE49-F238E27FC236}">
                <a16:creationId xmlns:a16="http://schemas.microsoft.com/office/drawing/2014/main" id="{BD6FFC4C-D973-44E2-AD82-DCCB6475C7D1}"/>
              </a:ext>
            </a:extLst>
          </p:cNvPr>
          <p:cNvSpPr>
            <a:spLocks noGrp="1"/>
          </p:cNvSpPr>
          <p:nvPr/>
        </p:nvSpPr>
        <p:spPr>
          <a:xfrm>
            <a:off x="1104900" y="2800350"/>
            <a:ext cx="5784998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Mỗi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record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mô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tả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một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alignment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của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read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lên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reference genome</a:t>
            </a:r>
            <a:r>
              <a:rPr lang="vi-VN"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(11 trường thông tin bắt buộc)</a:t>
            </a:r>
            <a:endParaRPr sz="1575" dirty="0">
              <a:solidFill>
                <a:srgbClr val="202A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Accent 4">
            <a:extLst>
              <a:ext uri="{FF2B5EF4-FFF2-40B4-BE49-F238E27FC236}">
                <a16:creationId xmlns:a16="http://schemas.microsoft.com/office/drawing/2014/main" id="{0CC5DE4E-B1C9-4F1A-ABB6-1B7650AB82B1}"/>
              </a:ext>
            </a:extLst>
          </p:cNvPr>
          <p:cNvSpPr>
            <a:spLocks noGrp="1"/>
          </p:cNvSpPr>
          <p:nvPr/>
        </p:nvSpPr>
        <p:spPr>
          <a:xfrm>
            <a:off x="876300" y="3562350"/>
            <a:ext cx="66675" cy="533400"/>
          </a:xfrm>
          <a:prstGeom prst="rect">
            <a:avLst/>
          </a:prstGeom>
          <a:solidFill>
            <a:srgbClr val="7B61A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Point 4">
            <a:extLst>
              <a:ext uri="{FF2B5EF4-FFF2-40B4-BE49-F238E27FC236}">
                <a16:creationId xmlns:a16="http://schemas.microsoft.com/office/drawing/2014/main" id="{B11D9387-1F49-407C-A92A-FFBE27EB4144}"/>
              </a:ext>
            </a:extLst>
          </p:cNvPr>
          <p:cNvSpPr>
            <a:spLocks noGrp="1"/>
          </p:cNvSpPr>
          <p:nvPr/>
        </p:nvSpPr>
        <p:spPr>
          <a:xfrm>
            <a:off x="1104900" y="3524250"/>
            <a:ext cx="5784998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BAM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đã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sắp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xếp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thường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đi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kèm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file index .bai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để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truy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cập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nhanh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theo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vùng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1" name="Accent 5">
            <a:extLst>
              <a:ext uri="{FF2B5EF4-FFF2-40B4-BE49-F238E27FC236}">
                <a16:creationId xmlns:a16="http://schemas.microsoft.com/office/drawing/2014/main" id="{B91467EC-5D9E-4EC3-9B79-C32924934ABC}"/>
              </a:ext>
            </a:extLst>
          </p:cNvPr>
          <p:cNvSpPr>
            <a:spLocks noGrp="1"/>
          </p:cNvSpPr>
          <p:nvPr/>
        </p:nvSpPr>
        <p:spPr>
          <a:xfrm>
            <a:off x="876300" y="4286250"/>
            <a:ext cx="66675" cy="533400"/>
          </a:xfrm>
          <a:prstGeom prst="rect">
            <a:avLst/>
          </a:prstGeom>
          <a:solidFill>
            <a:srgbClr val="D49A2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Point 5">
            <a:extLst>
              <a:ext uri="{FF2B5EF4-FFF2-40B4-BE49-F238E27FC236}">
                <a16:creationId xmlns:a16="http://schemas.microsoft.com/office/drawing/2014/main" id="{AEC046DB-9345-4B5B-8C78-D1F2B3D7D086}"/>
              </a:ext>
            </a:extLst>
          </p:cNvPr>
          <p:cNvSpPr>
            <a:spLocks noGrp="1"/>
          </p:cNvSpPr>
          <p:nvPr/>
        </p:nvSpPr>
        <p:spPr>
          <a:xfrm>
            <a:off x="1104900" y="4248150"/>
            <a:ext cx="5784998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Chi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tiết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alignment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sẽ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được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học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ở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Buổi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4.</a:t>
            </a:r>
          </a:p>
        </p:txBody>
      </p:sp>
      <p:sp>
        <p:nvSpPr>
          <p:cNvPr id="13" name="Source">
            <a:extLst>
              <a:ext uri="{FF2B5EF4-FFF2-40B4-BE49-F238E27FC236}">
                <a16:creationId xmlns:a16="http://schemas.microsoft.com/office/drawing/2014/main" id="{19B69139-CA76-4A4A-86D9-18B9BC95A76B}"/>
              </a:ext>
            </a:extLst>
          </p:cNvPr>
          <p:cNvSpPr>
            <a:spLocks noGrp="1"/>
          </p:cNvSpPr>
          <p:nvPr/>
        </p:nvSpPr>
        <p:spPr>
          <a:xfrm>
            <a:off x="838200" y="64960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Tham khảo: samtools.github.io/hts-specs/SAMv1.pdf</a:t>
            </a:r>
          </a:p>
        </p:txBody>
      </p:sp>
      <p:pic>
        <p:nvPicPr>
          <p:cNvPr id="15" name="Picture 2" descr="sam_bam1">
            <a:extLst>
              <a:ext uri="{FF2B5EF4-FFF2-40B4-BE49-F238E27FC236}">
                <a16:creationId xmlns:a16="http://schemas.microsoft.com/office/drawing/2014/main" id="{72E031FB-26A5-A58E-B946-A07301B48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823" y="1841915"/>
            <a:ext cx="4607261" cy="1145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sam_bam2">
            <a:extLst>
              <a:ext uri="{FF2B5EF4-FFF2-40B4-BE49-F238E27FC236}">
                <a16:creationId xmlns:a16="http://schemas.microsoft.com/office/drawing/2014/main" id="{24E48363-BB6E-6C87-BBE1-340A76586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822" y="3208222"/>
            <a:ext cx="4607261" cy="1129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6031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E6EF9B69-6D79-46DF-9528-2693F59E62EA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84AA"/>
                </a:solidFill>
                <a:latin typeface="Arial"/>
                <a:ea typeface="Arial"/>
                <a:cs typeface="Arial"/>
              </a:rPr>
              <a:t>Variant là gì?</a:t>
            </a: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0C53E17C-80CC-456A-B002-83669AC7F7BC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Definition">
            <a:extLst>
              <a:ext uri="{FF2B5EF4-FFF2-40B4-BE49-F238E27FC236}">
                <a16:creationId xmlns:a16="http://schemas.microsoft.com/office/drawing/2014/main" id="{2E40C8EA-B43A-4A58-AC11-2921DF5CC72B}"/>
              </a:ext>
            </a:extLst>
          </p:cNvPr>
          <p:cNvSpPr>
            <a:spLocks noGrp="1"/>
          </p:cNvSpPr>
          <p:nvPr/>
        </p:nvSpPr>
        <p:spPr>
          <a:xfrm>
            <a:off x="876300" y="1285875"/>
            <a:ext cx="10287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725" b="1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A33"/>
                </a:solidFill>
                <a:latin typeface="Arial"/>
                <a:ea typeface="Arial"/>
                <a:cs typeface="Arial"/>
              </a:rPr>
              <a:t>Variant là sự khác biệt giữa trình tự của mẫu và reference genome được sử dụng để so sánh.</a:t>
            </a:r>
          </a:p>
        </p:txBody>
      </p:sp>
      <p:sp>
        <p:nvSpPr>
          <p:cNvPr id="4" name="Accent 1">
            <a:extLst>
              <a:ext uri="{FF2B5EF4-FFF2-40B4-BE49-F238E27FC236}">
                <a16:creationId xmlns:a16="http://schemas.microsoft.com/office/drawing/2014/main" id="{A712FD53-84BB-4284-B8E2-D1E325A7999F}"/>
              </a:ext>
            </a:extLst>
          </p:cNvPr>
          <p:cNvSpPr>
            <a:spLocks noGrp="1"/>
          </p:cNvSpPr>
          <p:nvPr/>
        </p:nvSpPr>
        <p:spPr>
          <a:xfrm>
            <a:off x="876300" y="2324100"/>
            <a:ext cx="66675" cy="476250"/>
          </a:xfrm>
          <a:prstGeom prst="rect">
            <a:avLst/>
          </a:prstGeom>
          <a:solidFill>
            <a:srgbClr val="0F84A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Point 1">
            <a:extLst>
              <a:ext uri="{FF2B5EF4-FFF2-40B4-BE49-F238E27FC236}">
                <a16:creationId xmlns:a16="http://schemas.microsoft.com/office/drawing/2014/main" id="{D4B3AE9D-1A85-47B5-AF7A-29C932D15320}"/>
              </a:ext>
            </a:extLst>
          </p:cNvPr>
          <p:cNvSpPr>
            <a:spLocks noGrp="1"/>
          </p:cNvSpPr>
          <p:nvPr/>
        </p:nvSpPr>
        <p:spPr>
          <a:xfrm>
            <a:off x="1104900" y="2286000"/>
            <a:ext cx="101536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02A33"/>
                </a:solidFill>
                <a:latin typeface="Arial"/>
                <a:ea typeface="Arial"/>
                <a:cs typeface="Arial"/>
              </a:rPr>
              <a:t>SNV: thay đổi một nucleotide</a:t>
            </a:r>
          </a:p>
        </p:txBody>
      </p:sp>
      <p:sp>
        <p:nvSpPr>
          <p:cNvPr id="6" name="Accent 2">
            <a:extLst>
              <a:ext uri="{FF2B5EF4-FFF2-40B4-BE49-F238E27FC236}">
                <a16:creationId xmlns:a16="http://schemas.microsoft.com/office/drawing/2014/main" id="{C24FD7AA-AF7C-4285-B5B3-42B981AE03C2}"/>
              </a:ext>
            </a:extLst>
          </p:cNvPr>
          <p:cNvSpPr>
            <a:spLocks noGrp="1"/>
          </p:cNvSpPr>
          <p:nvPr/>
        </p:nvSpPr>
        <p:spPr>
          <a:xfrm>
            <a:off x="876300" y="2990850"/>
            <a:ext cx="66675" cy="4762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Point 2">
            <a:extLst>
              <a:ext uri="{FF2B5EF4-FFF2-40B4-BE49-F238E27FC236}">
                <a16:creationId xmlns:a16="http://schemas.microsoft.com/office/drawing/2014/main" id="{3833F5E9-2893-4B7F-8BF2-DCE2B7F0E470}"/>
              </a:ext>
            </a:extLst>
          </p:cNvPr>
          <p:cNvSpPr>
            <a:spLocks noGrp="1"/>
          </p:cNvSpPr>
          <p:nvPr/>
        </p:nvSpPr>
        <p:spPr>
          <a:xfrm>
            <a:off x="1104900" y="2952750"/>
            <a:ext cx="101536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02A33"/>
                </a:solidFill>
                <a:latin typeface="Arial"/>
                <a:ea typeface="Arial"/>
                <a:cs typeface="Arial"/>
              </a:rPr>
              <a:t>Insertion/Deletion (indel): thêm hoặc mất một đoạn ngắn</a:t>
            </a:r>
          </a:p>
        </p:txBody>
      </p:sp>
      <p:sp>
        <p:nvSpPr>
          <p:cNvPr id="8" name="Accent 3">
            <a:extLst>
              <a:ext uri="{FF2B5EF4-FFF2-40B4-BE49-F238E27FC236}">
                <a16:creationId xmlns:a16="http://schemas.microsoft.com/office/drawing/2014/main" id="{D1EE41A2-1B07-4748-AB68-1074BE983C38}"/>
              </a:ext>
            </a:extLst>
          </p:cNvPr>
          <p:cNvSpPr>
            <a:spLocks noGrp="1"/>
          </p:cNvSpPr>
          <p:nvPr/>
        </p:nvSpPr>
        <p:spPr>
          <a:xfrm>
            <a:off x="876300" y="3657600"/>
            <a:ext cx="66675" cy="476250"/>
          </a:xfrm>
          <a:prstGeom prst="rect">
            <a:avLst/>
          </a:prstGeom>
          <a:solidFill>
            <a:srgbClr val="2E8B7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Point 3">
            <a:extLst>
              <a:ext uri="{FF2B5EF4-FFF2-40B4-BE49-F238E27FC236}">
                <a16:creationId xmlns:a16="http://schemas.microsoft.com/office/drawing/2014/main" id="{D80BCAC9-867E-4087-AF0D-E6DF31B75611}"/>
              </a:ext>
            </a:extLst>
          </p:cNvPr>
          <p:cNvSpPr>
            <a:spLocks noGrp="1"/>
          </p:cNvSpPr>
          <p:nvPr/>
        </p:nvSpPr>
        <p:spPr>
          <a:xfrm>
            <a:off x="1104900" y="3619500"/>
            <a:ext cx="101536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02A33"/>
                </a:solidFill>
                <a:latin typeface="Arial"/>
                <a:ea typeface="Arial"/>
                <a:cs typeface="Arial"/>
              </a:rPr>
              <a:t>Structural variant (SV): thay đổi cấu trúc lớn</a:t>
            </a:r>
          </a:p>
        </p:txBody>
      </p:sp>
      <p:sp>
        <p:nvSpPr>
          <p:cNvPr id="10" name="Accent 4">
            <a:extLst>
              <a:ext uri="{FF2B5EF4-FFF2-40B4-BE49-F238E27FC236}">
                <a16:creationId xmlns:a16="http://schemas.microsoft.com/office/drawing/2014/main" id="{6CA882E1-0691-4FAB-AE56-57A924CC7406}"/>
              </a:ext>
            </a:extLst>
          </p:cNvPr>
          <p:cNvSpPr>
            <a:spLocks noGrp="1"/>
          </p:cNvSpPr>
          <p:nvPr/>
        </p:nvSpPr>
        <p:spPr>
          <a:xfrm>
            <a:off x="876300" y="4324350"/>
            <a:ext cx="66675" cy="476250"/>
          </a:xfrm>
          <a:prstGeom prst="rect">
            <a:avLst/>
          </a:prstGeom>
          <a:solidFill>
            <a:srgbClr val="7B61A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oint 4">
            <a:extLst>
              <a:ext uri="{FF2B5EF4-FFF2-40B4-BE49-F238E27FC236}">
                <a16:creationId xmlns:a16="http://schemas.microsoft.com/office/drawing/2014/main" id="{F8AA241F-A32B-4F28-896A-713AD8BDB36C}"/>
              </a:ext>
            </a:extLst>
          </p:cNvPr>
          <p:cNvSpPr>
            <a:spLocks noGrp="1"/>
          </p:cNvSpPr>
          <p:nvPr/>
        </p:nvSpPr>
        <p:spPr>
          <a:xfrm>
            <a:off x="1104900" y="4286250"/>
            <a:ext cx="101536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02A33"/>
                </a:solidFill>
                <a:latin typeface="Arial"/>
                <a:ea typeface="Arial"/>
                <a:cs typeface="Arial"/>
              </a:rPr>
              <a:t>Copy-number variant (CNV): thay đổi số lượng bản sao</a:t>
            </a:r>
          </a:p>
        </p:txBody>
      </p:sp>
      <p:sp>
        <p:nvSpPr>
          <p:cNvPr id="12" name="Caution">
            <a:extLst>
              <a:ext uri="{FF2B5EF4-FFF2-40B4-BE49-F238E27FC236}">
                <a16:creationId xmlns:a16="http://schemas.microsoft.com/office/drawing/2014/main" id="{F2D93572-A62C-42F1-92FA-8E449E567027}"/>
              </a:ext>
            </a:extLst>
          </p:cNvPr>
          <p:cNvSpPr>
            <a:spLocks noGrp="1"/>
          </p:cNvSpPr>
          <p:nvPr/>
        </p:nvSpPr>
        <p:spPr>
          <a:xfrm>
            <a:off x="876300" y="5286375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97132"/>
                </a:solidFill>
                <a:latin typeface="Arial"/>
                <a:ea typeface="Arial"/>
                <a:cs typeface="Arial"/>
              </a:rPr>
              <a:t>Variant không đồng nghĩa với biến thể gây bệnh; cần annotation và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2636306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A942BF24-4746-4A7D-B7DD-A7A92361E65C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251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lang="vi-VN"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Depth </a:t>
            </a:r>
            <a:r>
              <a:rPr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Coverage</a:t>
            </a:r>
            <a:r>
              <a:rPr lang="vi-VN"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and Breadth Coverage</a:t>
            </a:r>
            <a:endParaRPr sz="2550" b="1" dirty="0">
              <a:solidFill>
                <a:srgbClr val="0F84A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D6C1FF98-0F62-44CB-946E-06754ADE91EB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D8E5880-1CC9-FA4E-C4E4-B62945E804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790" y="1494317"/>
            <a:ext cx="7903505" cy="4789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0052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0159D-7C90-3B7B-E560-966DF1A36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BED: Browser Extensible Data</a:t>
            </a:r>
          </a:p>
        </p:txBody>
      </p:sp>
      <p:sp>
        <p:nvSpPr>
          <p:cNvPr id="5" name="Code block">
            <a:extLst>
              <a:ext uri="{FF2B5EF4-FFF2-40B4-BE49-F238E27FC236}">
                <a16:creationId xmlns:a16="http://schemas.microsoft.com/office/drawing/2014/main" id="{BAE1FECC-0373-7BA1-7153-895494F753E3}"/>
              </a:ext>
            </a:extLst>
          </p:cNvPr>
          <p:cNvSpPr>
            <a:spLocks noGrp="1"/>
          </p:cNvSpPr>
          <p:nvPr/>
        </p:nvSpPr>
        <p:spPr>
          <a:xfrm>
            <a:off x="876300" y="1381125"/>
            <a:ext cx="10287000" cy="904875"/>
          </a:xfrm>
          <a:prstGeom prst="roundRect">
            <a:avLst>
              <a:gd name="adj" fmla="val 8421"/>
            </a:avLst>
          </a:prstGeom>
          <a:solidFill>
            <a:srgbClr val="F4F7F8"/>
          </a:solidFill>
          <a:ln w="9525">
            <a:solidFill>
              <a:srgbClr val="B8CDD5"/>
            </a:solidFill>
            <a:prstDash val="solid"/>
          </a:ln>
        </p:spPr>
        <p:txBody>
          <a:bodyPr/>
          <a:lstStyle/>
          <a:p>
            <a:pPr>
              <a:defRPr sz="1650">
                <a:solidFill>
                  <a:srgbClr val="17242B"/>
                </a:solidFill>
              </a:defRPr>
            </a:pPr>
            <a:r>
              <a:rPr sz="1650">
                <a:solidFill>
                  <a:srgbClr val="17242B"/>
                </a:solidFill>
              </a:rPr>
              <a:t>chr20    100000    101000    demo_region</a:t>
            </a:r>
          </a:p>
        </p:txBody>
      </p:sp>
      <p:sp>
        <p:nvSpPr>
          <p:cNvPr id="6" name="Bullet 1">
            <a:extLst>
              <a:ext uri="{FF2B5EF4-FFF2-40B4-BE49-F238E27FC236}">
                <a16:creationId xmlns:a16="http://schemas.microsoft.com/office/drawing/2014/main" id="{D819FC04-764F-7A90-FE92-55769A68CA97}"/>
              </a:ext>
            </a:extLst>
          </p:cNvPr>
          <p:cNvSpPr>
            <a:spLocks noGrp="1"/>
          </p:cNvSpPr>
          <p:nvPr/>
        </p:nvSpPr>
        <p:spPr>
          <a:xfrm>
            <a:off x="876300" y="2762250"/>
            <a:ext cx="10382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202A33"/>
                </a:solidFill>
              </a:defRPr>
            </a:pPr>
            <a:r>
              <a:rPr sz="1575" dirty="0">
                <a:solidFill>
                  <a:srgbClr val="202A33"/>
                </a:solidFill>
              </a:rPr>
              <a:t>• </a:t>
            </a:r>
            <a:r>
              <a:rPr sz="1575" dirty="0" err="1">
                <a:solidFill>
                  <a:srgbClr val="202A33"/>
                </a:solidFill>
              </a:rPr>
              <a:t>Cột</a:t>
            </a:r>
            <a:r>
              <a:rPr sz="1575" dirty="0">
                <a:solidFill>
                  <a:srgbClr val="202A33"/>
                </a:solidFill>
              </a:rPr>
              <a:t> 1: chromosome</a:t>
            </a:r>
          </a:p>
        </p:txBody>
      </p:sp>
      <p:sp>
        <p:nvSpPr>
          <p:cNvPr id="7" name="Bullet 2">
            <a:extLst>
              <a:ext uri="{FF2B5EF4-FFF2-40B4-BE49-F238E27FC236}">
                <a16:creationId xmlns:a16="http://schemas.microsoft.com/office/drawing/2014/main" id="{EC0273C9-CED1-2646-4135-A85A8A1EAA9D}"/>
              </a:ext>
            </a:extLst>
          </p:cNvPr>
          <p:cNvSpPr>
            <a:spLocks noGrp="1"/>
          </p:cNvSpPr>
          <p:nvPr/>
        </p:nvSpPr>
        <p:spPr>
          <a:xfrm>
            <a:off x="876300" y="3352800"/>
            <a:ext cx="10382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202A33"/>
                </a:solidFill>
              </a:defRPr>
            </a:pPr>
            <a:r>
              <a:rPr sz="1575">
                <a:solidFill>
                  <a:srgbClr val="202A33"/>
                </a:solidFill>
              </a:rPr>
              <a:t>• Cột 2: start — thường là 0-based</a:t>
            </a:r>
          </a:p>
        </p:txBody>
      </p:sp>
      <p:sp>
        <p:nvSpPr>
          <p:cNvPr id="8" name="Bullet 3">
            <a:extLst>
              <a:ext uri="{FF2B5EF4-FFF2-40B4-BE49-F238E27FC236}">
                <a16:creationId xmlns:a16="http://schemas.microsoft.com/office/drawing/2014/main" id="{C9B47076-9FBA-635D-6B41-6720DF006CD3}"/>
              </a:ext>
            </a:extLst>
          </p:cNvPr>
          <p:cNvSpPr>
            <a:spLocks noGrp="1"/>
          </p:cNvSpPr>
          <p:nvPr/>
        </p:nvSpPr>
        <p:spPr>
          <a:xfrm>
            <a:off x="876300" y="3943350"/>
            <a:ext cx="10382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202A33"/>
                </a:solidFill>
              </a:defRPr>
            </a:pPr>
            <a:r>
              <a:rPr sz="1575">
                <a:solidFill>
                  <a:srgbClr val="202A33"/>
                </a:solidFill>
              </a:rPr>
              <a:t>• Cột 3: end — không bao gồm vị trí end (half-open)</a:t>
            </a:r>
          </a:p>
        </p:txBody>
      </p:sp>
      <p:sp>
        <p:nvSpPr>
          <p:cNvPr id="9" name="Bullet 4">
            <a:extLst>
              <a:ext uri="{FF2B5EF4-FFF2-40B4-BE49-F238E27FC236}">
                <a16:creationId xmlns:a16="http://schemas.microsoft.com/office/drawing/2014/main" id="{D734A779-E973-5F88-C139-8CFD2B0A3282}"/>
              </a:ext>
            </a:extLst>
          </p:cNvPr>
          <p:cNvSpPr>
            <a:spLocks noGrp="1"/>
          </p:cNvSpPr>
          <p:nvPr/>
        </p:nvSpPr>
        <p:spPr>
          <a:xfrm>
            <a:off x="876300" y="4533900"/>
            <a:ext cx="10382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202A33"/>
                </a:solidFill>
              </a:defRPr>
            </a:pPr>
            <a:r>
              <a:rPr sz="1575">
                <a:solidFill>
                  <a:srgbClr val="202A33"/>
                </a:solidFill>
              </a:rPr>
              <a:t>• Cột 4: tên vùng, không bắt buộc</a:t>
            </a:r>
          </a:p>
        </p:txBody>
      </p:sp>
      <p:sp>
        <p:nvSpPr>
          <p:cNvPr id="10" name="Bullet 5">
            <a:extLst>
              <a:ext uri="{FF2B5EF4-FFF2-40B4-BE49-F238E27FC236}">
                <a16:creationId xmlns:a16="http://schemas.microsoft.com/office/drawing/2014/main" id="{30DDC148-B67B-8904-5F07-B79EF7BC370F}"/>
              </a:ext>
            </a:extLst>
          </p:cNvPr>
          <p:cNvSpPr>
            <a:spLocks noGrp="1"/>
          </p:cNvSpPr>
          <p:nvPr/>
        </p:nvSpPr>
        <p:spPr>
          <a:xfrm>
            <a:off x="876300" y="5124450"/>
            <a:ext cx="10382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202A33"/>
                </a:solidFill>
              </a:defRPr>
            </a:pPr>
            <a:r>
              <a:rPr sz="1575">
                <a:solidFill>
                  <a:srgbClr val="202A33"/>
                </a:solidFill>
              </a:rPr>
              <a:t>• BED dùng để mô tả exon, gene, target region hoặc vùng cần phân tích.</a:t>
            </a:r>
          </a:p>
        </p:txBody>
      </p:sp>
    </p:spTree>
    <p:extLst>
      <p:ext uri="{BB962C8B-B14F-4D97-AF65-F5344CB8AC3E}">
        <p14:creationId xmlns:p14="http://schemas.microsoft.com/office/powerpoint/2010/main" val="1445628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A002627E-D464-4973-AB4B-7D93B565C891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VCF </a:t>
            </a:r>
            <a:r>
              <a:rPr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lưu</a:t>
            </a:r>
            <a:r>
              <a:rPr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</a:t>
            </a:r>
            <a:r>
              <a:rPr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các</a:t>
            </a:r>
            <a:r>
              <a:rPr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variant </a:t>
            </a:r>
            <a:r>
              <a:rPr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được</a:t>
            </a:r>
            <a:r>
              <a:rPr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</a:t>
            </a:r>
            <a:r>
              <a:rPr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phát</a:t>
            </a:r>
            <a:r>
              <a:rPr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</a:t>
            </a:r>
            <a:r>
              <a:rPr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hiện</a:t>
            </a:r>
            <a:endParaRPr sz="2550" b="1" dirty="0">
              <a:solidFill>
                <a:srgbClr val="0F84A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4F8C69B7-6BBF-4807-86A3-7EF2E497F107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Code block">
            <a:extLst>
              <a:ext uri="{FF2B5EF4-FFF2-40B4-BE49-F238E27FC236}">
                <a16:creationId xmlns:a16="http://schemas.microsoft.com/office/drawing/2014/main" id="{40782E0D-605F-464E-9844-5F329E6CE820}"/>
              </a:ext>
            </a:extLst>
          </p:cNvPr>
          <p:cNvSpPr>
            <a:spLocks noGrp="1"/>
          </p:cNvSpPr>
          <p:nvPr/>
        </p:nvSpPr>
        <p:spPr>
          <a:xfrm>
            <a:off x="876300" y="1333500"/>
            <a:ext cx="10287000" cy="1428750"/>
          </a:xfrm>
          <a:prstGeom prst="roundRect">
            <a:avLst>
              <a:gd name="adj" fmla="val 5333"/>
            </a:avLst>
          </a:prstGeom>
          <a:solidFill>
            <a:srgbClr val="F4F7F8"/>
          </a:solidFill>
          <a:ln w="9525">
            <a:solidFill>
              <a:srgbClr val="B8CDD5"/>
            </a:solidFill>
            <a:prstDash val="solid"/>
          </a:ln>
        </p:spPr>
        <p:txBody>
          <a:bodyPr/>
          <a:lstStyle/>
          <a:p>
            <a:pPr>
              <a:buNone/>
              <a:defRPr sz="1500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0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#CHROM  POS    ID  REF  ALT  QUAL  FILTER  INFO</a:t>
            </a:r>
          </a:p>
          <a:p>
            <a:pPr>
              <a:buNone/>
              <a:defRPr sz="1500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0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chr20   10001  .   A    G    45    PASS    DP=32</a:t>
            </a:r>
          </a:p>
        </p:txBody>
      </p:sp>
      <p:sp>
        <p:nvSpPr>
          <p:cNvPr id="4" name="Accent 1">
            <a:extLst>
              <a:ext uri="{FF2B5EF4-FFF2-40B4-BE49-F238E27FC236}">
                <a16:creationId xmlns:a16="http://schemas.microsoft.com/office/drawing/2014/main" id="{FEF10303-1FC3-4F46-B55B-C39C446F6832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66675" cy="400050"/>
          </a:xfrm>
          <a:prstGeom prst="rect">
            <a:avLst/>
          </a:prstGeom>
          <a:solidFill>
            <a:srgbClr val="0F84A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Point 1">
            <a:extLst>
              <a:ext uri="{FF2B5EF4-FFF2-40B4-BE49-F238E27FC236}">
                <a16:creationId xmlns:a16="http://schemas.microsoft.com/office/drawing/2014/main" id="{EE4B2119-C38B-4DD9-BEBB-7EB6F774B2F2}"/>
              </a:ext>
            </a:extLst>
          </p:cNvPr>
          <p:cNvSpPr>
            <a:spLocks noGrp="1"/>
          </p:cNvSpPr>
          <p:nvPr/>
        </p:nvSpPr>
        <p:spPr>
          <a:xfrm>
            <a:off x="1104900" y="3143250"/>
            <a:ext cx="101536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A33"/>
                </a:solidFill>
                <a:latin typeface="Arial"/>
                <a:ea typeface="Arial"/>
                <a:cs typeface="Arial"/>
              </a:rPr>
              <a:t>CHROM/POS: chromosome và vị trí 1-based</a:t>
            </a:r>
          </a:p>
        </p:txBody>
      </p:sp>
      <p:sp>
        <p:nvSpPr>
          <p:cNvPr id="6" name="Accent 2">
            <a:extLst>
              <a:ext uri="{FF2B5EF4-FFF2-40B4-BE49-F238E27FC236}">
                <a16:creationId xmlns:a16="http://schemas.microsoft.com/office/drawing/2014/main" id="{E2505304-7C53-4073-83CD-245D65352845}"/>
              </a:ext>
            </a:extLst>
          </p:cNvPr>
          <p:cNvSpPr>
            <a:spLocks noGrp="1"/>
          </p:cNvSpPr>
          <p:nvPr/>
        </p:nvSpPr>
        <p:spPr>
          <a:xfrm>
            <a:off x="876300" y="3771900"/>
            <a:ext cx="66675" cy="4000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Point 2">
            <a:extLst>
              <a:ext uri="{FF2B5EF4-FFF2-40B4-BE49-F238E27FC236}">
                <a16:creationId xmlns:a16="http://schemas.microsoft.com/office/drawing/2014/main" id="{B4A16B32-8819-48A1-9435-8A75B4A53AA7}"/>
              </a:ext>
            </a:extLst>
          </p:cNvPr>
          <p:cNvSpPr>
            <a:spLocks noGrp="1"/>
          </p:cNvSpPr>
          <p:nvPr/>
        </p:nvSpPr>
        <p:spPr>
          <a:xfrm>
            <a:off x="1104900" y="3733800"/>
            <a:ext cx="101536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A33"/>
                </a:solidFill>
                <a:latin typeface="Arial"/>
                <a:ea typeface="Arial"/>
                <a:cs typeface="Arial"/>
              </a:rPr>
              <a:t>REF/ALT: allele tham chiếu và allele quan sát được</a:t>
            </a:r>
          </a:p>
        </p:txBody>
      </p:sp>
      <p:sp>
        <p:nvSpPr>
          <p:cNvPr id="8" name="Accent 3">
            <a:extLst>
              <a:ext uri="{FF2B5EF4-FFF2-40B4-BE49-F238E27FC236}">
                <a16:creationId xmlns:a16="http://schemas.microsoft.com/office/drawing/2014/main" id="{BD05BD1C-43ED-4BF4-B523-F196429A80C8}"/>
              </a:ext>
            </a:extLst>
          </p:cNvPr>
          <p:cNvSpPr>
            <a:spLocks noGrp="1"/>
          </p:cNvSpPr>
          <p:nvPr/>
        </p:nvSpPr>
        <p:spPr>
          <a:xfrm>
            <a:off x="876300" y="4362450"/>
            <a:ext cx="66675" cy="400050"/>
          </a:xfrm>
          <a:prstGeom prst="rect">
            <a:avLst/>
          </a:prstGeom>
          <a:solidFill>
            <a:srgbClr val="2E8B7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Point 3">
            <a:extLst>
              <a:ext uri="{FF2B5EF4-FFF2-40B4-BE49-F238E27FC236}">
                <a16:creationId xmlns:a16="http://schemas.microsoft.com/office/drawing/2014/main" id="{90F1ED73-B783-47CC-8F5D-3451716E36F5}"/>
              </a:ext>
            </a:extLst>
          </p:cNvPr>
          <p:cNvSpPr>
            <a:spLocks noGrp="1"/>
          </p:cNvSpPr>
          <p:nvPr/>
        </p:nvSpPr>
        <p:spPr>
          <a:xfrm>
            <a:off x="1104900" y="4324350"/>
            <a:ext cx="101536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A33"/>
                </a:solidFill>
                <a:latin typeface="Arial"/>
                <a:ea typeface="Arial"/>
                <a:cs typeface="Arial"/>
              </a:rPr>
              <a:t>QUAL/FILTER: độ tin cậy và trạng thái lọc của variant call</a:t>
            </a:r>
          </a:p>
        </p:txBody>
      </p:sp>
      <p:sp>
        <p:nvSpPr>
          <p:cNvPr id="10" name="Accent 4">
            <a:extLst>
              <a:ext uri="{FF2B5EF4-FFF2-40B4-BE49-F238E27FC236}">
                <a16:creationId xmlns:a16="http://schemas.microsoft.com/office/drawing/2014/main" id="{7F69A830-42B3-466F-8025-346D10328E77}"/>
              </a:ext>
            </a:extLst>
          </p:cNvPr>
          <p:cNvSpPr>
            <a:spLocks noGrp="1"/>
          </p:cNvSpPr>
          <p:nvPr/>
        </p:nvSpPr>
        <p:spPr>
          <a:xfrm>
            <a:off x="876300" y="4953000"/>
            <a:ext cx="66675" cy="400050"/>
          </a:xfrm>
          <a:prstGeom prst="rect">
            <a:avLst/>
          </a:prstGeom>
          <a:solidFill>
            <a:srgbClr val="7B61A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oint 4">
            <a:extLst>
              <a:ext uri="{FF2B5EF4-FFF2-40B4-BE49-F238E27FC236}">
                <a16:creationId xmlns:a16="http://schemas.microsoft.com/office/drawing/2014/main" id="{25D895A8-474C-4440-B3B6-6EF2323D03C0}"/>
              </a:ext>
            </a:extLst>
          </p:cNvPr>
          <p:cNvSpPr>
            <a:spLocks noGrp="1"/>
          </p:cNvSpPr>
          <p:nvPr/>
        </p:nvSpPr>
        <p:spPr>
          <a:xfrm>
            <a:off x="1104900" y="4914900"/>
            <a:ext cx="101536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A33"/>
                </a:solidFill>
                <a:latin typeface="Arial"/>
                <a:ea typeface="Arial"/>
                <a:cs typeface="Arial"/>
              </a:rPr>
              <a:t>INFO: các thuộc tính bổ sung, ví dụ DP là depth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F4132730-297F-43CB-9D61-ED8D5335DA39}"/>
              </a:ext>
            </a:extLst>
          </p:cNvPr>
          <p:cNvSpPr>
            <a:spLocks noGrp="1"/>
          </p:cNvSpPr>
          <p:nvPr/>
        </p:nvSpPr>
        <p:spPr>
          <a:xfrm>
            <a:off x="876300" y="58102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Đặc tả: samtools.github.io/hts-specs/VCFv4.5.pdf</a:t>
            </a:r>
          </a:p>
        </p:txBody>
      </p:sp>
    </p:spTree>
    <p:extLst>
      <p:ext uri="{BB962C8B-B14F-4D97-AF65-F5344CB8AC3E}">
        <p14:creationId xmlns:p14="http://schemas.microsoft.com/office/powerpoint/2010/main" val="1206078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C1717E5-0F06-4BF1-9667-DAAEF849DE47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lang="vi-VN"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Tóm tắt định dạng file chính</a:t>
            </a:r>
            <a:endParaRPr sz="2550" b="1" dirty="0">
              <a:solidFill>
                <a:srgbClr val="0F84A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7F6BD429-6403-408F-889D-C4486A2737A3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8" name="Table 7"/>
          <p:cNvGraphicFramePr/>
          <p:nvPr/>
        </p:nvGraphicFramePr>
        <p:xfrm>
          <a:off x="876300" y="1381125"/>
          <a:ext cx="10287000" cy="39052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0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Định dạng</a:t>
                      </a:r>
                    </a:p>
                  </a:txBody>
                  <a:tcPr>
                    <a:solidFill>
                      <a:srgbClr val="0F84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Nội dung chính</a:t>
                      </a:r>
                    </a:p>
                  </a:txBody>
                  <a:tcPr>
                    <a:solidFill>
                      <a:srgbClr val="0F84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Phần mở rộng thường gặp</a:t>
                      </a:r>
                    </a:p>
                  </a:txBody>
                  <a:tcPr>
                    <a:solidFill>
                      <a:srgbClr val="0F8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02A33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FASTA</a:t>
                      </a:r>
                    </a:p>
                  </a:txBody>
                  <a:tcPr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3"/>
                          </a:solidFill>
                          <a:latin typeface="Arial"/>
                          <a:ea typeface="Arial"/>
                          <a:cs typeface="Arial"/>
                        </a:rPr>
                        <a:t>Reference hoặc sequence</a:t>
                      </a:r>
                    </a:p>
                  </a:txBody>
                  <a:tcPr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3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.fa, .fasta, .fa.gz</a:t>
                      </a:r>
                    </a:p>
                  </a:txBody>
                  <a:tcPr>
                    <a:solidFill>
                      <a:srgbClr val="EA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02A33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FASTQ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3"/>
                          </a:solidFill>
                          <a:latin typeface="Arial"/>
                          <a:ea typeface="Arial"/>
                          <a:cs typeface="Arial"/>
                        </a:rPr>
                        <a:t>Read và base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3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.fastq, .fastq.gz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02A33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SAM/BAM</a:t>
                      </a:r>
                    </a:p>
                  </a:txBody>
                  <a:tcPr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3"/>
                          </a:solidFill>
                          <a:latin typeface="Arial"/>
                          <a:ea typeface="Arial"/>
                          <a:cs typeface="Arial"/>
                        </a:rPr>
                        <a:t>Alignment của read</a:t>
                      </a:r>
                    </a:p>
                  </a:txBody>
                  <a:tcPr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3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.sam, .bam (+ .bai)</a:t>
                      </a:r>
                    </a:p>
                  </a:txBody>
                  <a:tcPr>
                    <a:solidFill>
                      <a:srgbClr val="EA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02A33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VCF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3"/>
                          </a:solidFill>
                          <a:latin typeface="Arial"/>
                          <a:ea typeface="Arial"/>
                          <a:cs typeface="Arial"/>
                        </a:rPr>
                        <a:t>Variant calls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3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.vcf, .vcf.gz (+ .tbi)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02A33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BED</a:t>
                      </a:r>
                    </a:p>
                  </a:txBody>
                  <a:tcPr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3"/>
                          </a:solidFill>
                          <a:latin typeface="Arial"/>
                          <a:ea typeface="Arial"/>
                          <a:cs typeface="Arial"/>
                        </a:rPr>
                        <a:t>Khoảng tọa độ trên genome</a:t>
                      </a:r>
                    </a:p>
                  </a:txBody>
                  <a:tcPr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3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.bed</a:t>
                      </a:r>
                    </a:p>
                  </a:txBody>
                  <a:tcPr>
                    <a:solidFill>
                      <a:srgbClr val="EA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63061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5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 kicker">
            <a:extLst>
              <a:ext uri="{FF2B5EF4-FFF2-40B4-BE49-F238E27FC236}">
                <a16:creationId xmlns:a16="http://schemas.microsoft.com/office/drawing/2014/main" id="{4C723457-2ABC-4195-B120-E3FA183051FD}"/>
              </a:ext>
            </a:extLst>
          </p:cNvPr>
          <p:cNvSpPr>
            <a:spLocks noGrp="1"/>
          </p:cNvSpPr>
          <p:nvPr/>
        </p:nvSpPr>
        <p:spPr>
          <a:xfrm>
            <a:off x="876300" y="176212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8FD5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5E8"/>
                </a:solidFill>
                <a:latin typeface="Arial"/>
                <a:ea typeface="Arial"/>
                <a:cs typeface="Arial"/>
              </a:rPr>
              <a:t>PHẦN 2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C21A4DC8-EBDE-4567-BA91-0F67CC3348B5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9620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Thực hành: command line và môi trường làm việc</a:t>
            </a:r>
          </a:p>
        </p:txBody>
      </p:sp>
      <p:sp>
        <p:nvSpPr>
          <p:cNvPr id="3" name="Section accent">
            <a:extLst>
              <a:ext uri="{FF2B5EF4-FFF2-40B4-BE49-F238E27FC236}">
                <a16:creationId xmlns:a16="http://schemas.microsoft.com/office/drawing/2014/main" id="{A301D467-7202-44C3-9E95-A47398F81BB5}"/>
              </a:ext>
            </a:extLst>
          </p:cNvPr>
          <p:cNvSpPr>
            <a:spLocks noGrp="1"/>
          </p:cNvSpPr>
          <p:nvPr/>
        </p:nvSpPr>
        <p:spPr>
          <a:xfrm>
            <a:off x="876300" y="3810000"/>
            <a:ext cx="2286000" cy="952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78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0E5A15E2-AB28-4337-87FE-6951D34A6045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84AA"/>
                </a:solidFill>
                <a:latin typeface="Arial"/>
                <a:ea typeface="Arial"/>
                <a:cs typeface="Arial"/>
              </a:rPr>
              <a:t>Thực hành: điều hướng và quản lý thư mục</a:t>
            </a: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CA449EB0-270F-4E2A-A3A1-311B4C63B1F7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Code block">
            <a:extLst>
              <a:ext uri="{FF2B5EF4-FFF2-40B4-BE49-F238E27FC236}">
                <a16:creationId xmlns:a16="http://schemas.microsoft.com/office/drawing/2014/main" id="{C66AE2A2-3A55-43B3-9824-E7815119BEC2}"/>
              </a:ext>
            </a:extLst>
          </p:cNvPr>
          <p:cNvSpPr>
            <a:spLocks noGrp="1"/>
          </p:cNvSpPr>
          <p:nvPr/>
        </p:nvSpPr>
        <p:spPr>
          <a:xfrm>
            <a:off x="876300" y="1285875"/>
            <a:ext cx="4762500" cy="3905250"/>
          </a:xfrm>
          <a:prstGeom prst="roundRect">
            <a:avLst>
              <a:gd name="adj" fmla="val 1951"/>
            </a:avLst>
          </a:prstGeom>
          <a:solidFill>
            <a:srgbClr val="F4F7F8"/>
          </a:solidFill>
          <a:ln w="9525">
            <a:solidFill>
              <a:srgbClr val="B8CDD5"/>
            </a:solidFill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pwd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ls -lh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cd 01_fastq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cd ..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mkdir results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cp file1.txt results/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mv old.txt new.txt</a:t>
            </a:r>
          </a:p>
        </p:txBody>
      </p:sp>
      <p:sp>
        <p:nvSpPr>
          <p:cNvPr id="4" name="Accent 1">
            <a:extLst>
              <a:ext uri="{FF2B5EF4-FFF2-40B4-BE49-F238E27FC236}">
                <a16:creationId xmlns:a16="http://schemas.microsoft.com/office/drawing/2014/main" id="{4007F669-E279-48B7-BDA1-7F0217E285A5}"/>
              </a:ext>
            </a:extLst>
          </p:cNvPr>
          <p:cNvSpPr>
            <a:spLocks noGrp="1"/>
          </p:cNvSpPr>
          <p:nvPr/>
        </p:nvSpPr>
        <p:spPr>
          <a:xfrm>
            <a:off x="6096000" y="1371600"/>
            <a:ext cx="66675" cy="523875"/>
          </a:xfrm>
          <a:prstGeom prst="rect">
            <a:avLst/>
          </a:prstGeom>
          <a:solidFill>
            <a:srgbClr val="0F84A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Point 1">
            <a:extLst>
              <a:ext uri="{FF2B5EF4-FFF2-40B4-BE49-F238E27FC236}">
                <a16:creationId xmlns:a16="http://schemas.microsoft.com/office/drawing/2014/main" id="{3DF7C150-946C-47D5-A799-14FD9155FAD6}"/>
              </a:ext>
            </a:extLst>
          </p:cNvPr>
          <p:cNvSpPr>
            <a:spLocks noGrp="1"/>
          </p:cNvSpPr>
          <p:nvPr/>
        </p:nvSpPr>
        <p:spPr>
          <a:xfrm>
            <a:off x="6324600" y="1333500"/>
            <a:ext cx="4819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A33"/>
                </a:solidFill>
                <a:latin typeface="Arial"/>
                <a:ea typeface="Arial"/>
                <a:cs typeface="Arial"/>
              </a:rPr>
              <a:t>pwd — in đường dẫn thư mục hiện tại</a:t>
            </a:r>
          </a:p>
        </p:txBody>
      </p:sp>
      <p:sp>
        <p:nvSpPr>
          <p:cNvPr id="6" name="Accent 2">
            <a:extLst>
              <a:ext uri="{FF2B5EF4-FFF2-40B4-BE49-F238E27FC236}">
                <a16:creationId xmlns:a16="http://schemas.microsoft.com/office/drawing/2014/main" id="{806268AD-90F8-4C29-8388-B644D41ED1D0}"/>
              </a:ext>
            </a:extLst>
          </p:cNvPr>
          <p:cNvSpPr>
            <a:spLocks noGrp="1"/>
          </p:cNvSpPr>
          <p:nvPr/>
        </p:nvSpPr>
        <p:spPr>
          <a:xfrm>
            <a:off x="6096000" y="2085975"/>
            <a:ext cx="66675" cy="523875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Point 2">
            <a:extLst>
              <a:ext uri="{FF2B5EF4-FFF2-40B4-BE49-F238E27FC236}">
                <a16:creationId xmlns:a16="http://schemas.microsoft.com/office/drawing/2014/main" id="{FC6D2B89-5559-40E4-A4F4-86B454E5BF9C}"/>
              </a:ext>
            </a:extLst>
          </p:cNvPr>
          <p:cNvSpPr>
            <a:spLocks noGrp="1"/>
          </p:cNvSpPr>
          <p:nvPr/>
        </p:nvSpPr>
        <p:spPr>
          <a:xfrm>
            <a:off x="6324600" y="2047875"/>
            <a:ext cx="4819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A33"/>
                </a:solidFill>
                <a:latin typeface="Arial"/>
                <a:ea typeface="Arial"/>
                <a:cs typeface="Arial"/>
              </a:rPr>
              <a:t>ls -lh — -l: chi tiết; -h: kích thước dễ đọc</a:t>
            </a:r>
          </a:p>
        </p:txBody>
      </p:sp>
      <p:sp>
        <p:nvSpPr>
          <p:cNvPr id="8" name="Accent 3">
            <a:extLst>
              <a:ext uri="{FF2B5EF4-FFF2-40B4-BE49-F238E27FC236}">
                <a16:creationId xmlns:a16="http://schemas.microsoft.com/office/drawing/2014/main" id="{D8FD7FCC-BF70-4247-9CCA-E8CB595FC288}"/>
              </a:ext>
            </a:extLst>
          </p:cNvPr>
          <p:cNvSpPr>
            <a:spLocks noGrp="1"/>
          </p:cNvSpPr>
          <p:nvPr/>
        </p:nvSpPr>
        <p:spPr>
          <a:xfrm>
            <a:off x="6096000" y="2800350"/>
            <a:ext cx="66675" cy="523875"/>
          </a:xfrm>
          <a:prstGeom prst="rect">
            <a:avLst/>
          </a:prstGeom>
          <a:solidFill>
            <a:srgbClr val="2E8B7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Point 3">
            <a:extLst>
              <a:ext uri="{FF2B5EF4-FFF2-40B4-BE49-F238E27FC236}">
                <a16:creationId xmlns:a16="http://schemas.microsoft.com/office/drawing/2014/main" id="{CA10E85C-FCF4-4E5E-B7B8-3D8775F9EC4E}"/>
              </a:ext>
            </a:extLst>
          </p:cNvPr>
          <p:cNvSpPr>
            <a:spLocks noGrp="1"/>
          </p:cNvSpPr>
          <p:nvPr/>
        </p:nvSpPr>
        <p:spPr>
          <a:xfrm>
            <a:off x="6324600" y="2762250"/>
            <a:ext cx="4819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A33"/>
                </a:solidFill>
                <a:latin typeface="Arial"/>
                <a:ea typeface="Arial"/>
                <a:cs typeface="Arial"/>
              </a:rPr>
              <a:t>cd — chuyển thư mục; .. là thư mục cha</a:t>
            </a:r>
          </a:p>
        </p:txBody>
      </p:sp>
      <p:sp>
        <p:nvSpPr>
          <p:cNvPr id="10" name="Accent 4">
            <a:extLst>
              <a:ext uri="{FF2B5EF4-FFF2-40B4-BE49-F238E27FC236}">
                <a16:creationId xmlns:a16="http://schemas.microsoft.com/office/drawing/2014/main" id="{DFD2C72E-6508-43AF-BDA3-638CDE518D1E}"/>
              </a:ext>
            </a:extLst>
          </p:cNvPr>
          <p:cNvSpPr>
            <a:spLocks noGrp="1"/>
          </p:cNvSpPr>
          <p:nvPr/>
        </p:nvSpPr>
        <p:spPr>
          <a:xfrm>
            <a:off x="6096000" y="3514725"/>
            <a:ext cx="66675" cy="523875"/>
          </a:xfrm>
          <a:prstGeom prst="rect">
            <a:avLst/>
          </a:prstGeom>
          <a:solidFill>
            <a:srgbClr val="7B61A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oint 4">
            <a:extLst>
              <a:ext uri="{FF2B5EF4-FFF2-40B4-BE49-F238E27FC236}">
                <a16:creationId xmlns:a16="http://schemas.microsoft.com/office/drawing/2014/main" id="{DE5F0DF9-3268-40C1-B823-C5915AD3CAED}"/>
              </a:ext>
            </a:extLst>
          </p:cNvPr>
          <p:cNvSpPr>
            <a:spLocks noGrp="1"/>
          </p:cNvSpPr>
          <p:nvPr/>
        </p:nvSpPr>
        <p:spPr>
          <a:xfrm>
            <a:off x="6324600" y="3476625"/>
            <a:ext cx="4819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A33"/>
                </a:solidFill>
                <a:latin typeface="Arial"/>
                <a:ea typeface="Arial"/>
                <a:cs typeface="Arial"/>
              </a:rPr>
              <a:t>mkdir — tạo thư mục mới</a:t>
            </a:r>
          </a:p>
        </p:txBody>
      </p:sp>
      <p:sp>
        <p:nvSpPr>
          <p:cNvPr id="12" name="Accent 5">
            <a:extLst>
              <a:ext uri="{FF2B5EF4-FFF2-40B4-BE49-F238E27FC236}">
                <a16:creationId xmlns:a16="http://schemas.microsoft.com/office/drawing/2014/main" id="{7063D729-7488-475C-8C7B-D697F2FA3A39}"/>
              </a:ext>
            </a:extLst>
          </p:cNvPr>
          <p:cNvSpPr>
            <a:spLocks noGrp="1"/>
          </p:cNvSpPr>
          <p:nvPr/>
        </p:nvSpPr>
        <p:spPr>
          <a:xfrm>
            <a:off x="6096000" y="4229100"/>
            <a:ext cx="66675" cy="523875"/>
          </a:xfrm>
          <a:prstGeom prst="rect">
            <a:avLst/>
          </a:prstGeom>
          <a:solidFill>
            <a:srgbClr val="D49A2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oint 5">
            <a:extLst>
              <a:ext uri="{FF2B5EF4-FFF2-40B4-BE49-F238E27FC236}">
                <a16:creationId xmlns:a16="http://schemas.microsoft.com/office/drawing/2014/main" id="{34B84E41-E5CE-4AF4-BEA9-F91196306783}"/>
              </a:ext>
            </a:extLst>
          </p:cNvPr>
          <p:cNvSpPr>
            <a:spLocks noGrp="1"/>
          </p:cNvSpPr>
          <p:nvPr/>
        </p:nvSpPr>
        <p:spPr>
          <a:xfrm>
            <a:off x="6324600" y="4191000"/>
            <a:ext cx="4819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A33"/>
                </a:solidFill>
                <a:latin typeface="Arial"/>
                <a:ea typeface="Arial"/>
                <a:cs typeface="Arial"/>
              </a:rPr>
              <a:t>cp — sao chép; mv — di chuyển hoặc đổi tên</a:t>
            </a:r>
          </a:p>
        </p:txBody>
      </p:sp>
      <p:sp>
        <p:nvSpPr>
          <p:cNvPr id="14" name="Warning">
            <a:extLst>
              <a:ext uri="{FF2B5EF4-FFF2-40B4-BE49-F238E27FC236}">
                <a16:creationId xmlns:a16="http://schemas.microsoft.com/office/drawing/2014/main" id="{87E5CD95-9070-4E4E-BC85-275DF3B58DDA}"/>
              </a:ext>
            </a:extLst>
          </p:cNvPr>
          <p:cNvSpPr>
            <a:spLocks noGrp="1"/>
          </p:cNvSpPr>
          <p:nvPr/>
        </p:nvSpPr>
        <p:spPr>
          <a:xfrm>
            <a:off x="876300" y="5524500"/>
            <a:ext cx="10287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97132"/>
                </a:solidFill>
                <a:latin typeface="Arial"/>
                <a:ea typeface="Arial"/>
                <a:cs typeface="Arial"/>
              </a:rPr>
              <a:t>Cẩn thận với rm: file bị xóa trong terminal thường không vào Recycle Bin/Trash.</a:t>
            </a:r>
          </a:p>
        </p:txBody>
      </p:sp>
    </p:spTree>
    <p:extLst>
      <p:ext uri="{BB962C8B-B14F-4D97-AF65-F5344CB8AC3E}">
        <p14:creationId xmlns:p14="http://schemas.microsoft.com/office/powerpoint/2010/main" val="19397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B61B4C7B-367E-458A-935C-0AD588100919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84AA"/>
                </a:solidFill>
                <a:latin typeface="Arial"/>
                <a:ea typeface="Arial"/>
                <a:cs typeface="Arial"/>
              </a:rPr>
              <a:t>Thực hành: xem nội dung file</a:t>
            </a: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7F0DE6BB-5F48-49AC-82F9-F259FA9068D3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Code block">
            <a:extLst>
              <a:ext uri="{FF2B5EF4-FFF2-40B4-BE49-F238E27FC236}">
                <a16:creationId xmlns:a16="http://schemas.microsoft.com/office/drawing/2014/main" id="{64268655-37CC-4072-918E-C45B7342832E}"/>
              </a:ext>
            </a:extLst>
          </p:cNvPr>
          <p:cNvSpPr>
            <a:spLocks noGrp="1"/>
          </p:cNvSpPr>
          <p:nvPr/>
        </p:nvSpPr>
        <p:spPr>
          <a:xfrm>
            <a:off x="876300" y="1285875"/>
            <a:ext cx="5905500" cy="3429000"/>
          </a:xfrm>
          <a:prstGeom prst="roundRect">
            <a:avLst>
              <a:gd name="adj" fmla="val 2222"/>
            </a:avLst>
          </a:prstGeom>
          <a:solidFill>
            <a:srgbClr val="F4F7F8"/>
          </a:solidFill>
          <a:ln w="9525">
            <a:solidFill>
              <a:srgbClr val="B8CDD5"/>
            </a:solidFill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35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head -n 8 01_fastq/demo.fastq</a:t>
            </a:r>
          </a:p>
          <a:p>
            <a:pPr>
              <a:buNone/>
              <a:defRPr sz="1350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35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less 02_reference/demo.fa</a:t>
            </a:r>
          </a:p>
          <a:p>
            <a:pPr>
              <a:buNone/>
              <a:defRPr sz="1350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35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wc -l 05_bed/regions.bed</a:t>
            </a:r>
          </a:p>
          <a:p>
            <a:pPr>
              <a:buNone/>
              <a:defRPr sz="1350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35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grep '^&gt;' 02_reference/demo.fa</a:t>
            </a:r>
          </a:p>
          <a:p>
            <a:pPr>
              <a:buNone/>
              <a:defRPr sz="1350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35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zcat 01_fastq/demo.fastq.gz | head</a:t>
            </a:r>
          </a:p>
        </p:txBody>
      </p:sp>
      <p:sp>
        <p:nvSpPr>
          <p:cNvPr id="4" name="Accent 1">
            <a:extLst>
              <a:ext uri="{FF2B5EF4-FFF2-40B4-BE49-F238E27FC236}">
                <a16:creationId xmlns:a16="http://schemas.microsoft.com/office/drawing/2014/main" id="{017B40D0-F60A-498D-82DD-66320D22AD10}"/>
              </a:ext>
            </a:extLst>
          </p:cNvPr>
          <p:cNvSpPr>
            <a:spLocks noGrp="1"/>
          </p:cNvSpPr>
          <p:nvPr/>
        </p:nvSpPr>
        <p:spPr>
          <a:xfrm>
            <a:off x="7191375" y="1371600"/>
            <a:ext cx="66675" cy="457200"/>
          </a:xfrm>
          <a:prstGeom prst="rect">
            <a:avLst/>
          </a:prstGeom>
          <a:solidFill>
            <a:srgbClr val="0F84A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Point 1">
            <a:extLst>
              <a:ext uri="{FF2B5EF4-FFF2-40B4-BE49-F238E27FC236}">
                <a16:creationId xmlns:a16="http://schemas.microsoft.com/office/drawing/2014/main" id="{09E747A9-E77C-4F06-807D-D4D40389D2E9}"/>
              </a:ext>
            </a:extLst>
          </p:cNvPr>
          <p:cNvSpPr>
            <a:spLocks noGrp="1"/>
          </p:cNvSpPr>
          <p:nvPr/>
        </p:nvSpPr>
        <p:spPr>
          <a:xfrm>
            <a:off x="7419975" y="1333500"/>
            <a:ext cx="38671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A33"/>
                </a:solidFill>
                <a:latin typeface="Arial"/>
                <a:ea typeface="Arial"/>
                <a:cs typeface="Arial"/>
              </a:rPr>
              <a:t>-n 8: chỉ in 8 dòng đầu</a:t>
            </a:r>
          </a:p>
        </p:txBody>
      </p:sp>
      <p:sp>
        <p:nvSpPr>
          <p:cNvPr id="6" name="Accent 2">
            <a:extLst>
              <a:ext uri="{FF2B5EF4-FFF2-40B4-BE49-F238E27FC236}">
                <a16:creationId xmlns:a16="http://schemas.microsoft.com/office/drawing/2014/main" id="{30A953D9-9AAE-418E-A0DD-691980939EDA}"/>
              </a:ext>
            </a:extLst>
          </p:cNvPr>
          <p:cNvSpPr>
            <a:spLocks noGrp="1"/>
          </p:cNvSpPr>
          <p:nvPr/>
        </p:nvSpPr>
        <p:spPr>
          <a:xfrm>
            <a:off x="7191375" y="2019300"/>
            <a:ext cx="66675" cy="45720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Point 2">
            <a:extLst>
              <a:ext uri="{FF2B5EF4-FFF2-40B4-BE49-F238E27FC236}">
                <a16:creationId xmlns:a16="http://schemas.microsoft.com/office/drawing/2014/main" id="{AD779F45-1440-4927-85AA-02A08675AC65}"/>
              </a:ext>
            </a:extLst>
          </p:cNvPr>
          <p:cNvSpPr>
            <a:spLocks noGrp="1"/>
          </p:cNvSpPr>
          <p:nvPr/>
        </p:nvSpPr>
        <p:spPr>
          <a:xfrm>
            <a:off x="7419975" y="1981200"/>
            <a:ext cx="38671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A33"/>
                </a:solidFill>
                <a:latin typeface="Arial"/>
                <a:ea typeface="Arial"/>
                <a:cs typeface="Arial"/>
              </a:rPr>
              <a:t>less: xem file dài; nhấn q để thoát</a:t>
            </a:r>
          </a:p>
        </p:txBody>
      </p:sp>
      <p:sp>
        <p:nvSpPr>
          <p:cNvPr id="8" name="Accent 3">
            <a:extLst>
              <a:ext uri="{FF2B5EF4-FFF2-40B4-BE49-F238E27FC236}">
                <a16:creationId xmlns:a16="http://schemas.microsoft.com/office/drawing/2014/main" id="{7A61223E-DFCC-48F2-B96A-7C184BBFA436}"/>
              </a:ext>
            </a:extLst>
          </p:cNvPr>
          <p:cNvSpPr>
            <a:spLocks noGrp="1"/>
          </p:cNvSpPr>
          <p:nvPr/>
        </p:nvSpPr>
        <p:spPr>
          <a:xfrm>
            <a:off x="7191375" y="2667000"/>
            <a:ext cx="66675" cy="457200"/>
          </a:xfrm>
          <a:prstGeom prst="rect">
            <a:avLst/>
          </a:prstGeom>
          <a:solidFill>
            <a:srgbClr val="2E8B7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Point 3">
            <a:extLst>
              <a:ext uri="{FF2B5EF4-FFF2-40B4-BE49-F238E27FC236}">
                <a16:creationId xmlns:a16="http://schemas.microsoft.com/office/drawing/2014/main" id="{9B0937AD-BD51-4A7A-AE39-30EE27AC292C}"/>
              </a:ext>
            </a:extLst>
          </p:cNvPr>
          <p:cNvSpPr>
            <a:spLocks noGrp="1"/>
          </p:cNvSpPr>
          <p:nvPr/>
        </p:nvSpPr>
        <p:spPr>
          <a:xfrm>
            <a:off x="7419975" y="2628900"/>
            <a:ext cx="38671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A33"/>
                </a:solidFill>
                <a:latin typeface="Arial"/>
                <a:ea typeface="Arial"/>
                <a:cs typeface="Arial"/>
              </a:rPr>
              <a:t>wc -l: đếm số dòng</a:t>
            </a:r>
          </a:p>
        </p:txBody>
      </p:sp>
      <p:sp>
        <p:nvSpPr>
          <p:cNvPr id="10" name="Accent 4">
            <a:extLst>
              <a:ext uri="{FF2B5EF4-FFF2-40B4-BE49-F238E27FC236}">
                <a16:creationId xmlns:a16="http://schemas.microsoft.com/office/drawing/2014/main" id="{D2C7FC76-1AA8-4F70-993E-CD9BFC516919}"/>
              </a:ext>
            </a:extLst>
          </p:cNvPr>
          <p:cNvSpPr>
            <a:spLocks noGrp="1"/>
          </p:cNvSpPr>
          <p:nvPr/>
        </p:nvSpPr>
        <p:spPr>
          <a:xfrm>
            <a:off x="7191375" y="3314700"/>
            <a:ext cx="66675" cy="457200"/>
          </a:xfrm>
          <a:prstGeom prst="rect">
            <a:avLst/>
          </a:prstGeom>
          <a:solidFill>
            <a:srgbClr val="7B61A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oint 4">
            <a:extLst>
              <a:ext uri="{FF2B5EF4-FFF2-40B4-BE49-F238E27FC236}">
                <a16:creationId xmlns:a16="http://schemas.microsoft.com/office/drawing/2014/main" id="{344FAFC2-9A10-45FC-82B2-9802EEEE957E}"/>
              </a:ext>
            </a:extLst>
          </p:cNvPr>
          <p:cNvSpPr>
            <a:spLocks noGrp="1"/>
          </p:cNvSpPr>
          <p:nvPr/>
        </p:nvSpPr>
        <p:spPr>
          <a:xfrm>
            <a:off x="7419975" y="3276600"/>
            <a:ext cx="38671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A33"/>
                </a:solidFill>
                <a:latin typeface="Arial"/>
                <a:ea typeface="Arial"/>
                <a:cs typeface="Arial"/>
              </a:rPr>
              <a:t>grep '^&gt;': tìm các header FASTA</a:t>
            </a:r>
          </a:p>
        </p:txBody>
      </p:sp>
      <p:sp>
        <p:nvSpPr>
          <p:cNvPr id="12" name="Accent 5">
            <a:extLst>
              <a:ext uri="{FF2B5EF4-FFF2-40B4-BE49-F238E27FC236}">
                <a16:creationId xmlns:a16="http://schemas.microsoft.com/office/drawing/2014/main" id="{F22CB2C9-5016-4EBB-B105-13D804C9A90E}"/>
              </a:ext>
            </a:extLst>
          </p:cNvPr>
          <p:cNvSpPr>
            <a:spLocks noGrp="1"/>
          </p:cNvSpPr>
          <p:nvPr/>
        </p:nvSpPr>
        <p:spPr>
          <a:xfrm>
            <a:off x="7191375" y="3962400"/>
            <a:ext cx="66675" cy="457200"/>
          </a:xfrm>
          <a:prstGeom prst="rect">
            <a:avLst/>
          </a:prstGeom>
          <a:solidFill>
            <a:srgbClr val="D49A2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oint 5">
            <a:extLst>
              <a:ext uri="{FF2B5EF4-FFF2-40B4-BE49-F238E27FC236}">
                <a16:creationId xmlns:a16="http://schemas.microsoft.com/office/drawing/2014/main" id="{7ECCC5C4-C57D-4D50-B101-0A4045D3C54D}"/>
              </a:ext>
            </a:extLst>
          </p:cNvPr>
          <p:cNvSpPr>
            <a:spLocks noGrp="1"/>
          </p:cNvSpPr>
          <p:nvPr/>
        </p:nvSpPr>
        <p:spPr>
          <a:xfrm>
            <a:off x="7419975" y="3924300"/>
            <a:ext cx="38671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A33"/>
                </a:solidFill>
                <a:latin typeface="Arial"/>
                <a:ea typeface="Arial"/>
                <a:cs typeface="Arial"/>
              </a:rPr>
              <a:t>|: chuyển output của lệnh trái sang lệnh phải</a:t>
            </a:r>
          </a:p>
        </p:txBody>
      </p:sp>
      <p:sp>
        <p:nvSpPr>
          <p:cNvPr id="14" name="Gzip">
            <a:extLst>
              <a:ext uri="{FF2B5EF4-FFF2-40B4-BE49-F238E27FC236}">
                <a16:creationId xmlns:a16="http://schemas.microsoft.com/office/drawing/2014/main" id="{7B3B0985-3081-4DA6-B728-6116DC0DE84E}"/>
              </a:ext>
            </a:extLst>
          </p:cNvPr>
          <p:cNvSpPr>
            <a:spLocks noGrp="1"/>
          </p:cNvSpPr>
          <p:nvPr/>
        </p:nvSpPr>
        <p:spPr>
          <a:xfrm>
            <a:off x="876300" y="5143500"/>
            <a:ext cx="10287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84AA"/>
                </a:solidFill>
                <a:latin typeface="Arial"/>
                <a:ea typeface="Arial"/>
                <a:cs typeface="Arial"/>
              </a:rPr>
              <a:t>zcat đọc file .gz mà không cần giải nén ra đĩa.</a:t>
            </a:r>
          </a:p>
        </p:txBody>
      </p:sp>
    </p:spTree>
    <p:extLst>
      <p:ext uri="{BB962C8B-B14F-4D97-AF65-F5344CB8AC3E}">
        <p14:creationId xmlns:p14="http://schemas.microsoft.com/office/powerpoint/2010/main" val="10844069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56CD32EF-A2AC-43FD-B78A-2F8B89A9D89B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Laptop, server </a:t>
            </a:r>
            <a:r>
              <a:rPr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và</a:t>
            </a:r>
            <a:r>
              <a:rPr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HPC</a:t>
            </a: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88201EEE-EFA6-4630-88E2-8F2FB2F14147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0104657C-595E-4A60-BA82-D07A9937CAFF}"/>
              </a:ext>
            </a:extLst>
          </p:cNvPr>
          <p:cNvSpPr>
            <a:spLocks noGrp="1"/>
          </p:cNvSpPr>
          <p:nvPr/>
        </p:nvSpPr>
        <p:spPr>
          <a:xfrm>
            <a:off x="2714625" y="2952750"/>
            <a:ext cx="1095375" cy="0"/>
          </a:xfrm>
          <a:prstGeom prst="line">
            <a:avLst/>
          </a:prstGeom>
          <a:ln w="28575">
            <a:solidFill>
              <a:srgbClr val="0F8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Arrow 2">
            <a:extLst>
              <a:ext uri="{FF2B5EF4-FFF2-40B4-BE49-F238E27FC236}">
                <a16:creationId xmlns:a16="http://schemas.microsoft.com/office/drawing/2014/main" id="{F0CF7B9B-6BBD-4F69-AE7B-67CB4886238B}"/>
              </a:ext>
            </a:extLst>
          </p:cNvPr>
          <p:cNvSpPr>
            <a:spLocks noGrp="1"/>
          </p:cNvSpPr>
          <p:nvPr/>
        </p:nvSpPr>
        <p:spPr>
          <a:xfrm>
            <a:off x="5524500" y="2952750"/>
            <a:ext cx="1095375" cy="0"/>
          </a:xfrm>
          <a:prstGeom prst="line">
            <a:avLst/>
          </a:prstGeom>
          <a:ln w="28575">
            <a:solidFill>
              <a:srgbClr val="0F8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Arrow 3">
            <a:extLst>
              <a:ext uri="{FF2B5EF4-FFF2-40B4-BE49-F238E27FC236}">
                <a16:creationId xmlns:a16="http://schemas.microsoft.com/office/drawing/2014/main" id="{88EEEF30-E1BA-4003-990A-A46B962D5687}"/>
              </a:ext>
            </a:extLst>
          </p:cNvPr>
          <p:cNvSpPr>
            <a:spLocks noGrp="1"/>
          </p:cNvSpPr>
          <p:nvPr/>
        </p:nvSpPr>
        <p:spPr>
          <a:xfrm>
            <a:off x="8334375" y="2952750"/>
            <a:ext cx="1095375" cy="0"/>
          </a:xfrm>
          <a:prstGeom prst="line">
            <a:avLst/>
          </a:prstGeom>
          <a:ln w="28575">
            <a:solidFill>
              <a:srgbClr val="0F8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Laptop">
            <a:extLst>
              <a:ext uri="{FF2B5EF4-FFF2-40B4-BE49-F238E27FC236}">
                <a16:creationId xmlns:a16="http://schemas.microsoft.com/office/drawing/2014/main" id="{4D22C3CF-DEE2-4EEB-8040-3EB45D7772FD}"/>
              </a:ext>
            </a:extLst>
          </p:cNvPr>
          <p:cNvSpPr>
            <a:spLocks noGrp="1"/>
          </p:cNvSpPr>
          <p:nvPr/>
        </p:nvSpPr>
        <p:spPr>
          <a:xfrm>
            <a:off x="1000125" y="2095500"/>
            <a:ext cx="2000250" cy="1809750"/>
          </a:xfrm>
          <a:prstGeom prst="roundRect">
            <a:avLst>
              <a:gd name="adj" fmla="val 4211"/>
            </a:avLst>
          </a:prstGeom>
          <a:solidFill>
            <a:srgbClr val="EAF5F8"/>
          </a:solidFill>
          <a:ln w="19050">
            <a:solidFill>
              <a:srgbClr val="0F84A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A33"/>
                </a:solidFill>
                <a:latin typeface="Arial"/>
                <a:ea typeface="Arial"/>
                <a:cs typeface="Arial"/>
              </a:rPr>
              <a:t>Laptop</a:t>
            </a:r>
          </a:p>
          <a:p>
            <a:endParaRPr sz="1350">
              <a:solidFill>
                <a:srgbClr val="202A33"/>
              </a:solidFill>
              <a:latin typeface="Arial"/>
              <a:ea typeface="Arial"/>
              <a:cs typeface="Arial"/>
            </a:endParaRPr>
          </a:p>
          <a:p>
            <a:pPr algn="ctr">
              <a:buNone/>
              <a:defRPr sz="135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A33"/>
                </a:solidFill>
                <a:latin typeface="Arial"/>
                <a:ea typeface="Arial"/>
                <a:cs typeface="Arial"/>
              </a:rPr>
              <a:t>Học lệnh, xem file nhỏ, IGV</a:t>
            </a:r>
          </a:p>
        </p:txBody>
      </p:sp>
      <p:sp>
        <p:nvSpPr>
          <p:cNvPr id="7" name="Login node">
            <a:extLst>
              <a:ext uri="{FF2B5EF4-FFF2-40B4-BE49-F238E27FC236}">
                <a16:creationId xmlns:a16="http://schemas.microsoft.com/office/drawing/2014/main" id="{199A2004-3525-47F8-AB82-6F2EB7CC2654}"/>
              </a:ext>
            </a:extLst>
          </p:cNvPr>
          <p:cNvSpPr>
            <a:spLocks noGrp="1"/>
          </p:cNvSpPr>
          <p:nvPr/>
        </p:nvSpPr>
        <p:spPr>
          <a:xfrm>
            <a:off x="3810000" y="2095500"/>
            <a:ext cx="2000250" cy="1809750"/>
          </a:xfrm>
          <a:prstGeom prst="roundRect">
            <a:avLst>
              <a:gd name="adj" fmla="val 4211"/>
            </a:avLst>
          </a:prstGeom>
          <a:solidFill>
            <a:srgbClr val="EAF5F8"/>
          </a:solidFill>
          <a:ln w="19050">
            <a:solidFill>
              <a:srgbClr val="0F84A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A33"/>
                </a:solidFill>
                <a:latin typeface="Arial"/>
                <a:ea typeface="Arial"/>
                <a:cs typeface="Arial"/>
              </a:rPr>
              <a:t>Login node</a:t>
            </a:r>
          </a:p>
          <a:p>
            <a:endParaRPr sz="1350">
              <a:solidFill>
                <a:srgbClr val="202A33"/>
              </a:solidFill>
              <a:latin typeface="Arial"/>
              <a:ea typeface="Arial"/>
              <a:cs typeface="Arial"/>
            </a:endParaRPr>
          </a:p>
          <a:p>
            <a:pPr algn="ctr">
              <a:buNone/>
              <a:defRPr sz="135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A33"/>
                </a:solidFill>
                <a:latin typeface="Arial"/>
                <a:ea typeface="Arial"/>
                <a:cs typeface="Arial"/>
              </a:rPr>
              <a:t>Đăng nhập, chuẩn bị và submit job</a:t>
            </a:r>
          </a:p>
        </p:txBody>
      </p:sp>
      <p:sp>
        <p:nvSpPr>
          <p:cNvPr id="8" name="Scheduler">
            <a:extLst>
              <a:ext uri="{FF2B5EF4-FFF2-40B4-BE49-F238E27FC236}">
                <a16:creationId xmlns:a16="http://schemas.microsoft.com/office/drawing/2014/main" id="{24DA759B-D43F-4B83-9FEB-BC79B6828E34}"/>
              </a:ext>
            </a:extLst>
          </p:cNvPr>
          <p:cNvSpPr>
            <a:spLocks noGrp="1"/>
          </p:cNvSpPr>
          <p:nvPr/>
        </p:nvSpPr>
        <p:spPr>
          <a:xfrm>
            <a:off x="6619875" y="2095500"/>
            <a:ext cx="2000250" cy="1809750"/>
          </a:xfrm>
          <a:prstGeom prst="roundRect">
            <a:avLst>
              <a:gd name="adj" fmla="val 4211"/>
            </a:avLst>
          </a:prstGeom>
          <a:solidFill>
            <a:srgbClr val="EAF5F8"/>
          </a:solidFill>
          <a:ln w="19050">
            <a:solidFill>
              <a:srgbClr val="0F84A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A33"/>
                </a:solidFill>
                <a:latin typeface="Arial"/>
                <a:ea typeface="Arial"/>
                <a:cs typeface="Arial"/>
              </a:rPr>
              <a:t>Scheduler</a:t>
            </a:r>
          </a:p>
          <a:p>
            <a:endParaRPr sz="1350">
              <a:solidFill>
                <a:srgbClr val="202A33"/>
              </a:solidFill>
              <a:latin typeface="Arial"/>
              <a:ea typeface="Arial"/>
              <a:cs typeface="Arial"/>
            </a:endParaRPr>
          </a:p>
          <a:p>
            <a:pPr algn="ctr">
              <a:buNone/>
              <a:defRPr sz="135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A33"/>
                </a:solidFill>
                <a:latin typeface="Arial"/>
                <a:ea typeface="Arial"/>
                <a:cs typeface="Arial"/>
              </a:rPr>
              <a:t>Cấp CPU, RAM và thời gian chạy</a:t>
            </a:r>
          </a:p>
        </p:txBody>
      </p:sp>
      <p:sp>
        <p:nvSpPr>
          <p:cNvPr id="9" name="Compute node">
            <a:extLst>
              <a:ext uri="{FF2B5EF4-FFF2-40B4-BE49-F238E27FC236}">
                <a16:creationId xmlns:a16="http://schemas.microsoft.com/office/drawing/2014/main" id="{85E5AB13-FD39-41F3-98BE-25287BF1EBE7}"/>
              </a:ext>
            </a:extLst>
          </p:cNvPr>
          <p:cNvSpPr>
            <a:spLocks noGrp="1"/>
          </p:cNvSpPr>
          <p:nvPr/>
        </p:nvSpPr>
        <p:spPr>
          <a:xfrm>
            <a:off x="9429750" y="2095500"/>
            <a:ext cx="2000250" cy="1809750"/>
          </a:xfrm>
          <a:prstGeom prst="roundRect">
            <a:avLst>
              <a:gd name="adj" fmla="val 4211"/>
            </a:avLst>
          </a:prstGeom>
          <a:solidFill>
            <a:srgbClr val="EAF5F8"/>
          </a:solidFill>
          <a:ln w="19050">
            <a:solidFill>
              <a:srgbClr val="0F84A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A33"/>
                </a:solidFill>
                <a:latin typeface="Arial"/>
                <a:ea typeface="Arial"/>
                <a:cs typeface="Arial"/>
              </a:rPr>
              <a:t>Compute node</a:t>
            </a:r>
          </a:p>
          <a:p>
            <a:endParaRPr sz="1350">
              <a:solidFill>
                <a:srgbClr val="202A33"/>
              </a:solidFill>
              <a:latin typeface="Arial"/>
              <a:ea typeface="Arial"/>
              <a:cs typeface="Arial"/>
            </a:endParaRPr>
          </a:p>
          <a:p>
            <a:pPr algn="ctr">
              <a:buNone/>
              <a:defRPr sz="135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A33"/>
                </a:solidFill>
                <a:latin typeface="Arial"/>
                <a:ea typeface="Arial"/>
                <a:cs typeface="Arial"/>
              </a:rPr>
              <a:t>Nơi job thực sự chạy</a:t>
            </a:r>
          </a:p>
        </p:txBody>
      </p:sp>
      <p:sp>
        <p:nvSpPr>
          <p:cNvPr id="10" name="Rule">
            <a:extLst>
              <a:ext uri="{FF2B5EF4-FFF2-40B4-BE49-F238E27FC236}">
                <a16:creationId xmlns:a16="http://schemas.microsoft.com/office/drawing/2014/main" id="{99683334-7E1E-4168-B881-DA9E169825E7}"/>
              </a:ext>
            </a:extLst>
          </p:cNvPr>
          <p:cNvSpPr>
            <a:spLocks noGrp="1"/>
          </p:cNvSpPr>
          <p:nvPr/>
        </p:nvSpPr>
        <p:spPr>
          <a:xfrm>
            <a:off x="876300" y="4762500"/>
            <a:ext cx="10287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725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97132"/>
                </a:solidFill>
                <a:latin typeface="Arial"/>
                <a:ea typeface="Arial"/>
                <a:cs typeface="Arial"/>
              </a:rPr>
              <a:t>Quy tắc quan trọng: không chạy phân tích nặng trực tiếp trên login node.</a:t>
            </a:r>
          </a:p>
        </p:txBody>
      </p:sp>
      <p:pic>
        <p:nvPicPr>
          <p:cNvPr id="2050" name="Picture 2" descr="Do you need high performance computing for your research? – Becker Medical  Library">
            <a:extLst>
              <a:ext uri="{FF2B5EF4-FFF2-40B4-BE49-F238E27FC236}">
                <a16:creationId xmlns:a16="http://schemas.microsoft.com/office/drawing/2014/main" id="{5AAFF632-5DE0-DDAD-FB3D-45A4743F0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106" y="1476375"/>
            <a:ext cx="7728541" cy="4821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3855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F8AB732D-F307-47FB-B7D8-DFE5467A71C0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Đăng</a:t>
            </a:r>
            <a:r>
              <a:rPr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</a:t>
            </a:r>
            <a:r>
              <a:rPr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nhập</a:t>
            </a:r>
            <a:r>
              <a:rPr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se</a:t>
            </a:r>
            <a:r>
              <a:rPr lang="en-US"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r</a:t>
            </a:r>
            <a:r>
              <a:rPr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ver </a:t>
            </a:r>
            <a:r>
              <a:rPr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bằng</a:t>
            </a:r>
            <a:r>
              <a:rPr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SSH</a:t>
            </a: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6094501C-7C8F-43A4-BAAB-0BF9F89AA4A6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Code block">
            <a:extLst>
              <a:ext uri="{FF2B5EF4-FFF2-40B4-BE49-F238E27FC236}">
                <a16:creationId xmlns:a16="http://schemas.microsoft.com/office/drawing/2014/main" id="{AC147C47-6984-4A2E-9CBE-384B1AE00C9A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10287000" cy="904875"/>
          </a:xfrm>
          <a:prstGeom prst="roundRect">
            <a:avLst>
              <a:gd name="adj" fmla="val 8421"/>
            </a:avLst>
          </a:prstGeom>
          <a:solidFill>
            <a:srgbClr val="F4F7F8"/>
          </a:solidFill>
          <a:ln w="9525">
            <a:solidFill>
              <a:srgbClr val="B8CDD5"/>
            </a:solidFill>
            <a:prstDash val="solid"/>
          </a:ln>
        </p:spPr>
        <p:txBody>
          <a:bodyPr/>
          <a:lstStyle/>
          <a:p>
            <a:pPr>
              <a:buNone/>
              <a:defRPr sz="1800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80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ssh &lt;username&gt;@&lt;server-address&gt;</a:t>
            </a:r>
          </a:p>
        </p:txBody>
      </p:sp>
      <p:sp>
        <p:nvSpPr>
          <p:cNvPr id="4" name="Accent 1">
            <a:extLst>
              <a:ext uri="{FF2B5EF4-FFF2-40B4-BE49-F238E27FC236}">
                <a16:creationId xmlns:a16="http://schemas.microsoft.com/office/drawing/2014/main" id="{AB8EC709-FE19-476D-B734-B618BEC145A9}"/>
              </a:ext>
            </a:extLst>
          </p:cNvPr>
          <p:cNvSpPr>
            <a:spLocks noGrp="1"/>
          </p:cNvSpPr>
          <p:nvPr/>
        </p:nvSpPr>
        <p:spPr>
          <a:xfrm>
            <a:off x="876300" y="2990850"/>
            <a:ext cx="66675" cy="447675"/>
          </a:xfrm>
          <a:prstGeom prst="rect">
            <a:avLst/>
          </a:prstGeom>
          <a:solidFill>
            <a:srgbClr val="0F84A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Point 1">
            <a:extLst>
              <a:ext uri="{FF2B5EF4-FFF2-40B4-BE49-F238E27FC236}">
                <a16:creationId xmlns:a16="http://schemas.microsoft.com/office/drawing/2014/main" id="{03496E9A-C8E5-4AC4-BED6-172CD8391DAB}"/>
              </a:ext>
            </a:extLst>
          </p:cNvPr>
          <p:cNvSpPr>
            <a:spLocks noGrp="1"/>
          </p:cNvSpPr>
          <p:nvPr/>
        </p:nvSpPr>
        <p:spPr>
          <a:xfrm>
            <a:off x="1104900" y="2952750"/>
            <a:ext cx="10153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2A33"/>
                </a:solidFill>
                <a:latin typeface="Arial"/>
                <a:ea typeface="Arial"/>
                <a:cs typeface="Arial"/>
              </a:rPr>
              <a:t>ssh — chương trình kết nối từ xa an toàn</a:t>
            </a:r>
          </a:p>
        </p:txBody>
      </p:sp>
      <p:sp>
        <p:nvSpPr>
          <p:cNvPr id="6" name="Accent 2">
            <a:extLst>
              <a:ext uri="{FF2B5EF4-FFF2-40B4-BE49-F238E27FC236}">
                <a16:creationId xmlns:a16="http://schemas.microsoft.com/office/drawing/2014/main" id="{B0BA96BE-2094-4928-948F-7BF8A6B7550A}"/>
              </a:ext>
            </a:extLst>
          </p:cNvPr>
          <p:cNvSpPr>
            <a:spLocks noGrp="1"/>
          </p:cNvSpPr>
          <p:nvPr/>
        </p:nvSpPr>
        <p:spPr>
          <a:xfrm>
            <a:off x="876300" y="3629025"/>
            <a:ext cx="66675" cy="447675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Point 2">
            <a:extLst>
              <a:ext uri="{FF2B5EF4-FFF2-40B4-BE49-F238E27FC236}">
                <a16:creationId xmlns:a16="http://schemas.microsoft.com/office/drawing/2014/main" id="{3CD4EDD8-2810-4A20-984B-45B2FC2AD45C}"/>
              </a:ext>
            </a:extLst>
          </p:cNvPr>
          <p:cNvSpPr>
            <a:spLocks noGrp="1"/>
          </p:cNvSpPr>
          <p:nvPr/>
        </p:nvSpPr>
        <p:spPr>
          <a:xfrm>
            <a:off x="1104900" y="3590925"/>
            <a:ext cx="10153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2A33"/>
                </a:solidFill>
                <a:latin typeface="Arial"/>
                <a:ea typeface="Arial"/>
                <a:cs typeface="Arial"/>
              </a:rPr>
              <a:t>&lt;username&gt; — tài khoản được cấp trên server</a:t>
            </a:r>
          </a:p>
        </p:txBody>
      </p:sp>
      <p:sp>
        <p:nvSpPr>
          <p:cNvPr id="8" name="Accent 3">
            <a:extLst>
              <a:ext uri="{FF2B5EF4-FFF2-40B4-BE49-F238E27FC236}">
                <a16:creationId xmlns:a16="http://schemas.microsoft.com/office/drawing/2014/main" id="{42B099D2-4C34-4FFA-9287-CFB977DD2EAE}"/>
              </a:ext>
            </a:extLst>
          </p:cNvPr>
          <p:cNvSpPr>
            <a:spLocks noGrp="1"/>
          </p:cNvSpPr>
          <p:nvPr/>
        </p:nvSpPr>
        <p:spPr>
          <a:xfrm>
            <a:off x="876300" y="4267200"/>
            <a:ext cx="66675" cy="447675"/>
          </a:xfrm>
          <a:prstGeom prst="rect">
            <a:avLst/>
          </a:prstGeom>
          <a:solidFill>
            <a:srgbClr val="2E8B7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Point 3">
            <a:extLst>
              <a:ext uri="{FF2B5EF4-FFF2-40B4-BE49-F238E27FC236}">
                <a16:creationId xmlns:a16="http://schemas.microsoft.com/office/drawing/2014/main" id="{4A56742E-F943-4D35-9F4B-01E56CB2DC56}"/>
              </a:ext>
            </a:extLst>
          </p:cNvPr>
          <p:cNvSpPr>
            <a:spLocks noGrp="1"/>
          </p:cNvSpPr>
          <p:nvPr/>
        </p:nvSpPr>
        <p:spPr>
          <a:xfrm>
            <a:off x="1104900" y="4229100"/>
            <a:ext cx="10153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2A33"/>
                </a:solidFill>
                <a:latin typeface="Arial"/>
                <a:ea typeface="Arial"/>
                <a:cs typeface="Arial"/>
              </a:rPr>
              <a:t>&lt;server-address&gt; — hostname hoặc địa chỉ IP</a:t>
            </a:r>
          </a:p>
        </p:txBody>
      </p:sp>
      <p:sp>
        <p:nvSpPr>
          <p:cNvPr id="10" name="Accent 4">
            <a:extLst>
              <a:ext uri="{FF2B5EF4-FFF2-40B4-BE49-F238E27FC236}">
                <a16:creationId xmlns:a16="http://schemas.microsoft.com/office/drawing/2014/main" id="{96FC7CB2-8792-4F3E-890E-A412EC149072}"/>
              </a:ext>
            </a:extLst>
          </p:cNvPr>
          <p:cNvSpPr>
            <a:spLocks noGrp="1"/>
          </p:cNvSpPr>
          <p:nvPr/>
        </p:nvSpPr>
        <p:spPr>
          <a:xfrm>
            <a:off x="876300" y="4905375"/>
            <a:ext cx="66675" cy="447675"/>
          </a:xfrm>
          <a:prstGeom prst="rect">
            <a:avLst/>
          </a:prstGeom>
          <a:solidFill>
            <a:srgbClr val="7B61A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oint 4">
            <a:extLst>
              <a:ext uri="{FF2B5EF4-FFF2-40B4-BE49-F238E27FC236}">
                <a16:creationId xmlns:a16="http://schemas.microsoft.com/office/drawing/2014/main" id="{03352817-748F-4205-B44A-6C4876B8371F}"/>
              </a:ext>
            </a:extLst>
          </p:cNvPr>
          <p:cNvSpPr>
            <a:spLocks noGrp="1"/>
          </p:cNvSpPr>
          <p:nvPr/>
        </p:nvSpPr>
        <p:spPr>
          <a:xfrm>
            <a:off x="1104900" y="4867275"/>
            <a:ext cx="10153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2A33"/>
                </a:solidFill>
                <a:latin typeface="Arial"/>
                <a:ea typeface="Arial"/>
                <a:cs typeface="Arial"/>
              </a:rPr>
              <a:t>Nhập password khi được hỏi; ký tự sẽ không hiện trên màn hình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FCC0C5-2F77-2BB3-2CD1-1B8A7397957F}"/>
              </a:ext>
            </a:extLst>
          </p:cNvPr>
          <p:cNvSpPr txBox="1"/>
          <p:nvPr/>
        </p:nvSpPr>
        <p:spPr>
          <a:xfrm>
            <a:off x="5781453" y="1553170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ssh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ont_bio@3.20.225.243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Password: ont2026</a:t>
            </a:r>
          </a:p>
        </p:txBody>
      </p:sp>
    </p:spTree>
    <p:extLst>
      <p:ext uri="{BB962C8B-B14F-4D97-AF65-F5344CB8AC3E}">
        <p14:creationId xmlns:p14="http://schemas.microsoft.com/office/powerpoint/2010/main" val="29864081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46038EF7-8053-487C-A8D5-43F2F85825AB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84AA"/>
                </a:solidFill>
                <a:latin typeface="Arial"/>
                <a:ea typeface="Arial"/>
                <a:cs typeface="Arial"/>
              </a:rPr>
              <a:t>Cài đặt FileZilla Client</a:t>
            </a: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B699BC42-C73A-4179-9426-6513C3EBD992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Windows label">
            <a:extLst>
              <a:ext uri="{FF2B5EF4-FFF2-40B4-BE49-F238E27FC236}">
                <a16:creationId xmlns:a16="http://schemas.microsoft.com/office/drawing/2014/main" id="{206A66D6-A896-4B60-96DB-BE3AE97FA1E7}"/>
              </a:ext>
            </a:extLst>
          </p:cNvPr>
          <p:cNvSpPr>
            <a:spLocks noGrp="1"/>
          </p:cNvSpPr>
          <p:nvPr/>
        </p:nvSpPr>
        <p:spPr>
          <a:xfrm>
            <a:off x="876300" y="1476375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725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84AA"/>
                </a:solidFill>
                <a:latin typeface="Arial"/>
                <a:ea typeface="Arial"/>
                <a:cs typeface="Arial"/>
              </a:rPr>
              <a:t>Windows</a:t>
            </a:r>
          </a:p>
        </p:txBody>
      </p:sp>
      <p:sp>
        <p:nvSpPr>
          <p:cNvPr id="4" name="Windows text">
            <a:extLst>
              <a:ext uri="{FF2B5EF4-FFF2-40B4-BE49-F238E27FC236}">
                <a16:creationId xmlns:a16="http://schemas.microsoft.com/office/drawing/2014/main" id="{29E97484-938A-47B6-888A-278E97BBA740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102870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0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Tải</a:t>
            </a:r>
            <a:r>
              <a:rPr sz="150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FileZilla Client </a:t>
            </a:r>
            <a:r>
              <a:rPr sz="150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từ</a:t>
            </a:r>
            <a:r>
              <a:rPr sz="150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trang</a:t>
            </a:r>
            <a:r>
              <a:rPr sz="150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chính</a:t>
            </a:r>
            <a:r>
              <a:rPr sz="150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thức</a:t>
            </a:r>
            <a:endParaRPr sz="1500" dirty="0">
              <a:solidFill>
                <a:srgbClr val="202A33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50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0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filezilla-project.org</a:t>
            </a:r>
            <a:r>
              <a:rPr sz="150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/</a:t>
            </a:r>
            <a:r>
              <a:rPr sz="1500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download.php?type</a:t>
            </a:r>
            <a:r>
              <a:rPr sz="1500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=client</a:t>
            </a:r>
          </a:p>
        </p:txBody>
      </p:sp>
      <p:sp>
        <p:nvSpPr>
          <p:cNvPr id="5" name="Mac label">
            <a:extLst>
              <a:ext uri="{FF2B5EF4-FFF2-40B4-BE49-F238E27FC236}">
                <a16:creationId xmlns:a16="http://schemas.microsoft.com/office/drawing/2014/main" id="{E08E9E48-A714-439A-BB43-0C164EC0E213}"/>
              </a:ext>
            </a:extLst>
          </p:cNvPr>
          <p:cNvSpPr>
            <a:spLocks noGrp="1"/>
          </p:cNvSpPr>
          <p:nvPr/>
        </p:nvSpPr>
        <p:spPr>
          <a:xfrm>
            <a:off x="876300" y="3000375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725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97132"/>
                </a:solidFill>
                <a:latin typeface="Arial"/>
                <a:ea typeface="Arial"/>
                <a:cs typeface="Arial"/>
              </a:rPr>
              <a:t>macOS (Homebrew)</a:t>
            </a:r>
          </a:p>
        </p:txBody>
      </p:sp>
      <p:sp>
        <p:nvSpPr>
          <p:cNvPr id="6" name="Code block">
            <a:extLst>
              <a:ext uri="{FF2B5EF4-FFF2-40B4-BE49-F238E27FC236}">
                <a16:creationId xmlns:a16="http://schemas.microsoft.com/office/drawing/2014/main" id="{EFD7B119-FD8B-43F7-A394-EBB2F03BBE95}"/>
              </a:ext>
            </a:extLst>
          </p:cNvPr>
          <p:cNvSpPr>
            <a:spLocks noGrp="1"/>
          </p:cNvSpPr>
          <p:nvPr/>
        </p:nvSpPr>
        <p:spPr>
          <a:xfrm>
            <a:off x="3714750" y="2857500"/>
            <a:ext cx="6667500" cy="714375"/>
          </a:xfrm>
          <a:prstGeom prst="roundRect">
            <a:avLst>
              <a:gd name="adj" fmla="val 10667"/>
            </a:avLst>
          </a:prstGeom>
          <a:solidFill>
            <a:srgbClr val="F4F7F8"/>
          </a:solidFill>
          <a:ln w="9525">
            <a:solidFill>
              <a:srgbClr val="B8CDD5"/>
            </a:solidFill>
            <a:prstDash val="solid"/>
          </a:ln>
        </p:spPr>
        <p:txBody>
          <a:bodyPr/>
          <a:lstStyle/>
          <a:p>
            <a:pPr>
              <a:buNone/>
              <a:defRPr sz="1500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0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brew install --cask filezilla</a:t>
            </a:r>
          </a:p>
        </p:txBody>
      </p:sp>
      <p:sp>
        <p:nvSpPr>
          <p:cNvPr id="7" name="Linux label">
            <a:extLst>
              <a:ext uri="{FF2B5EF4-FFF2-40B4-BE49-F238E27FC236}">
                <a16:creationId xmlns:a16="http://schemas.microsoft.com/office/drawing/2014/main" id="{5964E638-9659-4C84-9783-A523775AA901}"/>
              </a:ext>
            </a:extLst>
          </p:cNvPr>
          <p:cNvSpPr>
            <a:spLocks noGrp="1"/>
          </p:cNvSpPr>
          <p:nvPr/>
        </p:nvSpPr>
        <p:spPr>
          <a:xfrm>
            <a:off x="876300" y="409575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725" b="1">
                <a:solidFill>
                  <a:srgbClr val="2E8B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8B78"/>
                </a:solidFill>
                <a:latin typeface="Arial"/>
                <a:ea typeface="Arial"/>
                <a:cs typeface="Arial"/>
              </a:rPr>
              <a:t>Ubuntu / Debian</a:t>
            </a:r>
          </a:p>
        </p:txBody>
      </p:sp>
      <p:sp>
        <p:nvSpPr>
          <p:cNvPr id="8" name="Code block">
            <a:extLst>
              <a:ext uri="{FF2B5EF4-FFF2-40B4-BE49-F238E27FC236}">
                <a16:creationId xmlns:a16="http://schemas.microsoft.com/office/drawing/2014/main" id="{E61E5738-2D42-411A-B4FE-F5A44331DF2C}"/>
              </a:ext>
            </a:extLst>
          </p:cNvPr>
          <p:cNvSpPr>
            <a:spLocks noGrp="1"/>
          </p:cNvSpPr>
          <p:nvPr/>
        </p:nvSpPr>
        <p:spPr>
          <a:xfrm>
            <a:off x="3714750" y="3857625"/>
            <a:ext cx="6667500" cy="1047750"/>
          </a:xfrm>
          <a:prstGeom prst="roundRect">
            <a:avLst>
              <a:gd name="adj" fmla="val 7273"/>
            </a:avLst>
          </a:prstGeom>
          <a:solidFill>
            <a:srgbClr val="F4F7F8"/>
          </a:solidFill>
          <a:ln w="9525">
            <a:solidFill>
              <a:srgbClr val="B8CDD5"/>
            </a:solidFill>
            <a:prstDash val="solid"/>
          </a:ln>
        </p:spPr>
        <p:txBody>
          <a:bodyPr/>
          <a:lstStyle/>
          <a:p>
            <a:pPr>
              <a:buNone/>
              <a:defRPr sz="142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42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sudo</a:t>
            </a:r>
            <a:r>
              <a:rPr sz="142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apt update</a:t>
            </a:r>
          </a:p>
          <a:p>
            <a:pPr>
              <a:buNone/>
              <a:defRPr sz="142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42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sudo</a:t>
            </a:r>
            <a:r>
              <a:rPr sz="142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apt install </a:t>
            </a:r>
            <a:r>
              <a:rPr sz="142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filezilla</a:t>
            </a:r>
            <a:endParaRPr sz="142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9" name="Install check">
            <a:extLst>
              <a:ext uri="{FF2B5EF4-FFF2-40B4-BE49-F238E27FC236}">
                <a16:creationId xmlns:a16="http://schemas.microsoft.com/office/drawing/2014/main" id="{8CF26979-8BB7-475D-964D-7D92E0E9E9A3}"/>
              </a:ext>
            </a:extLst>
          </p:cNvPr>
          <p:cNvSpPr>
            <a:spLocks noGrp="1"/>
          </p:cNvSpPr>
          <p:nvPr/>
        </p:nvSpPr>
        <p:spPr>
          <a:xfrm>
            <a:off x="876300" y="54292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7B61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B61A8"/>
                </a:solidFill>
                <a:latin typeface="Arial"/>
                <a:ea typeface="Arial"/>
                <a:cs typeface="Arial"/>
              </a:rPr>
              <a:t>Sau khi cài: mở FileZilla Client → Site Manager → chọn protocol SFTP và port 22.</a:t>
            </a:r>
          </a:p>
        </p:txBody>
      </p:sp>
    </p:spTree>
    <p:extLst>
      <p:ext uri="{BB962C8B-B14F-4D97-AF65-F5344CB8AC3E}">
        <p14:creationId xmlns:p14="http://schemas.microsoft.com/office/powerpoint/2010/main" val="34719554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0ECF3186-460F-4754-8619-6D90E4A938C7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84AA"/>
                </a:solidFill>
                <a:latin typeface="Arial"/>
                <a:ea typeface="Arial"/>
                <a:cs typeface="Arial"/>
              </a:rPr>
              <a:t>Truyền file giữa laptop và server bằng FileZilla</a:t>
            </a: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C0FB49CD-EEBA-463F-814E-0B5CE8B9279E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 1">
            <a:extLst>
              <a:ext uri="{FF2B5EF4-FFF2-40B4-BE49-F238E27FC236}">
                <a16:creationId xmlns:a16="http://schemas.microsoft.com/office/drawing/2014/main" id="{6B8EBFAF-9F30-4EA7-98A1-5A7F632DB25E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66675" cy="495300"/>
          </a:xfrm>
          <a:prstGeom prst="rect">
            <a:avLst/>
          </a:prstGeom>
          <a:solidFill>
            <a:srgbClr val="0F84A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oint 1">
            <a:extLst>
              <a:ext uri="{FF2B5EF4-FFF2-40B4-BE49-F238E27FC236}">
                <a16:creationId xmlns:a16="http://schemas.microsoft.com/office/drawing/2014/main" id="{9F26996C-886E-44EC-A15C-934FB8A68B76}"/>
              </a:ext>
            </a:extLst>
          </p:cNvPr>
          <p:cNvSpPr>
            <a:spLocks noGrp="1"/>
          </p:cNvSpPr>
          <p:nvPr/>
        </p:nvSpPr>
        <p:spPr>
          <a:xfrm>
            <a:off x="1104900" y="1352550"/>
            <a:ext cx="101536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02A33"/>
                </a:solidFill>
                <a:latin typeface="Arial"/>
                <a:ea typeface="Arial"/>
                <a:cs typeface="Arial"/>
              </a:rPr>
              <a:t>Protocol: SFTP — SSH File Transfer Protocol</a:t>
            </a:r>
          </a:p>
        </p:txBody>
      </p:sp>
      <p:sp>
        <p:nvSpPr>
          <p:cNvPr id="5" name="Accent 2">
            <a:extLst>
              <a:ext uri="{FF2B5EF4-FFF2-40B4-BE49-F238E27FC236}">
                <a16:creationId xmlns:a16="http://schemas.microsoft.com/office/drawing/2014/main" id="{53A7EC07-02F1-439A-A1F9-B730F960EF81}"/>
              </a:ext>
            </a:extLst>
          </p:cNvPr>
          <p:cNvSpPr>
            <a:spLocks noGrp="1"/>
          </p:cNvSpPr>
          <p:nvPr/>
        </p:nvSpPr>
        <p:spPr>
          <a:xfrm>
            <a:off x="876300" y="2076450"/>
            <a:ext cx="66675" cy="49530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Point 2">
            <a:extLst>
              <a:ext uri="{FF2B5EF4-FFF2-40B4-BE49-F238E27FC236}">
                <a16:creationId xmlns:a16="http://schemas.microsoft.com/office/drawing/2014/main" id="{1BE26527-3598-47FF-BE6C-0E2BEFE88D23}"/>
              </a:ext>
            </a:extLst>
          </p:cNvPr>
          <p:cNvSpPr>
            <a:spLocks noGrp="1"/>
          </p:cNvSpPr>
          <p:nvPr/>
        </p:nvSpPr>
        <p:spPr>
          <a:xfrm>
            <a:off x="1104900" y="2038350"/>
            <a:ext cx="101536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02A33"/>
                </a:solidFill>
                <a:latin typeface="Arial"/>
                <a:ea typeface="Arial"/>
                <a:cs typeface="Arial"/>
              </a:rPr>
              <a:t>Host: &lt;server-address&gt;</a:t>
            </a:r>
          </a:p>
        </p:txBody>
      </p:sp>
      <p:sp>
        <p:nvSpPr>
          <p:cNvPr id="7" name="Accent 3">
            <a:extLst>
              <a:ext uri="{FF2B5EF4-FFF2-40B4-BE49-F238E27FC236}">
                <a16:creationId xmlns:a16="http://schemas.microsoft.com/office/drawing/2014/main" id="{CFC8B107-C970-4313-9D79-670B1E42DE03}"/>
              </a:ext>
            </a:extLst>
          </p:cNvPr>
          <p:cNvSpPr>
            <a:spLocks noGrp="1"/>
          </p:cNvSpPr>
          <p:nvPr/>
        </p:nvSpPr>
        <p:spPr>
          <a:xfrm>
            <a:off x="876300" y="2762250"/>
            <a:ext cx="66675" cy="495300"/>
          </a:xfrm>
          <a:prstGeom prst="rect">
            <a:avLst/>
          </a:prstGeom>
          <a:solidFill>
            <a:srgbClr val="2E8B7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Point 3">
            <a:extLst>
              <a:ext uri="{FF2B5EF4-FFF2-40B4-BE49-F238E27FC236}">
                <a16:creationId xmlns:a16="http://schemas.microsoft.com/office/drawing/2014/main" id="{CFA0EDC5-22EE-4CFD-8470-329ADCDE7C08}"/>
              </a:ext>
            </a:extLst>
          </p:cNvPr>
          <p:cNvSpPr>
            <a:spLocks noGrp="1"/>
          </p:cNvSpPr>
          <p:nvPr/>
        </p:nvSpPr>
        <p:spPr>
          <a:xfrm>
            <a:off x="1104900" y="2724150"/>
            <a:ext cx="101536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02A33"/>
                </a:solidFill>
                <a:latin typeface="Arial"/>
                <a:ea typeface="Arial"/>
                <a:cs typeface="Arial"/>
              </a:rPr>
              <a:t>Username: &lt;username&gt;</a:t>
            </a:r>
          </a:p>
        </p:txBody>
      </p:sp>
      <p:sp>
        <p:nvSpPr>
          <p:cNvPr id="9" name="Accent 4">
            <a:extLst>
              <a:ext uri="{FF2B5EF4-FFF2-40B4-BE49-F238E27FC236}">
                <a16:creationId xmlns:a16="http://schemas.microsoft.com/office/drawing/2014/main" id="{5486B8F4-2B01-4BCB-B158-B4AB5EE0D5E5}"/>
              </a:ext>
            </a:extLst>
          </p:cNvPr>
          <p:cNvSpPr>
            <a:spLocks noGrp="1"/>
          </p:cNvSpPr>
          <p:nvPr/>
        </p:nvSpPr>
        <p:spPr>
          <a:xfrm>
            <a:off x="876300" y="3448050"/>
            <a:ext cx="66675" cy="495300"/>
          </a:xfrm>
          <a:prstGeom prst="rect">
            <a:avLst/>
          </a:prstGeom>
          <a:solidFill>
            <a:srgbClr val="7B61A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Point 4">
            <a:extLst>
              <a:ext uri="{FF2B5EF4-FFF2-40B4-BE49-F238E27FC236}">
                <a16:creationId xmlns:a16="http://schemas.microsoft.com/office/drawing/2014/main" id="{74CBEB84-78FC-4D3B-B5B9-AF7BFA7B3EC5}"/>
              </a:ext>
            </a:extLst>
          </p:cNvPr>
          <p:cNvSpPr>
            <a:spLocks noGrp="1"/>
          </p:cNvSpPr>
          <p:nvPr/>
        </p:nvSpPr>
        <p:spPr>
          <a:xfrm>
            <a:off x="1104900" y="3409950"/>
            <a:ext cx="101536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02A33"/>
                </a:solidFill>
                <a:latin typeface="Arial"/>
                <a:ea typeface="Arial"/>
                <a:cs typeface="Arial"/>
              </a:rPr>
              <a:t>Port: 22</a:t>
            </a:r>
          </a:p>
        </p:txBody>
      </p:sp>
      <p:sp>
        <p:nvSpPr>
          <p:cNvPr id="11" name="Accent 5">
            <a:extLst>
              <a:ext uri="{FF2B5EF4-FFF2-40B4-BE49-F238E27FC236}">
                <a16:creationId xmlns:a16="http://schemas.microsoft.com/office/drawing/2014/main" id="{73BD89D4-53E1-49C9-9695-0458C1EDA2D8}"/>
              </a:ext>
            </a:extLst>
          </p:cNvPr>
          <p:cNvSpPr>
            <a:spLocks noGrp="1"/>
          </p:cNvSpPr>
          <p:nvPr/>
        </p:nvSpPr>
        <p:spPr>
          <a:xfrm>
            <a:off x="876300" y="4133850"/>
            <a:ext cx="66675" cy="495300"/>
          </a:xfrm>
          <a:prstGeom prst="rect">
            <a:avLst/>
          </a:prstGeom>
          <a:solidFill>
            <a:srgbClr val="D49A2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Point 5">
            <a:extLst>
              <a:ext uri="{FF2B5EF4-FFF2-40B4-BE49-F238E27FC236}">
                <a16:creationId xmlns:a16="http://schemas.microsoft.com/office/drawing/2014/main" id="{181198AA-EBE9-49C0-9723-FAB70FCF8278}"/>
              </a:ext>
            </a:extLst>
          </p:cNvPr>
          <p:cNvSpPr>
            <a:spLocks noGrp="1"/>
          </p:cNvSpPr>
          <p:nvPr/>
        </p:nvSpPr>
        <p:spPr>
          <a:xfrm>
            <a:off x="1104900" y="4095750"/>
            <a:ext cx="101536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02A33"/>
                </a:solidFill>
                <a:latin typeface="Arial"/>
                <a:ea typeface="Arial"/>
                <a:cs typeface="Arial"/>
              </a:rPr>
              <a:t>Kéo–thả file giữa cửa sổ Local site và Remote site</a:t>
            </a:r>
          </a:p>
        </p:txBody>
      </p:sp>
      <p:sp>
        <p:nvSpPr>
          <p:cNvPr id="13" name="Security">
            <a:extLst>
              <a:ext uri="{FF2B5EF4-FFF2-40B4-BE49-F238E27FC236}">
                <a16:creationId xmlns:a16="http://schemas.microsoft.com/office/drawing/2014/main" id="{33AB2C02-88F5-4B89-B76A-B5F410F41612}"/>
              </a:ext>
            </a:extLst>
          </p:cNvPr>
          <p:cNvSpPr>
            <a:spLocks noGrp="1"/>
          </p:cNvSpPr>
          <p:nvPr/>
        </p:nvSpPr>
        <p:spPr>
          <a:xfrm>
            <a:off x="876300" y="53340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97132"/>
                </a:solidFill>
                <a:latin typeface="Arial"/>
                <a:ea typeface="Arial"/>
                <a:cs typeface="Arial"/>
              </a:rPr>
              <a:t>Không đưa password hoặc SSH private key lên slide, GitHub hay thư mục dùng chung.</a:t>
            </a:r>
          </a:p>
        </p:txBody>
      </p:sp>
    </p:spTree>
    <p:extLst>
      <p:ext uri="{BB962C8B-B14F-4D97-AF65-F5344CB8AC3E}">
        <p14:creationId xmlns:p14="http://schemas.microsoft.com/office/powerpoint/2010/main" val="19641922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6A8E7211-2DAD-49FC-B2DD-DCC255EC2B4E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Cài</a:t>
            </a:r>
            <a:r>
              <a:rPr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</a:t>
            </a:r>
            <a:r>
              <a:rPr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Conda</a:t>
            </a:r>
            <a:endParaRPr sz="2550" b="1" dirty="0">
              <a:solidFill>
                <a:srgbClr val="0F84A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D277A753-B6FB-4045-B5A5-8B9CAEA8D661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54DDC0-108E-B0E3-C92C-81BDE2A8BAA4}"/>
              </a:ext>
            </a:extLst>
          </p:cNvPr>
          <p:cNvSpPr txBox="1"/>
          <p:nvPr/>
        </p:nvSpPr>
        <p:spPr>
          <a:xfrm>
            <a:off x="838200" y="2087671"/>
            <a:ext cx="77954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#installation</a:t>
            </a:r>
          </a:p>
          <a:p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cd /</a:t>
            </a:r>
            <a:r>
              <a:rPr lang="en-US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endParaRPr lang="en-US" sz="1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wget</a:t>
            </a: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https://repo.anaconda.com/miniconda/Miniconda3-latest-Linux-x86_64.sh</a:t>
            </a:r>
            <a:endParaRPr lang="en-US" sz="1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bash Miniconda3-latest-Linux-x86_64.sh</a:t>
            </a:r>
          </a:p>
          <a:p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#follow instruction</a:t>
            </a:r>
          </a:p>
          <a:p>
            <a:endParaRPr lang="en-US" sz="1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47A91F-BB83-1189-79E5-39D7B372FCC8}"/>
              </a:ext>
            </a:extLst>
          </p:cNvPr>
          <p:cNvSpPr txBox="1"/>
          <p:nvPr/>
        </p:nvSpPr>
        <p:spPr>
          <a:xfrm>
            <a:off x="8751687" y="728000"/>
            <a:ext cx="239690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name: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ont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channels: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-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conda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-forge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-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bioconda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- defaults</a:t>
            </a:r>
          </a:p>
          <a:p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dependencies: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- python=3.11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-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wget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- curl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- unzip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-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gzip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- tree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-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seqkit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-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nanoplot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- minimap2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-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samtools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-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bcftools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-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htslib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-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tabix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9554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5AB890EA-5BEF-45C7-89E2-1355749C378D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84AA"/>
                </a:solidFill>
                <a:latin typeface="Arial"/>
                <a:ea typeface="Arial"/>
                <a:cs typeface="Arial"/>
              </a:rPr>
              <a:t>Tạo môi trường Conda cho khóa học</a:t>
            </a: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ED055BCA-9704-48D6-8F72-BB4C48511924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Code block">
            <a:extLst>
              <a:ext uri="{FF2B5EF4-FFF2-40B4-BE49-F238E27FC236}">
                <a16:creationId xmlns:a16="http://schemas.microsoft.com/office/drawing/2014/main" id="{7225557B-B730-4B37-939B-5567397C7295}"/>
              </a:ext>
            </a:extLst>
          </p:cNvPr>
          <p:cNvSpPr>
            <a:spLocks noGrp="1"/>
          </p:cNvSpPr>
          <p:nvPr/>
        </p:nvSpPr>
        <p:spPr>
          <a:xfrm>
            <a:off x="876300" y="1285875"/>
            <a:ext cx="5334000" cy="4095750"/>
          </a:xfrm>
          <a:prstGeom prst="roundRect">
            <a:avLst>
              <a:gd name="adj" fmla="val 1860"/>
            </a:avLst>
          </a:prstGeom>
          <a:solidFill>
            <a:srgbClr val="F4F7F8"/>
          </a:solidFill>
          <a:ln w="9525">
            <a:solidFill>
              <a:srgbClr val="B8CDD5"/>
            </a:solidFill>
            <a:prstDash val="solid"/>
          </a:ln>
        </p:spPr>
        <p:txBody>
          <a:bodyPr/>
          <a:lstStyle/>
          <a:p>
            <a:pPr>
              <a:buNone/>
              <a:defRPr sz="142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42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# </a:t>
            </a:r>
            <a:r>
              <a:rPr sz="142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Tạo</a:t>
            </a:r>
            <a:r>
              <a:rPr sz="142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42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môi</a:t>
            </a:r>
            <a:r>
              <a:rPr sz="142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42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trường</a:t>
            </a:r>
            <a:r>
              <a:rPr sz="142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42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từ</a:t>
            </a:r>
            <a:r>
              <a:rPr sz="142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file YAML</a:t>
            </a:r>
          </a:p>
          <a:p>
            <a:pPr>
              <a:buNone/>
              <a:defRPr sz="142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42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conda</a:t>
            </a:r>
            <a:r>
              <a:rPr sz="142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env create -f </a:t>
            </a:r>
            <a:r>
              <a:rPr sz="142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ont.yml</a:t>
            </a:r>
            <a:endParaRPr sz="142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endParaRPr sz="142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42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42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# </a:t>
            </a:r>
            <a:r>
              <a:rPr sz="142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Kích</a:t>
            </a:r>
            <a:r>
              <a:rPr sz="142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42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hoạt</a:t>
            </a:r>
            <a:r>
              <a:rPr sz="142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42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môi</a:t>
            </a:r>
            <a:r>
              <a:rPr sz="142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42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trường</a:t>
            </a:r>
            <a:endParaRPr sz="142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42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42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conda</a:t>
            </a:r>
            <a:r>
              <a:rPr sz="142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activate </a:t>
            </a:r>
            <a:r>
              <a:rPr sz="142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ont</a:t>
            </a:r>
            <a:endParaRPr sz="142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endParaRPr sz="142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42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42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# </a:t>
            </a:r>
            <a:r>
              <a:rPr sz="142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Kiểm</a:t>
            </a:r>
            <a:r>
              <a:rPr sz="142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42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tra</a:t>
            </a:r>
            <a:endParaRPr sz="142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42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42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conda</a:t>
            </a:r>
            <a:r>
              <a:rPr sz="142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env list</a:t>
            </a:r>
          </a:p>
          <a:p>
            <a:pPr>
              <a:buNone/>
              <a:defRPr sz="142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42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which </a:t>
            </a:r>
            <a:r>
              <a:rPr sz="142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samtools</a:t>
            </a:r>
            <a:endParaRPr sz="142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42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42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samtools</a:t>
            </a:r>
            <a:r>
              <a:rPr sz="142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--version</a:t>
            </a:r>
          </a:p>
        </p:txBody>
      </p:sp>
      <p:sp>
        <p:nvSpPr>
          <p:cNvPr id="4" name="Accent 1">
            <a:extLst>
              <a:ext uri="{FF2B5EF4-FFF2-40B4-BE49-F238E27FC236}">
                <a16:creationId xmlns:a16="http://schemas.microsoft.com/office/drawing/2014/main" id="{2605EE9C-056A-4A3C-A505-B64E242DADA2}"/>
              </a:ext>
            </a:extLst>
          </p:cNvPr>
          <p:cNvSpPr>
            <a:spLocks noGrp="1"/>
          </p:cNvSpPr>
          <p:nvPr/>
        </p:nvSpPr>
        <p:spPr>
          <a:xfrm>
            <a:off x="6667500" y="1371600"/>
            <a:ext cx="66675" cy="476250"/>
          </a:xfrm>
          <a:prstGeom prst="rect">
            <a:avLst/>
          </a:prstGeom>
          <a:solidFill>
            <a:srgbClr val="0F84A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Point 1">
            <a:extLst>
              <a:ext uri="{FF2B5EF4-FFF2-40B4-BE49-F238E27FC236}">
                <a16:creationId xmlns:a16="http://schemas.microsoft.com/office/drawing/2014/main" id="{39A491E3-41F5-4C64-B7C0-3016B394E99D}"/>
              </a:ext>
            </a:extLst>
          </p:cNvPr>
          <p:cNvSpPr>
            <a:spLocks noGrp="1"/>
          </p:cNvSpPr>
          <p:nvPr/>
        </p:nvSpPr>
        <p:spPr>
          <a:xfrm>
            <a:off x="6896100" y="1333500"/>
            <a:ext cx="4343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A33"/>
                </a:solidFill>
                <a:latin typeface="Arial"/>
                <a:ea typeface="Arial"/>
                <a:cs typeface="Arial"/>
              </a:rPr>
              <a:t>conda env create: tạo môi trường mới</a:t>
            </a:r>
          </a:p>
        </p:txBody>
      </p:sp>
      <p:sp>
        <p:nvSpPr>
          <p:cNvPr id="6" name="Accent 2">
            <a:extLst>
              <a:ext uri="{FF2B5EF4-FFF2-40B4-BE49-F238E27FC236}">
                <a16:creationId xmlns:a16="http://schemas.microsoft.com/office/drawing/2014/main" id="{FC485353-C641-45F2-9AAF-FC60C2DF5A0A}"/>
              </a:ext>
            </a:extLst>
          </p:cNvPr>
          <p:cNvSpPr>
            <a:spLocks noGrp="1"/>
          </p:cNvSpPr>
          <p:nvPr/>
        </p:nvSpPr>
        <p:spPr>
          <a:xfrm>
            <a:off x="6667500" y="2038350"/>
            <a:ext cx="66675" cy="4762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Point 2">
            <a:extLst>
              <a:ext uri="{FF2B5EF4-FFF2-40B4-BE49-F238E27FC236}">
                <a16:creationId xmlns:a16="http://schemas.microsoft.com/office/drawing/2014/main" id="{0648C51D-1D38-4D1F-8E29-AF40E8509AB0}"/>
              </a:ext>
            </a:extLst>
          </p:cNvPr>
          <p:cNvSpPr>
            <a:spLocks noGrp="1"/>
          </p:cNvSpPr>
          <p:nvPr/>
        </p:nvSpPr>
        <p:spPr>
          <a:xfrm>
            <a:off x="6896100" y="2000250"/>
            <a:ext cx="4343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A33"/>
                </a:solidFill>
                <a:latin typeface="Arial"/>
                <a:ea typeface="Arial"/>
                <a:cs typeface="Arial"/>
              </a:rPr>
              <a:t>-f ont.yml: đọc cấu hình từ file ont.yml</a:t>
            </a:r>
          </a:p>
        </p:txBody>
      </p:sp>
      <p:sp>
        <p:nvSpPr>
          <p:cNvPr id="8" name="Accent 3">
            <a:extLst>
              <a:ext uri="{FF2B5EF4-FFF2-40B4-BE49-F238E27FC236}">
                <a16:creationId xmlns:a16="http://schemas.microsoft.com/office/drawing/2014/main" id="{43FBDF84-E2FC-498B-9C09-76A5727FA958}"/>
              </a:ext>
            </a:extLst>
          </p:cNvPr>
          <p:cNvSpPr>
            <a:spLocks noGrp="1"/>
          </p:cNvSpPr>
          <p:nvPr/>
        </p:nvSpPr>
        <p:spPr>
          <a:xfrm>
            <a:off x="6667500" y="2705100"/>
            <a:ext cx="66675" cy="476250"/>
          </a:xfrm>
          <a:prstGeom prst="rect">
            <a:avLst/>
          </a:prstGeom>
          <a:solidFill>
            <a:srgbClr val="2E8B7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Point 3">
            <a:extLst>
              <a:ext uri="{FF2B5EF4-FFF2-40B4-BE49-F238E27FC236}">
                <a16:creationId xmlns:a16="http://schemas.microsoft.com/office/drawing/2014/main" id="{6552663C-8D35-4B1B-A38B-FED3ABBD3A6F}"/>
              </a:ext>
            </a:extLst>
          </p:cNvPr>
          <p:cNvSpPr>
            <a:spLocks noGrp="1"/>
          </p:cNvSpPr>
          <p:nvPr/>
        </p:nvSpPr>
        <p:spPr>
          <a:xfrm>
            <a:off x="6896100" y="2667000"/>
            <a:ext cx="4343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A33"/>
                </a:solidFill>
                <a:latin typeface="Arial"/>
                <a:ea typeface="Arial"/>
                <a:cs typeface="Arial"/>
              </a:rPr>
              <a:t>conda activate ont: chuyển sang môi trường ont</a:t>
            </a:r>
          </a:p>
        </p:txBody>
      </p:sp>
      <p:sp>
        <p:nvSpPr>
          <p:cNvPr id="10" name="Accent 4">
            <a:extLst>
              <a:ext uri="{FF2B5EF4-FFF2-40B4-BE49-F238E27FC236}">
                <a16:creationId xmlns:a16="http://schemas.microsoft.com/office/drawing/2014/main" id="{FB99E01F-42E4-441D-9762-FD4AE541A987}"/>
              </a:ext>
            </a:extLst>
          </p:cNvPr>
          <p:cNvSpPr>
            <a:spLocks noGrp="1"/>
          </p:cNvSpPr>
          <p:nvPr/>
        </p:nvSpPr>
        <p:spPr>
          <a:xfrm>
            <a:off x="6667500" y="3371850"/>
            <a:ext cx="66675" cy="476250"/>
          </a:xfrm>
          <a:prstGeom prst="rect">
            <a:avLst/>
          </a:prstGeom>
          <a:solidFill>
            <a:srgbClr val="7B61A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oint 4">
            <a:extLst>
              <a:ext uri="{FF2B5EF4-FFF2-40B4-BE49-F238E27FC236}">
                <a16:creationId xmlns:a16="http://schemas.microsoft.com/office/drawing/2014/main" id="{D632CF2E-86C3-41BB-85D6-8EB3BD4208FD}"/>
              </a:ext>
            </a:extLst>
          </p:cNvPr>
          <p:cNvSpPr>
            <a:spLocks noGrp="1"/>
          </p:cNvSpPr>
          <p:nvPr/>
        </p:nvSpPr>
        <p:spPr>
          <a:xfrm>
            <a:off x="6896100" y="3333750"/>
            <a:ext cx="4343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A33"/>
                </a:solidFill>
                <a:latin typeface="Arial"/>
                <a:ea typeface="Arial"/>
                <a:cs typeface="Arial"/>
              </a:rPr>
              <a:t>which: cho biết chương trình đang được gọi từ đâu</a:t>
            </a:r>
          </a:p>
        </p:txBody>
      </p:sp>
      <p:sp>
        <p:nvSpPr>
          <p:cNvPr id="12" name="Accent 5">
            <a:extLst>
              <a:ext uri="{FF2B5EF4-FFF2-40B4-BE49-F238E27FC236}">
                <a16:creationId xmlns:a16="http://schemas.microsoft.com/office/drawing/2014/main" id="{478A3438-B6CA-4A8D-B70C-10281A4318E9}"/>
              </a:ext>
            </a:extLst>
          </p:cNvPr>
          <p:cNvSpPr>
            <a:spLocks noGrp="1"/>
          </p:cNvSpPr>
          <p:nvPr/>
        </p:nvSpPr>
        <p:spPr>
          <a:xfrm>
            <a:off x="6667500" y="4038600"/>
            <a:ext cx="66675" cy="476250"/>
          </a:xfrm>
          <a:prstGeom prst="rect">
            <a:avLst/>
          </a:prstGeom>
          <a:solidFill>
            <a:srgbClr val="D49A2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oint 5">
            <a:extLst>
              <a:ext uri="{FF2B5EF4-FFF2-40B4-BE49-F238E27FC236}">
                <a16:creationId xmlns:a16="http://schemas.microsoft.com/office/drawing/2014/main" id="{CA4D4EBE-1756-4555-AE34-95EB729B47A0}"/>
              </a:ext>
            </a:extLst>
          </p:cNvPr>
          <p:cNvSpPr>
            <a:spLocks noGrp="1"/>
          </p:cNvSpPr>
          <p:nvPr/>
        </p:nvSpPr>
        <p:spPr>
          <a:xfrm>
            <a:off x="6896100" y="4000500"/>
            <a:ext cx="4343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A33"/>
                </a:solidFill>
                <a:latin typeface="Arial"/>
                <a:ea typeface="Arial"/>
                <a:cs typeface="Arial"/>
              </a:rPr>
              <a:t>--version: xác nhận phần mềm chạy được</a:t>
            </a:r>
          </a:p>
        </p:txBody>
      </p:sp>
    </p:spTree>
    <p:extLst>
      <p:ext uri="{BB962C8B-B14F-4D97-AF65-F5344CB8AC3E}">
        <p14:creationId xmlns:p14="http://schemas.microsoft.com/office/powerpoint/2010/main" val="39409961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85FF980A-4D5B-4021-ACAB-878B13232B48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84AA"/>
                </a:solidFill>
                <a:latin typeface="Arial"/>
                <a:ea typeface="Arial"/>
                <a:cs typeface="Arial"/>
              </a:rPr>
              <a:t>Bài thực hành 1: khám phá bộ dữ liệu demo</a:t>
            </a: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068B295F-71C1-467D-A795-DAF568161917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Code block">
            <a:extLst>
              <a:ext uri="{FF2B5EF4-FFF2-40B4-BE49-F238E27FC236}">
                <a16:creationId xmlns:a16="http://schemas.microsoft.com/office/drawing/2014/main" id="{9B243964-8951-4987-8064-15FA6FCB1BB8}"/>
              </a:ext>
            </a:extLst>
          </p:cNvPr>
          <p:cNvSpPr>
            <a:spLocks noGrp="1"/>
          </p:cNvSpPr>
          <p:nvPr/>
        </p:nvSpPr>
        <p:spPr>
          <a:xfrm>
            <a:off x="876300" y="1238250"/>
            <a:ext cx="5524500" cy="4000500"/>
          </a:xfrm>
          <a:prstGeom prst="roundRect">
            <a:avLst>
              <a:gd name="adj" fmla="val 1905"/>
            </a:avLst>
          </a:prstGeom>
          <a:solidFill>
            <a:srgbClr val="F4F7F8"/>
          </a:solidFill>
          <a:ln w="9525">
            <a:solidFill>
              <a:srgbClr val="B8CDD5"/>
            </a:solidFill>
            <a:prstDash val="solid"/>
          </a:ln>
        </p:spPr>
        <p:txBody>
          <a:bodyPr/>
          <a:lstStyle/>
          <a:p>
            <a:pPr>
              <a:buNone/>
              <a:defRPr sz="1500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0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pwd</a:t>
            </a:r>
          </a:p>
          <a:p>
            <a:pPr>
              <a:buNone/>
              <a:defRPr sz="1500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0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ls -lh</a:t>
            </a:r>
          </a:p>
          <a:p>
            <a:pPr>
              <a:buNone/>
              <a:defRPr sz="1500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0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tree -L 2</a:t>
            </a:r>
          </a:p>
          <a:p>
            <a:pPr>
              <a:buNone/>
              <a:defRPr sz="1500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0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head -n 4 01_fastq/demo.fastq</a:t>
            </a:r>
          </a:p>
          <a:p>
            <a:pPr>
              <a:buNone/>
              <a:defRPr sz="1500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0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grep '^&gt;' 02_reference/demo.fa</a:t>
            </a:r>
          </a:p>
          <a:p>
            <a:pPr>
              <a:buNone/>
              <a:defRPr sz="1500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0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wc -l 05_bed/regions.bed</a:t>
            </a:r>
          </a:p>
        </p:txBody>
      </p:sp>
      <p:sp>
        <p:nvSpPr>
          <p:cNvPr id="4" name="Accent 1">
            <a:extLst>
              <a:ext uri="{FF2B5EF4-FFF2-40B4-BE49-F238E27FC236}">
                <a16:creationId xmlns:a16="http://schemas.microsoft.com/office/drawing/2014/main" id="{F95D8DD7-2849-4603-B9ED-40F48F15CDE6}"/>
              </a:ext>
            </a:extLst>
          </p:cNvPr>
          <p:cNvSpPr>
            <a:spLocks noGrp="1"/>
          </p:cNvSpPr>
          <p:nvPr/>
        </p:nvSpPr>
        <p:spPr>
          <a:xfrm>
            <a:off x="6905625" y="1419225"/>
            <a:ext cx="66675" cy="495300"/>
          </a:xfrm>
          <a:prstGeom prst="rect">
            <a:avLst/>
          </a:prstGeom>
          <a:solidFill>
            <a:srgbClr val="0F84A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Point 1">
            <a:extLst>
              <a:ext uri="{FF2B5EF4-FFF2-40B4-BE49-F238E27FC236}">
                <a16:creationId xmlns:a16="http://schemas.microsoft.com/office/drawing/2014/main" id="{CDBD869C-D6ED-4960-BFBF-7B5BCC4F4D7E}"/>
              </a:ext>
            </a:extLst>
          </p:cNvPr>
          <p:cNvSpPr>
            <a:spLocks noGrp="1"/>
          </p:cNvSpPr>
          <p:nvPr/>
        </p:nvSpPr>
        <p:spPr>
          <a:xfrm>
            <a:off x="7134225" y="1381125"/>
            <a:ext cx="40576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A33"/>
                </a:solidFill>
                <a:latin typeface="Arial"/>
                <a:ea typeface="Arial"/>
                <a:cs typeface="Arial"/>
              </a:rPr>
              <a:t>Xác định thư mục hiện tại.</a:t>
            </a:r>
          </a:p>
        </p:txBody>
      </p:sp>
      <p:sp>
        <p:nvSpPr>
          <p:cNvPr id="6" name="Accent 2">
            <a:extLst>
              <a:ext uri="{FF2B5EF4-FFF2-40B4-BE49-F238E27FC236}">
                <a16:creationId xmlns:a16="http://schemas.microsoft.com/office/drawing/2014/main" id="{19EEFC44-A992-439D-9F39-E131681765FF}"/>
              </a:ext>
            </a:extLst>
          </p:cNvPr>
          <p:cNvSpPr>
            <a:spLocks noGrp="1"/>
          </p:cNvSpPr>
          <p:nvPr/>
        </p:nvSpPr>
        <p:spPr>
          <a:xfrm>
            <a:off x="6905625" y="2105025"/>
            <a:ext cx="66675" cy="49530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Point 2">
            <a:extLst>
              <a:ext uri="{FF2B5EF4-FFF2-40B4-BE49-F238E27FC236}">
                <a16:creationId xmlns:a16="http://schemas.microsoft.com/office/drawing/2014/main" id="{E15419D3-52A1-4F02-8610-9A02DF793B7F}"/>
              </a:ext>
            </a:extLst>
          </p:cNvPr>
          <p:cNvSpPr>
            <a:spLocks noGrp="1"/>
          </p:cNvSpPr>
          <p:nvPr/>
        </p:nvSpPr>
        <p:spPr>
          <a:xfrm>
            <a:off x="7134225" y="2066925"/>
            <a:ext cx="40576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A33"/>
                </a:solidFill>
                <a:latin typeface="Arial"/>
                <a:ea typeface="Arial"/>
                <a:cs typeface="Arial"/>
              </a:rPr>
              <a:t>Nhận biết năm loại file của khóa học.</a:t>
            </a:r>
          </a:p>
        </p:txBody>
      </p:sp>
      <p:sp>
        <p:nvSpPr>
          <p:cNvPr id="8" name="Accent 3">
            <a:extLst>
              <a:ext uri="{FF2B5EF4-FFF2-40B4-BE49-F238E27FC236}">
                <a16:creationId xmlns:a16="http://schemas.microsoft.com/office/drawing/2014/main" id="{1DA51AC8-F954-4EF6-80EF-37519541EC4E}"/>
              </a:ext>
            </a:extLst>
          </p:cNvPr>
          <p:cNvSpPr>
            <a:spLocks noGrp="1"/>
          </p:cNvSpPr>
          <p:nvPr/>
        </p:nvSpPr>
        <p:spPr>
          <a:xfrm>
            <a:off x="6905625" y="2790825"/>
            <a:ext cx="66675" cy="495300"/>
          </a:xfrm>
          <a:prstGeom prst="rect">
            <a:avLst/>
          </a:prstGeom>
          <a:solidFill>
            <a:srgbClr val="2E8B7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Point 3">
            <a:extLst>
              <a:ext uri="{FF2B5EF4-FFF2-40B4-BE49-F238E27FC236}">
                <a16:creationId xmlns:a16="http://schemas.microsoft.com/office/drawing/2014/main" id="{B1371358-58F2-456F-9DD7-A3A19E3C7ABE}"/>
              </a:ext>
            </a:extLst>
          </p:cNvPr>
          <p:cNvSpPr>
            <a:spLocks noGrp="1"/>
          </p:cNvSpPr>
          <p:nvPr/>
        </p:nvSpPr>
        <p:spPr>
          <a:xfrm>
            <a:off x="7134225" y="2752725"/>
            <a:ext cx="40576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A33"/>
                </a:solidFill>
                <a:latin typeface="Arial"/>
                <a:ea typeface="Arial"/>
                <a:cs typeface="Arial"/>
              </a:rPr>
              <a:t>Kiểm tra một FASTQ record có đủ bốn dòng.</a:t>
            </a:r>
          </a:p>
        </p:txBody>
      </p:sp>
      <p:sp>
        <p:nvSpPr>
          <p:cNvPr id="10" name="Accent 4">
            <a:extLst>
              <a:ext uri="{FF2B5EF4-FFF2-40B4-BE49-F238E27FC236}">
                <a16:creationId xmlns:a16="http://schemas.microsoft.com/office/drawing/2014/main" id="{9673F61A-AD84-4A20-B624-EBAD72984C7D}"/>
              </a:ext>
            </a:extLst>
          </p:cNvPr>
          <p:cNvSpPr>
            <a:spLocks noGrp="1"/>
          </p:cNvSpPr>
          <p:nvPr/>
        </p:nvSpPr>
        <p:spPr>
          <a:xfrm>
            <a:off x="6905625" y="3476625"/>
            <a:ext cx="66675" cy="495300"/>
          </a:xfrm>
          <a:prstGeom prst="rect">
            <a:avLst/>
          </a:prstGeom>
          <a:solidFill>
            <a:srgbClr val="7B61A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oint 4">
            <a:extLst>
              <a:ext uri="{FF2B5EF4-FFF2-40B4-BE49-F238E27FC236}">
                <a16:creationId xmlns:a16="http://schemas.microsoft.com/office/drawing/2014/main" id="{7ABBC7B6-5C7A-4B8F-964D-CE77CDAA9510}"/>
              </a:ext>
            </a:extLst>
          </p:cNvPr>
          <p:cNvSpPr>
            <a:spLocks noGrp="1"/>
          </p:cNvSpPr>
          <p:nvPr/>
        </p:nvSpPr>
        <p:spPr>
          <a:xfrm>
            <a:off x="7134225" y="3438525"/>
            <a:ext cx="40576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A33"/>
                </a:solidFill>
                <a:latin typeface="Arial"/>
                <a:ea typeface="Arial"/>
                <a:cs typeface="Arial"/>
              </a:rPr>
              <a:t>Tìm header của reference FASTA.</a:t>
            </a:r>
          </a:p>
        </p:txBody>
      </p:sp>
      <p:sp>
        <p:nvSpPr>
          <p:cNvPr id="12" name="Accent 5">
            <a:extLst>
              <a:ext uri="{FF2B5EF4-FFF2-40B4-BE49-F238E27FC236}">
                <a16:creationId xmlns:a16="http://schemas.microsoft.com/office/drawing/2014/main" id="{F1ABC482-4F94-4BE3-A414-093B8A025450}"/>
              </a:ext>
            </a:extLst>
          </p:cNvPr>
          <p:cNvSpPr>
            <a:spLocks noGrp="1"/>
          </p:cNvSpPr>
          <p:nvPr/>
        </p:nvSpPr>
        <p:spPr>
          <a:xfrm>
            <a:off x="6905625" y="4162425"/>
            <a:ext cx="66675" cy="495300"/>
          </a:xfrm>
          <a:prstGeom prst="rect">
            <a:avLst/>
          </a:prstGeom>
          <a:solidFill>
            <a:srgbClr val="D49A2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oint 5">
            <a:extLst>
              <a:ext uri="{FF2B5EF4-FFF2-40B4-BE49-F238E27FC236}">
                <a16:creationId xmlns:a16="http://schemas.microsoft.com/office/drawing/2014/main" id="{ED50CD46-7A0C-4C1A-8D20-3919F8F9BA9F}"/>
              </a:ext>
            </a:extLst>
          </p:cNvPr>
          <p:cNvSpPr>
            <a:spLocks noGrp="1"/>
          </p:cNvSpPr>
          <p:nvPr/>
        </p:nvSpPr>
        <p:spPr>
          <a:xfrm>
            <a:off x="7134225" y="4124325"/>
            <a:ext cx="40576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A33"/>
                </a:solidFill>
                <a:latin typeface="Arial"/>
                <a:ea typeface="Arial"/>
                <a:cs typeface="Arial"/>
              </a:rPr>
              <a:t>Đếm số vùng trong BED.</a:t>
            </a:r>
          </a:p>
        </p:txBody>
      </p:sp>
      <p:sp>
        <p:nvSpPr>
          <p:cNvPr id="14" name="Goal">
            <a:extLst>
              <a:ext uri="{FF2B5EF4-FFF2-40B4-BE49-F238E27FC236}">
                <a16:creationId xmlns:a16="http://schemas.microsoft.com/office/drawing/2014/main" id="{7B02453A-5E39-4E3F-BDE9-1B6FB955C483}"/>
              </a:ext>
            </a:extLst>
          </p:cNvPr>
          <p:cNvSpPr>
            <a:spLocks noGrp="1"/>
          </p:cNvSpPr>
          <p:nvPr/>
        </p:nvSpPr>
        <p:spPr>
          <a:xfrm>
            <a:off x="876300" y="5572125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84AA"/>
                </a:solidFill>
                <a:latin typeface="Arial"/>
                <a:ea typeface="Arial"/>
                <a:cs typeface="Arial"/>
              </a:rPr>
              <a:t>Kết quả: mỗi nhóm ghi lại tên file, định dạng và vai trò của file.</a:t>
            </a:r>
          </a:p>
        </p:txBody>
      </p:sp>
    </p:spTree>
    <p:extLst>
      <p:ext uri="{BB962C8B-B14F-4D97-AF65-F5344CB8AC3E}">
        <p14:creationId xmlns:p14="http://schemas.microsoft.com/office/powerpoint/2010/main" val="193978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3D0637AE-AF6A-4EC2-8B53-146B42DAB2B8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84AA"/>
                </a:solidFill>
                <a:latin typeface="Arial"/>
                <a:ea typeface="Arial"/>
                <a:cs typeface="Arial"/>
              </a:rPr>
              <a:t>Bài thực hành 2: đọc lệnh theo từng thành phần</a:t>
            </a: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D479FBF8-7FDB-48F2-85EE-306778FDA3C6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Code block">
            <a:extLst>
              <a:ext uri="{FF2B5EF4-FFF2-40B4-BE49-F238E27FC236}">
                <a16:creationId xmlns:a16="http://schemas.microsoft.com/office/drawing/2014/main" id="{A651B9A9-D4E0-46C6-B086-D1508881DA4D}"/>
              </a:ext>
            </a:extLst>
          </p:cNvPr>
          <p:cNvSpPr>
            <a:spLocks noGrp="1"/>
          </p:cNvSpPr>
          <p:nvPr/>
        </p:nvSpPr>
        <p:spPr>
          <a:xfrm>
            <a:off x="876300" y="1381125"/>
            <a:ext cx="10287000" cy="904875"/>
          </a:xfrm>
          <a:prstGeom prst="roundRect">
            <a:avLst>
              <a:gd name="adj" fmla="val 8421"/>
            </a:avLst>
          </a:prstGeom>
          <a:solidFill>
            <a:srgbClr val="F4F7F8"/>
          </a:solidFill>
          <a:ln w="9525">
            <a:solidFill>
              <a:srgbClr val="B8CDD5"/>
            </a:solidFill>
            <a:prstDash val="solid"/>
          </a:ln>
        </p:spPr>
        <p:txBody>
          <a:bodyPr/>
          <a:lstStyle/>
          <a:p>
            <a:pPr>
              <a:buNone/>
              <a:defRPr sz="172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zcat 01_fastq/demo.fastq.gz | head -n 8</a:t>
            </a:r>
          </a:p>
        </p:txBody>
      </p:sp>
      <p:sp>
        <p:nvSpPr>
          <p:cNvPr id="4" name="Accent 1">
            <a:extLst>
              <a:ext uri="{FF2B5EF4-FFF2-40B4-BE49-F238E27FC236}">
                <a16:creationId xmlns:a16="http://schemas.microsoft.com/office/drawing/2014/main" id="{CA72AD5C-86F2-4546-910D-C8374030B868}"/>
              </a:ext>
            </a:extLst>
          </p:cNvPr>
          <p:cNvSpPr>
            <a:spLocks noGrp="1"/>
          </p:cNvSpPr>
          <p:nvPr/>
        </p:nvSpPr>
        <p:spPr>
          <a:xfrm>
            <a:off x="876300" y="2800350"/>
            <a:ext cx="66675" cy="390525"/>
          </a:xfrm>
          <a:prstGeom prst="rect">
            <a:avLst/>
          </a:prstGeom>
          <a:solidFill>
            <a:srgbClr val="0F84A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Point 1">
            <a:extLst>
              <a:ext uri="{FF2B5EF4-FFF2-40B4-BE49-F238E27FC236}">
                <a16:creationId xmlns:a16="http://schemas.microsoft.com/office/drawing/2014/main" id="{11DA82D2-E901-4BFE-AE28-C39CCC57F3C7}"/>
              </a:ext>
            </a:extLst>
          </p:cNvPr>
          <p:cNvSpPr>
            <a:spLocks noGrp="1"/>
          </p:cNvSpPr>
          <p:nvPr/>
        </p:nvSpPr>
        <p:spPr>
          <a:xfrm>
            <a:off x="1104900" y="2762250"/>
            <a:ext cx="101536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2A33"/>
                </a:solidFill>
                <a:latin typeface="Arial"/>
                <a:ea typeface="Arial"/>
                <a:cs typeface="Arial"/>
              </a:rPr>
              <a:t>zcat — đọc và giải nén luồng dữ liệu từ file .gz</a:t>
            </a:r>
          </a:p>
        </p:txBody>
      </p:sp>
      <p:sp>
        <p:nvSpPr>
          <p:cNvPr id="6" name="Accent 2">
            <a:extLst>
              <a:ext uri="{FF2B5EF4-FFF2-40B4-BE49-F238E27FC236}">
                <a16:creationId xmlns:a16="http://schemas.microsoft.com/office/drawing/2014/main" id="{7E3CC191-F0E5-4402-9314-4436D998B2A5}"/>
              </a:ext>
            </a:extLst>
          </p:cNvPr>
          <p:cNvSpPr>
            <a:spLocks noGrp="1"/>
          </p:cNvSpPr>
          <p:nvPr/>
        </p:nvSpPr>
        <p:spPr>
          <a:xfrm>
            <a:off x="876300" y="3381375"/>
            <a:ext cx="66675" cy="390525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Point 2">
            <a:extLst>
              <a:ext uri="{FF2B5EF4-FFF2-40B4-BE49-F238E27FC236}">
                <a16:creationId xmlns:a16="http://schemas.microsoft.com/office/drawing/2014/main" id="{B998C188-2F8C-4C95-B2A9-2BE901FA6C94}"/>
              </a:ext>
            </a:extLst>
          </p:cNvPr>
          <p:cNvSpPr>
            <a:spLocks noGrp="1"/>
          </p:cNvSpPr>
          <p:nvPr/>
        </p:nvSpPr>
        <p:spPr>
          <a:xfrm>
            <a:off x="1104900" y="3343275"/>
            <a:ext cx="101536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2A33"/>
                </a:solidFill>
                <a:latin typeface="Arial"/>
                <a:ea typeface="Arial"/>
                <a:cs typeface="Arial"/>
              </a:rPr>
              <a:t>01_fastq/demo.fastq.gz — đường dẫn đến file đầu vào</a:t>
            </a:r>
          </a:p>
        </p:txBody>
      </p:sp>
      <p:sp>
        <p:nvSpPr>
          <p:cNvPr id="8" name="Accent 3">
            <a:extLst>
              <a:ext uri="{FF2B5EF4-FFF2-40B4-BE49-F238E27FC236}">
                <a16:creationId xmlns:a16="http://schemas.microsoft.com/office/drawing/2014/main" id="{43D4E0BC-571D-456B-A351-AA855D47CC7C}"/>
              </a:ext>
            </a:extLst>
          </p:cNvPr>
          <p:cNvSpPr>
            <a:spLocks noGrp="1"/>
          </p:cNvSpPr>
          <p:nvPr/>
        </p:nvSpPr>
        <p:spPr>
          <a:xfrm>
            <a:off x="876300" y="3962400"/>
            <a:ext cx="66675" cy="390525"/>
          </a:xfrm>
          <a:prstGeom prst="rect">
            <a:avLst/>
          </a:prstGeom>
          <a:solidFill>
            <a:srgbClr val="2E8B7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Point 3">
            <a:extLst>
              <a:ext uri="{FF2B5EF4-FFF2-40B4-BE49-F238E27FC236}">
                <a16:creationId xmlns:a16="http://schemas.microsoft.com/office/drawing/2014/main" id="{9DB51C23-7189-4124-8F27-877641D1AA9B}"/>
              </a:ext>
            </a:extLst>
          </p:cNvPr>
          <p:cNvSpPr>
            <a:spLocks noGrp="1"/>
          </p:cNvSpPr>
          <p:nvPr/>
        </p:nvSpPr>
        <p:spPr>
          <a:xfrm>
            <a:off x="1104900" y="3924300"/>
            <a:ext cx="101536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2A33"/>
                </a:solidFill>
                <a:latin typeface="Arial"/>
                <a:ea typeface="Arial"/>
                <a:cs typeface="Arial"/>
              </a:rPr>
              <a:t>| — pipe output sang lệnh kế tiếp</a:t>
            </a:r>
          </a:p>
        </p:txBody>
      </p:sp>
      <p:sp>
        <p:nvSpPr>
          <p:cNvPr id="10" name="Accent 4">
            <a:extLst>
              <a:ext uri="{FF2B5EF4-FFF2-40B4-BE49-F238E27FC236}">
                <a16:creationId xmlns:a16="http://schemas.microsoft.com/office/drawing/2014/main" id="{53CCDBB5-7295-4D7B-8A5C-83E836E9A3C9}"/>
              </a:ext>
            </a:extLst>
          </p:cNvPr>
          <p:cNvSpPr>
            <a:spLocks noGrp="1"/>
          </p:cNvSpPr>
          <p:nvPr/>
        </p:nvSpPr>
        <p:spPr>
          <a:xfrm>
            <a:off x="876300" y="4543425"/>
            <a:ext cx="66675" cy="390525"/>
          </a:xfrm>
          <a:prstGeom prst="rect">
            <a:avLst/>
          </a:prstGeom>
          <a:solidFill>
            <a:srgbClr val="7B61A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oint 4">
            <a:extLst>
              <a:ext uri="{FF2B5EF4-FFF2-40B4-BE49-F238E27FC236}">
                <a16:creationId xmlns:a16="http://schemas.microsoft.com/office/drawing/2014/main" id="{ED74EDB5-3926-4CAF-8DF1-3E1324FD06B0}"/>
              </a:ext>
            </a:extLst>
          </p:cNvPr>
          <p:cNvSpPr>
            <a:spLocks noGrp="1"/>
          </p:cNvSpPr>
          <p:nvPr/>
        </p:nvSpPr>
        <p:spPr>
          <a:xfrm>
            <a:off x="1104900" y="4505325"/>
            <a:ext cx="101536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2A33"/>
                </a:solidFill>
                <a:latin typeface="Arial"/>
                <a:ea typeface="Arial"/>
                <a:cs typeface="Arial"/>
              </a:rPr>
              <a:t>head — chỉ lấy phần đầu của dữ liệu</a:t>
            </a:r>
          </a:p>
        </p:txBody>
      </p:sp>
      <p:sp>
        <p:nvSpPr>
          <p:cNvPr id="12" name="Accent 5">
            <a:extLst>
              <a:ext uri="{FF2B5EF4-FFF2-40B4-BE49-F238E27FC236}">
                <a16:creationId xmlns:a16="http://schemas.microsoft.com/office/drawing/2014/main" id="{3F8FAF7C-02C4-45A4-900B-B558BCE5B63A}"/>
              </a:ext>
            </a:extLst>
          </p:cNvPr>
          <p:cNvSpPr>
            <a:spLocks noGrp="1"/>
          </p:cNvSpPr>
          <p:nvPr/>
        </p:nvSpPr>
        <p:spPr>
          <a:xfrm>
            <a:off x="876300" y="5124450"/>
            <a:ext cx="66675" cy="390525"/>
          </a:xfrm>
          <a:prstGeom prst="rect">
            <a:avLst/>
          </a:prstGeom>
          <a:solidFill>
            <a:srgbClr val="D49A2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oint 5">
            <a:extLst>
              <a:ext uri="{FF2B5EF4-FFF2-40B4-BE49-F238E27FC236}">
                <a16:creationId xmlns:a16="http://schemas.microsoft.com/office/drawing/2014/main" id="{AA69206E-9E2A-4E7F-ABF9-B233105DA733}"/>
              </a:ext>
            </a:extLst>
          </p:cNvPr>
          <p:cNvSpPr>
            <a:spLocks noGrp="1"/>
          </p:cNvSpPr>
          <p:nvPr/>
        </p:nvSpPr>
        <p:spPr>
          <a:xfrm>
            <a:off x="1104900" y="5086350"/>
            <a:ext cx="101536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2A33"/>
                </a:solidFill>
                <a:latin typeface="Arial"/>
                <a:ea typeface="Arial"/>
                <a:cs typeface="Arial"/>
              </a:rPr>
              <a:t>-n 8 — in chính xác 8 dòng, tương ứng hai FASTQ records</a:t>
            </a:r>
          </a:p>
        </p:txBody>
      </p:sp>
      <p:sp>
        <p:nvSpPr>
          <p:cNvPr id="14" name="Question">
            <a:extLst>
              <a:ext uri="{FF2B5EF4-FFF2-40B4-BE49-F238E27FC236}">
                <a16:creationId xmlns:a16="http://schemas.microsoft.com/office/drawing/2014/main" id="{8260714C-B840-476B-A8FB-7397A849C831}"/>
              </a:ext>
            </a:extLst>
          </p:cNvPr>
          <p:cNvSpPr>
            <a:spLocks noGrp="1"/>
          </p:cNvSpPr>
          <p:nvPr/>
        </p:nvSpPr>
        <p:spPr>
          <a:xfrm>
            <a:off x="876300" y="571500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97132"/>
                </a:solidFill>
                <a:latin typeface="Arial"/>
                <a:ea typeface="Arial"/>
                <a:cs typeface="Arial"/>
              </a:rPr>
              <a:t>Câu hỏi: nếu dùng head -n 10, output có kết thúc đúng ranh giới FASTQ record không?</a:t>
            </a:r>
          </a:p>
        </p:txBody>
      </p:sp>
    </p:spTree>
    <p:extLst>
      <p:ext uri="{BB962C8B-B14F-4D97-AF65-F5344CB8AC3E}">
        <p14:creationId xmlns:p14="http://schemas.microsoft.com/office/powerpoint/2010/main" val="10844069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24D0993E-202B-4014-9541-9446C4E58AFC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84AA"/>
                </a:solidFill>
                <a:latin typeface="Arial"/>
                <a:ea typeface="Arial"/>
                <a:cs typeface="Arial"/>
              </a:rPr>
              <a:t>Tổng kết Buổi 1</a:t>
            </a: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57D362B7-B49A-4D88-B4D7-6ABB16765900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 1">
            <a:extLst>
              <a:ext uri="{FF2B5EF4-FFF2-40B4-BE49-F238E27FC236}">
                <a16:creationId xmlns:a16="http://schemas.microsoft.com/office/drawing/2014/main" id="{B37419E2-BEC0-462D-950A-19DECB3F87B8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66675" cy="533400"/>
          </a:xfrm>
          <a:prstGeom prst="rect">
            <a:avLst/>
          </a:prstGeom>
          <a:solidFill>
            <a:srgbClr val="0F84A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oint 1">
            <a:extLst>
              <a:ext uri="{FF2B5EF4-FFF2-40B4-BE49-F238E27FC236}">
                <a16:creationId xmlns:a16="http://schemas.microsoft.com/office/drawing/2014/main" id="{74A3A97F-27CB-4C09-8CFE-F2FE84B756BA}"/>
              </a:ext>
            </a:extLst>
          </p:cNvPr>
          <p:cNvSpPr>
            <a:spLocks noGrp="1"/>
          </p:cNvSpPr>
          <p:nvPr/>
        </p:nvSpPr>
        <p:spPr>
          <a:xfrm>
            <a:off x="1104900" y="1352550"/>
            <a:ext cx="101536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2A33"/>
                </a:solidFill>
                <a:latin typeface="Arial"/>
                <a:ea typeface="Arial"/>
                <a:cs typeface="Arial"/>
              </a:rPr>
              <a:t>Bioinformatics kết nối dữ liệu sequencing với câu hỏi sinh học.</a:t>
            </a:r>
          </a:p>
        </p:txBody>
      </p:sp>
      <p:sp>
        <p:nvSpPr>
          <p:cNvPr id="5" name="Accent 2">
            <a:extLst>
              <a:ext uri="{FF2B5EF4-FFF2-40B4-BE49-F238E27FC236}">
                <a16:creationId xmlns:a16="http://schemas.microsoft.com/office/drawing/2014/main" id="{F40F37C7-DD48-4D02-8A10-6F3CFC0BB2E9}"/>
              </a:ext>
            </a:extLst>
          </p:cNvPr>
          <p:cNvSpPr>
            <a:spLocks noGrp="1"/>
          </p:cNvSpPr>
          <p:nvPr/>
        </p:nvSpPr>
        <p:spPr>
          <a:xfrm>
            <a:off x="876300" y="2114550"/>
            <a:ext cx="66675" cy="53340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Point 2">
            <a:extLst>
              <a:ext uri="{FF2B5EF4-FFF2-40B4-BE49-F238E27FC236}">
                <a16:creationId xmlns:a16="http://schemas.microsoft.com/office/drawing/2014/main" id="{061FFC9E-747E-4DB1-8EE9-65D506F4C010}"/>
              </a:ext>
            </a:extLst>
          </p:cNvPr>
          <p:cNvSpPr>
            <a:spLocks noGrp="1"/>
          </p:cNvSpPr>
          <p:nvPr/>
        </p:nvSpPr>
        <p:spPr>
          <a:xfrm>
            <a:off x="1104900" y="2076450"/>
            <a:ext cx="101536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2A33"/>
                </a:solidFill>
                <a:latin typeface="Arial"/>
                <a:ea typeface="Arial"/>
                <a:cs typeface="Arial"/>
              </a:rPr>
              <a:t>Genome, reference, read, variant và coverage là các khái niệm nền tảng.</a:t>
            </a:r>
          </a:p>
        </p:txBody>
      </p:sp>
      <p:sp>
        <p:nvSpPr>
          <p:cNvPr id="7" name="Accent 3">
            <a:extLst>
              <a:ext uri="{FF2B5EF4-FFF2-40B4-BE49-F238E27FC236}">
                <a16:creationId xmlns:a16="http://schemas.microsoft.com/office/drawing/2014/main" id="{041C2297-CFB1-46F4-A65E-DDD7625B18F4}"/>
              </a:ext>
            </a:extLst>
          </p:cNvPr>
          <p:cNvSpPr>
            <a:spLocks noGrp="1"/>
          </p:cNvSpPr>
          <p:nvPr/>
        </p:nvSpPr>
        <p:spPr>
          <a:xfrm>
            <a:off x="876300" y="2838450"/>
            <a:ext cx="66675" cy="533400"/>
          </a:xfrm>
          <a:prstGeom prst="rect">
            <a:avLst/>
          </a:prstGeom>
          <a:solidFill>
            <a:srgbClr val="2E8B7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Point 3">
            <a:extLst>
              <a:ext uri="{FF2B5EF4-FFF2-40B4-BE49-F238E27FC236}">
                <a16:creationId xmlns:a16="http://schemas.microsoft.com/office/drawing/2014/main" id="{D85A5C00-3C36-45A1-BDDA-6EE6BC9D9C36}"/>
              </a:ext>
            </a:extLst>
          </p:cNvPr>
          <p:cNvSpPr>
            <a:spLocks noGrp="1"/>
          </p:cNvSpPr>
          <p:nvPr/>
        </p:nvSpPr>
        <p:spPr>
          <a:xfrm>
            <a:off x="1104900" y="2800350"/>
            <a:ext cx="101536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2A33"/>
                </a:solidFill>
                <a:latin typeface="Arial"/>
                <a:ea typeface="Arial"/>
                <a:cs typeface="Arial"/>
              </a:rPr>
              <a:t>FASTA, FASTQ, SAM/BAM, VCF và BED có vai trò khác nhau trong workflow.</a:t>
            </a:r>
          </a:p>
        </p:txBody>
      </p:sp>
      <p:sp>
        <p:nvSpPr>
          <p:cNvPr id="9" name="Accent 4">
            <a:extLst>
              <a:ext uri="{FF2B5EF4-FFF2-40B4-BE49-F238E27FC236}">
                <a16:creationId xmlns:a16="http://schemas.microsoft.com/office/drawing/2014/main" id="{3B40D64B-E31A-44EA-8167-B3FFE8428301}"/>
              </a:ext>
            </a:extLst>
          </p:cNvPr>
          <p:cNvSpPr>
            <a:spLocks noGrp="1"/>
          </p:cNvSpPr>
          <p:nvPr/>
        </p:nvSpPr>
        <p:spPr>
          <a:xfrm>
            <a:off x="876300" y="3562350"/>
            <a:ext cx="66675" cy="533400"/>
          </a:xfrm>
          <a:prstGeom prst="rect">
            <a:avLst/>
          </a:prstGeom>
          <a:solidFill>
            <a:srgbClr val="7B61A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Point 4">
            <a:extLst>
              <a:ext uri="{FF2B5EF4-FFF2-40B4-BE49-F238E27FC236}">
                <a16:creationId xmlns:a16="http://schemas.microsoft.com/office/drawing/2014/main" id="{022810E3-2925-40C3-8DCA-EA9A7FFAB2A2}"/>
              </a:ext>
            </a:extLst>
          </p:cNvPr>
          <p:cNvSpPr>
            <a:spLocks noGrp="1"/>
          </p:cNvSpPr>
          <p:nvPr/>
        </p:nvSpPr>
        <p:spPr>
          <a:xfrm>
            <a:off x="1104900" y="3524250"/>
            <a:ext cx="101536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Laptop, server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và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HPC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được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sử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dụng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cho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các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quy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mô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phân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tích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khác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nhau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1" name="Accent 5">
            <a:extLst>
              <a:ext uri="{FF2B5EF4-FFF2-40B4-BE49-F238E27FC236}">
                <a16:creationId xmlns:a16="http://schemas.microsoft.com/office/drawing/2014/main" id="{95FE6771-D9E5-4754-9AB6-9D9A44F8E67E}"/>
              </a:ext>
            </a:extLst>
          </p:cNvPr>
          <p:cNvSpPr>
            <a:spLocks noGrp="1"/>
          </p:cNvSpPr>
          <p:nvPr/>
        </p:nvSpPr>
        <p:spPr>
          <a:xfrm>
            <a:off x="876300" y="4286250"/>
            <a:ext cx="66675" cy="533400"/>
          </a:xfrm>
          <a:prstGeom prst="rect">
            <a:avLst/>
          </a:prstGeom>
          <a:solidFill>
            <a:srgbClr val="D49A2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Point 5">
            <a:extLst>
              <a:ext uri="{FF2B5EF4-FFF2-40B4-BE49-F238E27FC236}">
                <a16:creationId xmlns:a16="http://schemas.microsoft.com/office/drawing/2014/main" id="{5EE7EAC6-0D5C-4D79-8083-C4F21E26315D}"/>
              </a:ext>
            </a:extLst>
          </p:cNvPr>
          <p:cNvSpPr>
            <a:spLocks noGrp="1"/>
          </p:cNvSpPr>
          <p:nvPr/>
        </p:nvSpPr>
        <p:spPr>
          <a:xfrm>
            <a:off x="1104900" y="4248150"/>
            <a:ext cx="101536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2A33"/>
                </a:solidFill>
                <a:latin typeface="Arial"/>
                <a:ea typeface="Arial"/>
                <a:cs typeface="Arial"/>
              </a:rPr>
              <a:t>Command line và Conda giúp tạo môi trường phân tích có thể tái lập.</a:t>
            </a:r>
          </a:p>
        </p:txBody>
      </p:sp>
    </p:spTree>
    <p:extLst>
      <p:ext uri="{BB962C8B-B14F-4D97-AF65-F5344CB8AC3E}">
        <p14:creationId xmlns:p14="http://schemas.microsoft.com/office/powerpoint/2010/main" val="3471955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7220</TotalTime>
  <Words>2211</Words>
  <Application>Microsoft Macintosh PowerPoint</Application>
  <DocSecurity>0</DocSecurity>
  <PresentationFormat>Widescreen</PresentationFormat>
  <Paragraphs>320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Aptos</vt:lpstr>
      <vt:lpstr>Aptos Display</vt:lpstr>
      <vt:lpstr>Arial</vt:lpstr>
      <vt:lpstr>Consolas</vt:lpstr>
      <vt:lpstr>Courier New</vt:lpstr>
      <vt:lpstr>Office Theme</vt:lpstr>
      <vt:lpstr>Introduction to Bioinformatics with Oxford Nanopore Sequencing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Phred Score: Độ tin cậy của basecalling </vt:lpstr>
      <vt:lpstr>PowerPoint Presentation</vt:lpstr>
      <vt:lpstr>PowerPoint Presentation</vt:lpstr>
      <vt:lpstr>PowerPoint Presentation</vt:lpstr>
      <vt:lpstr>PowerPoint Presentation</vt:lpstr>
      <vt:lpstr>BED: Browser Extensible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Van Lam Nguyen</cp:lastModifiedBy>
  <cp:revision>7</cp:revision>
  <dcterms:created xsi:type="dcterms:W3CDTF">2026-09-03T23:39:56Z</dcterms:created>
  <dcterms:modified xsi:type="dcterms:W3CDTF">2026-09-09T01:45:24Z</dcterms:modified>
</cp:coreProperties>
</file>